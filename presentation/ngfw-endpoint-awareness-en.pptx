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9c9c942ec224dfe" /><Relationship Type="http://schemas.openxmlformats.org/officeDocument/2006/relationships/extended-properties" Target="/docProps/app.xml" Id="R0337b51710384481" /><Relationship Type="http://schemas.openxmlformats.org/officeDocument/2006/relationships/officeDocument" Target="/ppt/presentation.xml" Id="Re9281d48a4ef413e" /></Relationships>
</file>

<file path=ppt/presentation.xml><?xml version="1.0" encoding="utf-8"?>
<p:presentation xmlns:p="http://schemas.openxmlformats.org/presentationml/2006/main">
  <p:sldMasterIdLst>
    <p:sldMasterId xmlns:r="http://schemas.openxmlformats.org/officeDocument/2006/relationships" id="2147483648" r:id="Rc197f217577b41d2"/>
  </p:sldMasterIdLst>
  <p:notesMasterIdLst>
    <p:notesMasterId xmlns:r="http://schemas.openxmlformats.org/officeDocument/2006/relationships" r:id="Ra1a67270fb2e4638"/>
  </p:notesMasterIdLst>
  <p:sldIdLst>
    <p:sldId xmlns:r="http://schemas.openxmlformats.org/officeDocument/2006/relationships" id="256" r:id="R91b5526ba6ae4cbd"/>
    <p:sldId xmlns:r="http://schemas.openxmlformats.org/officeDocument/2006/relationships" id="257" r:id="R56f9f9aca8834f1f"/>
    <p:sldId xmlns:r="http://schemas.openxmlformats.org/officeDocument/2006/relationships" id="258" r:id="Ra2c9ae79680d4c66"/>
    <p:sldId xmlns:r="http://schemas.openxmlformats.org/officeDocument/2006/relationships" id="259" r:id="R8d00bb0b979d4f30"/>
    <p:sldId xmlns:r="http://schemas.openxmlformats.org/officeDocument/2006/relationships" id="260" r:id="R0fbd67e293fa429f"/>
    <p:sldId xmlns:r="http://schemas.openxmlformats.org/officeDocument/2006/relationships" id="261" r:id="R03ac0a27e075460f"/>
    <p:sldId xmlns:r="http://schemas.openxmlformats.org/officeDocument/2006/relationships" id="262" r:id="Raf866df95ffb4cde"/>
    <p:sldId xmlns:r="http://schemas.openxmlformats.org/officeDocument/2006/relationships" id="263" r:id="R53786eae6c684fee"/>
    <p:sldId xmlns:r="http://schemas.openxmlformats.org/officeDocument/2006/relationships" id="264" r:id="Rf8e9cb26a87d4387"/>
    <p:sldId xmlns:r="http://schemas.openxmlformats.org/officeDocument/2006/relationships" id="265" r:id="R94ad2975d946423a"/>
    <p:sldId xmlns:r="http://schemas.openxmlformats.org/officeDocument/2006/relationships" id="266" r:id="Rf2eab2eac7ca401d"/>
    <p:sldId xmlns:r="http://schemas.openxmlformats.org/officeDocument/2006/relationships" id="267" r:id="Rcf6a4692e5c9467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7ae3b28ba2c4616" /><Relationship Type="http://schemas.openxmlformats.org/officeDocument/2006/relationships/slideMaster" Target="/ppt/slideMasters/slideMaster1.xml" Id="Rc197f217577b41d2" /><Relationship Type="http://schemas.openxmlformats.org/officeDocument/2006/relationships/notesMaster" Target="/ppt/notesMasters/notesMaster1.xml" Id="Ra1a67270fb2e4638" /><Relationship Type="http://schemas.openxmlformats.org/officeDocument/2006/relationships/presProps" Target="/ppt/presProps.xml" Id="R4032b4d382114d9a" /><Relationship Type="http://schemas.openxmlformats.org/officeDocument/2006/relationships/tableStyles" Target="/ppt/tableStyles.xml" Id="R24867fa623ee4946" /><Relationship Type="http://schemas.openxmlformats.org/officeDocument/2006/relationships/slide" Target="/ppt/slides/slide1.xml" Id="R91b5526ba6ae4cbd" /><Relationship Type="http://schemas.openxmlformats.org/officeDocument/2006/relationships/slide" Target="/ppt/slides/slide2.xml" Id="R56f9f9aca8834f1f" /><Relationship Type="http://schemas.openxmlformats.org/officeDocument/2006/relationships/slide" Target="/ppt/slides/slide3.xml" Id="Ra2c9ae79680d4c66" /><Relationship Type="http://schemas.openxmlformats.org/officeDocument/2006/relationships/slide" Target="/ppt/slides/slide4.xml" Id="R8d00bb0b979d4f30" /><Relationship Type="http://schemas.openxmlformats.org/officeDocument/2006/relationships/slide" Target="/ppt/slides/slide5.xml" Id="R0fbd67e293fa429f" /><Relationship Type="http://schemas.openxmlformats.org/officeDocument/2006/relationships/slide" Target="/ppt/slides/slide6.xml" Id="R03ac0a27e075460f" /><Relationship Type="http://schemas.openxmlformats.org/officeDocument/2006/relationships/slide" Target="/ppt/slides/slide7.xml" Id="Raf866df95ffb4cde" /><Relationship Type="http://schemas.openxmlformats.org/officeDocument/2006/relationships/slide" Target="/ppt/slides/slide8.xml" Id="R53786eae6c684fee" /><Relationship Type="http://schemas.openxmlformats.org/officeDocument/2006/relationships/slide" Target="/ppt/slides/slide9.xml" Id="Rf8e9cb26a87d4387" /><Relationship Type="http://schemas.openxmlformats.org/officeDocument/2006/relationships/slide" Target="/ppt/slides/slide10.xml" Id="R94ad2975d946423a" /><Relationship Type="http://schemas.openxmlformats.org/officeDocument/2006/relationships/slide" Target="/ppt/slides/slide11.xml" Id="Rf2eab2eac7ca401d" /><Relationship Type="http://schemas.openxmlformats.org/officeDocument/2006/relationships/slide" Target="/ppt/slides/slide12.xml" Id="Rcf6a4692e5c9467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24805471366424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5cb20acc21c40a6" /><Relationship Type="http://schemas.openxmlformats.org/officeDocument/2006/relationships/notesMaster" Target="/ppt/notesMasters/notesMaster1.xml" Id="Re98659e5814b4861" /></Relationships>
</file>

<file path=ppt/notesSlides/_rels/notesSlide2.xml.rels>&#65279;<?xml version="1.0" encoding="utf-8"?><Relationships xmlns="http://schemas.openxmlformats.org/package/2006/relationships"><Relationship Type="http://schemas.openxmlformats.org/officeDocument/2006/relationships/slide" Target="/ppt/slides/slide2.xml" Id="R897b22101eb34f79" /><Relationship Type="http://schemas.openxmlformats.org/officeDocument/2006/relationships/notesMaster" Target="/ppt/notesMasters/notesMaster1.xml" Id="R378df5afb20f4a00" /></Relationships>
</file>

<file path=ppt/notesSlides/_rels/notesSlide3.xml.rels>&#65279;<?xml version="1.0" encoding="utf-8"?><Relationships xmlns="http://schemas.openxmlformats.org/package/2006/relationships"><Relationship Type="http://schemas.openxmlformats.org/officeDocument/2006/relationships/slide" Target="/ppt/slides/slide3.xml" Id="R1139df0ac8d0446e" /><Relationship Type="http://schemas.openxmlformats.org/officeDocument/2006/relationships/notesMaster" Target="/ppt/notesMasters/notesMaster1.xml" Id="R22f61630800c4d94" /></Relationships>
</file>

<file path=ppt/notesSlides/_rels/notesSlide4.xml.rels>&#65279;<?xml version="1.0" encoding="utf-8"?><Relationships xmlns="http://schemas.openxmlformats.org/package/2006/relationships"><Relationship Type="http://schemas.openxmlformats.org/officeDocument/2006/relationships/slide" Target="/ppt/slides/slide4.xml" Id="R37f0e8a005114c28" /><Relationship Type="http://schemas.openxmlformats.org/officeDocument/2006/relationships/notesMaster" Target="/ppt/notesMasters/notesMaster1.xml" Id="R7094d88799e34113" /></Relationships>
</file>

<file path=ppt/notesSlides/_rels/notesSlide5.xml.rels>&#65279;<?xml version="1.0" encoding="utf-8"?><Relationships xmlns="http://schemas.openxmlformats.org/package/2006/relationships"><Relationship Type="http://schemas.openxmlformats.org/officeDocument/2006/relationships/slide" Target="/ppt/slides/slide5.xml" Id="Rf7ad1dd2c68a420d" /><Relationship Type="http://schemas.openxmlformats.org/officeDocument/2006/relationships/notesMaster" Target="/ppt/notesMasters/notesMaster1.xml" Id="R5fc6baf2a6c24caf" /></Relationships>
</file>

<file path=ppt/notesSlides/_rels/notesSlide6.xml.rels>&#65279;<?xml version="1.0" encoding="utf-8"?><Relationships xmlns="http://schemas.openxmlformats.org/package/2006/relationships"><Relationship Type="http://schemas.openxmlformats.org/officeDocument/2006/relationships/slide" Target="/ppt/slides/slide6.xml" Id="Re6866ad5d89c4e34" /><Relationship Type="http://schemas.openxmlformats.org/officeDocument/2006/relationships/notesMaster" Target="/ppt/notesMasters/notesMaster1.xml" Id="Rbfa45eb103da4c65" /></Relationships>
</file>

<file path=ppt/notesSlides/_rels/notesSlide7.xml.rels>&#65279;<?xml version="1.0" encoding="utf-8"?><Relationships xmlns="http://schemas.openxmlformats.org/package/2006/relationships"><Relationship Type="http://schemas.openxmlformats.org/officeDocument/2006/relationships/slide" Target="/ppt/slides/slide7.xml" Id="Ra12e64041c434e51" /><Relationship Type="http://schemas.openxmlformats.org/officeDocument/2006/relationships/notesMaster" Target="/ppt/notesMasters/notesMaster1.xml" Id="R05f75667db9f430c" /></Relationships>
</file>

<file path=ppt/notesSlides/_rels/notesSlide8.xml.rels>&#65279;<?xml version="1.0" encoding="utf-8"?><Relationships xmlns="http://schemas.openxmlformats.org/package/2006/relationships"><Relationship Type="http://schemas.openxmlformats.org/officeDocument/2006/relationships/slide" Target="/ppt/slides/slide8.xml" Id="R82c87cc4c41f400d" /><Relationship Type="http://schemas.openxmlformats.org/officeDocument/2006/relationships/notesMaster" Target="/ppt/notesMasters/notesMaster1.xml" Id="R5e4068ea6668420f" /></Relationships>
</file>

<file path=ppt/notesSlides/_rels/notesSlide9.xml.rels>&#65279;<?xml version="1.0" encoding="utf-8"?><Relationships xmlns="http://schemas.openxmlformats.org/package/2006/relationships"><Relationship Type="http://schemas.openxmlformats.org/officeDocument/2006/relationships/slide" Target="/ppt/slides/slide9.xml" Id="R77eae4309a164a48" /><Relationship Type="http://schemas.openxmlformats.org/officeDocument/2006/relationships/notesMaster" Target="/ppt/notesMasters/notesMaster1.xml" Id="Ra5f4cf6d70d444f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e78e0521ba5490d" /><Relationship Type="http://schemas.openxmlformats.org/officeDocument/2006/relationships/notesMaster" Target="/ppt/notesMasters/notesMaster1.xml" Id="R8bb177dfe2514d4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4c4a154077a4dc2" /><Relationship Type="http://schemas.openxmlformats.org/officeDocument/2006/relationships/notesMaster" Target="/ppt/notesMasters/notesMaster1.xml" Id="R08dde5b797aa4c5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71d6d1e82374e8e" /><Relationship Type="http://schemas.openxmlformats.org/officeDocument/2006/relationships/notesMaster" Target="/ppt/notesMasters/notesMaster1.xml" Id="R30049e8e88664d0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 image generated specifically for this portfolio project. Technical scope derives from Heino, Hakkala, and Virtanen (2022), DOI: 10.1186/s42400-022-00127-8.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Heino et al. (2022), Introduction and endpoint-aware inspection discussion, https://doi.org/10.1186/s42400-022-00127-8.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Heino et al. (2022), abstract and taxonomy; NIST SP 800-207 (2020), policy enforcement point and policy information sources, https://doi.org/10.6028/NIST.SP.800-207.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taxonomy: Heino et al. (2022), sections on passive and active identification. Content injection is discussed in the source as an insufficiently studied concept and is not proposed here as an operational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Heino et al. (2022), passive identification, TLS, hash fingerprinting, and flow-classification discussion. The source notes collisions, shared libraries, and limited evidence for several fingerprint families.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Heino et al. (2022), active scanning, CMDB, and endpoint metadata sections. NIST SP 800-207 supports using asset state and diagnostics as policy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is an original vendor-neutral interpretation. NIST SP 800-207 defines the policy enforcement point and identifies diagnostics, identity, policy, and SIEM data as inputs to policy decisions. Heino et al. (2022) motivate combining passive and active methods.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 categories derive from Heino et al. (2022). Ratings are qualitative operational interpretations for this portfolio project, not measured benchmark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detection-engineering interpretation. The included KQL is illustrative and requires connector-specific field mapping and validation. Fingerprint limitations follow Heino et al. (2022).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Risks synthesize Heino et al. (2022) with NIST SP 800-207 and CISA Zero Trust Maturity Model v2. CISA emphasizes visibility, analytics, automation, and governance as cross-cutting capabilities.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implementation roadmap informed by NIST SP 800-207 and CISA Zero Trust Maturity Model v2. Metrics are proposed validation measures, not observed project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conclusion aligns with Heino et al. (2022): the best results combine passive and active methods, and each method has weaknesses in accuracy, invasiveness, or resource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68291020fe6444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068479db7574e42" /><Relationship Type="http://schemas.openxmlformats.org/officeDocument/2006/relationships/slideLayout" Target="/ppt/slideLayouts/slideLayout1.xml" Id="Rb08d2e36372949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8d2e36372949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59e717d9efe4e2a" /><Relationship Type="http://schemas.openxmlformats.org/officeDocument/2006/relationships/image" Target="/ppt/media/image.png" Id="Ra74ec1dac8b44c5f" /><Relationship Type="http://schemas.openxmlformats.org/officeDocument/2006/relationships/notesSlide" Target="/ppt/notesSlides/notesSlide1.xml" Id="Re507497aaf9f49e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32a4ff4460f4ee0" /><Relationship Type="http://schemas.openxmlformats.org/officeDocument/2006/relationships/notesSlide" Target="/ppt/notesSlides/notesSlide2.xml" Id="R2141226ea21e43d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2953175a5c544ed" /><Relationship Type="http://schemas.openxmlformats.org/officeDocument/2006/relationships/notesSlide" Target="/ppt/notesSlides/notesSlide3.xml" Id="R70cc77fcf8ed4c4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66c6feb88da4622" /><Relationship Type="http://schemas.openxmlformats.org/officeDocument/2006/relationships/notesSlide" Target="/ppt/notesSlides/notesSlide4.xml" Id="Rf3058f6429ae44e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263be51621545bf" /><Relationship Type="http://schemas.openxmlformats.org/officeDocument/2006/relationships/notesSlide" Target="/ppt/notesSlides/notesSlide5.xml" Id="Rf7427153fd3941b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97283f843a24267" /><Relationship Type="http://schemas.openxmlformats.org/officeDocument/2006/relationships/notesSlide" Target="/ppt/notesSlides/notesSlide6.xml" Id="R6a29c022b14f466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712b2eb61034698" /><Relationship Type="http://schemas.openxmlformats.org/officeDocument/2006/relationships/notesSlide" Target="/ppt/notesSlides/notesSlide7.xml" Id="Rd7ea52453ab441e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2594ce2b3744da5" /><Relationship Type="http://schemas.openxmlformats.org/officeDocument/2006/relationships/notesSlide" Target="/ppt/notesSlides/notesSlide8.xml" Id="R0119d71ceef34af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de0231fe2aa4eb0" /><Relationship Type="http://schemas.openxmlformats.org/officeDocument/2006/relationships/notesSlide" Target="/ppt/notesSlides/notesSlide9.xml" Id="Re94d69525633405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e75e7ef04c5475a" /><Relationship Type="http://schemas.openxmlformats.org/officeDocument/2006/relationships/notesSlide" Target="/ppt/notesSlides/notesSlide10.xml" Id="R91d0c7bfc4b84c3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4a43b0315f444ff" /><Relationship Type="http://schemas.openxmlformats.org/officeDocument/2006/relationships/notesSlide" Target="/ppt/notesSlides/notesSlide11.xml" Id="Ref30f2e36f68422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534d6e527ff4a8a" /><Relationship Type="http://schemas.openxmlformats.org/officeDocument/2006/relationships/notesSlide" Target="/ppt/notesSlides/notesSlide12.xml" Id="R9d1c3bff17294cef"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74ec1dac8b44c5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3739EF7-F735-41B8-B963-ABEBAA9BC0F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1724">
              <a:alpha val="80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E668A78-BD30-48D8-B337-50C1C4C87980}"/>
              </a:ext>
            </a:extLst>
          </p:cNvPr>
          <p:cNvSpPr>
            <a:spLocks xmlns:a="http://schemas.openxmlformats.org/drawingml/2006/main" noGrp="1"/>
          </p:cNvSpPr>
          <p:nvPr/>
        </p:nvSpPr>
        <p:spPr>
          <a:xfrm xmlns:a="http://schemas.openxmlformats.org/drawingml/2006/main">
            <a:off x="685800" y="838200"/>
            <a:ext cx="723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3450" b="1">
                <a:solidFill>
                  <a:srgbClr val="F7FBFD"/>
                </a:solidFill>
                <a:latin typeface="Arial"/>
                <a:ea typeface="Arial"/>
                <a:cs typeface="Arial"/>
              </a:defRPr>
            </a:pPr>
            <a:r>
              <a:rPr sz="3450" b="1">
                <a:solidFill>
                  <a:srgbClr val="F7FBFD"/>
                </a:solidFill>
                <a:latin typeface="Arial"/>
                <a:ea typeface="Arial"/>
                <a:cs typeface="Arial"/>
              </a:rPr>
              <a:t>Endpoint-Aware Inspection</a:t>
            </a:r>
          </a:p>
        </p:txBody>
      </p:sp>
      <p:sp>
        <p:nvSpPr>
          <p:cNvPr id="4" name="">
            <a:extLst xmlns:a="http://schemas.openxmlformats.org/drawingml/2006/main">
              <a:ext uri="{FF2B5EF4-FFF2-40B4-BE49-F238E27FC236}">
                <a16:creationId xmlns:a16="http://schemas.microsoft.com/office/drawing/2014/main" id="{F25B5F0D-CECD-49ED-98F9-84320A9E3169}"/>
              </a:ext>
            </a:extLst>
          </p:cNvPr>
          <p:cNvSpPr>
            <a:spLocks xmlns:a="http://schemas.openxmlformats.org/drawingml/2006/main" noGrp="1"/>
          </p:cNvSpPr>
          <p:nvPr/>
        </p:nvSpPr>
        <p:spPr>
          <a:xfrm xmlns:a="http://schemas.openxmlformats.org/drawingml/2006/main">
            <a:off x="685800" y="1504950"/>
            <a:ext cx="723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850" b="1">
                <a:solidFill>
                  <a:srgbClr val="A6F3F6"/>
                </a:solidFill>
                <a:latin typeface="Arial"/>
                <a:ea typeface="Arial"/>
                <a:cs typeface="Arial"/>
              </a:defRPr>
            </a:pPr>
            <a:r>
              <a:rPr sz="2850" b="1">
                <a:solidFill>
                  <a:srgbClr val="A6F3F6"/>
                </a:solidFill>
                <a:latin typeface="Arial"/>
                <a:ea typeface="Arial"/>
                <a:cs typeface="Arial"/>
              </a:rPr>
              <a:t>for Next-Generation Firewalls</a:t>
            </a:r>
          </a:p>
        </p:txBody>
      </p:sp>
      <p:sp>
        <p:nvSpPr>
          <p:cNvPr id="5" name="">
            <a:extLst xmlns:a="http://schemas.openxmlformats.org/drawingml/2006/main">
              <a:ext uri="{FF2B5EF4-FFF2-40B4-BE49-F238E27FC236}">
                <a16:creationId xmlns:a16="http://schemas.microsoft.com/office/drawing/2014/main" id="{CDF63DEC-AA0E-4065-A55B-DC5119DAC91C}"/>
              </a:ext>
            </a:extLst>
          </p:cNvPr>
          <p:cNvSpPr>
            <a:spLocks xmlns:a="http://schemas.openxmlformats.org/drawingml/2006/main" noGrp="1"/>
          </p:cNvSpPr>
          <p:nvPr/>
        </p:nvSpPr>
        <p:spPr>
          <a:xfrm xmlns:a="http://schemas.openxmlformats.org/drawingml/2006/main">
            <a:off x="723900" y="2362200"/>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650" b="0">
                <a:solidFill>
                  <a:srgbClr val="D7E5EC"/>
                </a:solidFill>
                <a:latin typeface="Arial"/>
                <a:ea typeface="Arial"/>
                <a:cs typeface="Arial"/>
              </a:defRPr>
            </a:pPr>
            <a:r>
              <a:rPr sz="1650" b="0">
                <a:solidFill>
                  <a:srgbClr val="D7E5EC"/>
                </a:solidFill>
                <a:latin typeface="Arial"/>
                <a:ea typeface="Arial"/>
                <a:cs typeface="Arial"/>
              </a:rPr>
              <a:t>From traffic fingerprints to endpoint context and SOC correlation</a:t>
            </a:r>
          </a:p>
        </p:txBody>
      </p:sp>
      <p:sp>
        <p:nvSpPr>
          <p:cNvPr id="6" name="">
            <a:extLst xmlns:a="http://schemas.openxmlformats.org/drawingml/2006/main">
              <a:ext uri="{FF2B5EF4-FFF2-40B4-BE49-F238E27FC236}">
                <a16:creationId xmlns:a16="http://schemas.microsoft.com/office/drawing/2014/main" id="{19D1B561-57F3-4E0F-8D7B-142B3635DE1C}"/>
              </a:ext>
            </a:extLst>
          </p:cNvPr>
          <p:cNvSpPr>
            <a:spLocks xmlns:a="http://schemas.openxmlformats.org/drawingml/2006/main" noGrp="1"/>
          </p:cNvSpPr>
          <p:nvPr/>
        </p:nvSpPr>
        <p:spPr>
          <a:xfrm xmlns:a="http://schemas.openxmlformats.org/drawingml/2006/main">
            <a:off x="723900" y="5619750"/>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050" b="1">
                <a:solidFill>
                  <a:srgbClr val="FFB547"/>
                </a:solidFill>
                <a:latin typeface="Arial"/>
                <a:ea typeface="Arial"/>
                <a:cs typeface="Arial"/>
              </a:defRPr>
            </a:pPr>
            <a:r>
              <a:rPr sz="1050" b="1">
                <a:solidFill>
                  <a:srgbClr val="FFB547"/>
                </a:solidFill>
                <a:latin typeface="Arial"/>
                <a:ea typeface="Arial"/>
                <a:cs typeface="Arial"/>
              </a:rPr>
              <a:t>RESEARCH-BASED SECURITY ARCHITECTURE</a:t>
            </a:r>
          </a:p>
        </p:txBody>
      </p:sp>
      <p:sp>
        <p:nvSpPr>
          <p:cNvPr id="7" name="">
            <a:extLst xmlns:a="http://schemas.openxmlformats.org/drawingml/2006/main">
              <a:ext uri="{FF2B5EF4-FFF2-40B4-BE49-F238E27FC236}">
                <a16:creationId xmlns:a16="http://schemas.microsoft.com/office/drawing/2014/main" id="{B8E0DBE2-B371-44A0-B254-C6BDEA9DC4B2}"/>
              </a:ext>
            </a:extLst>
          </p:cNvPr>
          <p:cNvSpPr>
            <a:spLocks xmlns:a="http://schemas.openxmlformats.org/drawingml/2006/main" noGrp="1"/>
          </p:cNvSpPr>
          <p:nvPr/>
        </p:nvSpPr>
        <p:spPr>
          <a:xfrm xmlns:a="http://schemas.openxmlformats.org/drawingml/2006/main">
            <a:off x="723900" y="59626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200" b="0">
                <a:solidFill>
                  <a:srgbClr val="F7FBFD"/>
                </a:solidFill>
                <a:latin typeface="Arial"/>
                <a:ea typeface="Arial"/>
                <a:cs typeface="Arial"/>
              </a:defRPr>
            </a:pPr>
            <a:r>
              <a:rPr sz="1200" b="0">
                <a:solidFill>
                  <a:srgbClr val="F7FBFD"/>
                </a:solidFill>
                <a:latin typeface="Arial"/>
                <a:ea typeface="Arial"/>
                <a:cs typeface="Arial"/>
              </a:rPr>
              <a:t>Spyridon Grouztidis · Ioakeim Christaras</a:t>
            </a:r>
          </a:p>
        </p:txBody>
      </p:sp>
    </p:spTree>
    <p:extLst>
      <p:ext uri="{BB962C8B-B14F-4D97-AF65-F5344CB8AC3E}">
        <p14:creationId xmlns:p14="http://schemas.microsoft.com/office/powerpoint/2010/main" val="1979709016"/>
      </p:ext>
    </p:extLst>
  </p:cSld>
</p:sld>
</file>

<file path=ppt/slides/slide2.xml><?xml version="1.0" encoding="utf-8"?>
<p:sld xmlns:p="http://schemas.openxmlformats.org/presentationml/2006/main">
  <p:cSld>
    <p:bg>
      <p:bgPr>
        <a:solidFill xmlns:a="http://schemas.openxmlformats.org/drawingml/2006/main">
          <a:srgbClr val="071724"/>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EA2E561-8062-4881-9AEB-A300446DEE6E}"/>
              </a:ext>
            </a:extLst>
          </p:cNvPr>
          <p:cNvSpPr>
            <a:spLocks xmlns:a="http://schemas.openxmlformats.org/drawingml/2006/main" noGrp="1"/>
          </p:cNvSpPr>
          <p:nvPr/>
        </p:nvSpPr>
        <p:spPr>
          <a:xfrm xmlns:a="http://schemas.openxmlformats.org/drawingml/2006/main">
            <a:off x="647700" y="3619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975" b="1">
                <a:solidFill>
                  <a:srgbClr val="24D6E5"/>
                </a:solidFill>
                <a:latin typeface="Arial"/>
                <a:ea typeface="Arial"/>
                <a:cs typeface="Arial"/>
              </a:defRPr>
            </a:pPr>
            <a:r>
              <a:rPr sz="975" b="1">
                <a:solidFill>
                  <a:srgbClr val="24D6E5"/>
                </a:solidFill>
                <a:latin typeface="Arial"/>
                <a:ea typeface="Arial"/>
                <a:cs typeface="Arial"/>
              </a:rPr>
              <a:t>ENDPOINT-AWARE NGFW</a:t>
            </a:r>
          </a:p>
        </p:txBody>
      </p:sp>
      <p:sp>
        <p:nvSpPr>
          <p:cNvPr id="2" name="">
            <a:extLst xmlns:a="http://schemas.openxmlformats.org/drawingml/2006/main">
              <a:ext uri="{FF2B5EF4-FFF2-40B4-BE49-F238E27FC236}">
                <a16:creationId xmlns:a16="http://schemas.microsoft.com/office/drawing/2014/main" id="{577B6C6A-3FB6-45E3-87AC-C4D69366C10E}"/>
              </a:ext>
            </a:extLst>
          </p:cNvPr>
          <p:cNvSpPr>
            <a:spLocks xmlns:a="http://schemas.openxmlformats.org/drawingml/2006/main" noGrp="1"/>
          </p:cNvSpPr>
          <p:nvPr/>
        </p:nvSpPr>
        <p:spPr>
          <a:xfrm xmlns:a="http://schemas.openxmlformats.org/drawingml/2006/main">
            <a:off x="647700" y="66675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325" b="1">
                <a:solidFill>
                  <a:srgbClr val="F7FBFD"/>
                </a:solidFill>
                <a:latin typeface="Arial"/>
                <a:ea typeface="Arial"/>
                <a:cs typeface="Arial"/>
              </a:defRPr>
            </a:pPr>
            <a:r>
              <a:rPr sz="2325" b="1">
                <a:solidFill>
                  <a:srgbClr val="F7FBFD"/>
                </a:solidFill>
                <a:latin typeface="Arial"/>
                <a:ea typeface="Arial"/>
                <a:cs typeface="Arial"/>
              </a:rPr>
              <a:t>The firewall sees traffic, but the risk depends on the endpoint</a:t>
            </a:r>
          </a:p>
        </p:txBody>
      </p:sp>
      <p:sp>
        <p:nvSpPr>
          <p:cNvPr id="3" name="">
            <a:extLst xmlns:a="http://schemas.openxmlformats.org/drawingml/2006/main">
              <a:ext uri="{FF2B5EF4-FFF2-40B4-BE49-F238E27FC236}">
                <a16:creationId xmlns:a16="http://schemas.microsoft.com/office/drawing/2014/main" id="{4F602FC5-D222-47A0-B5C1-5DACBA8EFF4E}"/>
              </a:ext>
            </a:extLst>
          </p:cNvPr>
          <p:cNvSpPr>
            <a:spLocks xmlns:a="http://schemas.openxmlformats.org/drawingml/2006/main" noGrp="1"/>
          </p:cNvSpPr>
          <p:nvPr/>
        </p:nvSpPr>
        <p:spPr>
          <a:xfrm xmlns:a="http://schemas.openxmlformats.org/drawingml/2006/main">
            <a:off x="647700" y="1504950"/>
            <a:ext cx="10896600" cy="0"/>
          </a:xfrm>
          <a:prstGeom xmlns:a="http://schemas.openxmlformats.org/drawingml/2006/main" prst="line">
            <a:avLst/>
          </a:prstGeom>
          <a:noFill xmlns:a="http://schemas.openxmlformats.org/drawingml/2006/main"/>
          <a:ln xmlns:a="http://schemas.openxmlformats.org/drawingml/2006/main" w="19050">
            <a:solidFill>
              <a:srgbClr val="17394C"/>
            </a:solidFill>
          </a:ln>
        </p:spPr>
      </p:sp>
      <p:sp>
        <p:nvSpPr>
          <p:cNvPr id="4" name="">
            <a:extLst xmlns:a="http://schemas.openxmlformats.org/drawingml/2006/main">
              <a:ext uri="{FF2B5EF4-FFF2-40B4-BE49-F238E27FC236}">
                <a16:creationId xmlns:a16="http://schemas.microsoft.com/office/drawing/2014/main" id="{7D2C8BC7-2045-4722-A3AA-470EEA577B12}"/>
              </a:ext>
            </a:extLst>
          </p:cNvPr>
          <p:cNvSpPr>
            <a:spLocks xmlns:a="http://schemas.openxmlformats.org/drawingml/2006/main" noGrp="1"/>
          </p:cNvSpPr>
          <p:nvPr/>
        </p:nvSpPr>
        <p:spPr>
          <a:xfrm xmlns:a="http://schemas.openxmlformats.org/drawingml/2006/main">
            <a:off x="647700" y="1657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875" b="1">
                <a:solidFill>
                  <a:srgbClr val="A6F3F6"/>
                </a:solidFill>
                <a:latin typeface="Arial"/>
                <a:ea typeface="Arial"/>
                <a:cs typeface="Arial"/>
              </a:defRPr>
            </a:pPr>
            <a:r>
              <a:rPr sz="1875" b="1">
                <a:solidFill>
                  <a:srgbClr val="A6F3F6"/>
                </a:solidFill>
                <a:latin typeface="Arial"/>
                <a:ea typeface="Arial"/>
                <a:cs typeface="Arial"/>
              </a:rPr>
              <a:t>One network pattern can be harmless for one application and dangerous for another.</a:t>
            </a:r>
          </a:p>
        </p:txBody>
      </p:sp>
      <p:sp>
        <p:nvSpPr>
          <p:cNvPr id="5" name="">
            <a:extLst xmlns:a="http://schemas.openxmlformats.org/drawingml/2006/main">
              <a:ext uri="{FF2B5EF4-FFF2-40B4-BE49-F238E27FC236}">
                <a16:creationId xmlns:a16="http://schemas.microsoft.com/office/drawing/2014/main" id="{6BEE0CBF-CB38-447D-B3A1-C338A897FBE0}"/>
              </a:ext>
            </a:extLst>
          </p:cNvPr>
          <p:cNvSpPr>
            <a:spLocks xmlns:a="http://schemas.openxmlformats.org/drawingml/2006/main" noGrp="1"/>
          </p:cNvSpPr>
          <p:nvPr/>
        </p:nvSpPr>
        <p:spPr>
          <a:xfrm xmlns:a="http://schemas.openxmlformats.org/drawingml/2006/main">
            <a:off x="876300" y="2819400"/>
            <a:ext cx="2190750" cy="1066800"/>
          </a:xfrm>
          <a:prstGeom xmlns:a="http://schemas.openxmlformats.org/drawingml/2006/main" prst="roundRect">
            <a:avLst>
              <a:gd name="adj" fmla="val 12500"/>
            </a:avLst>
          </a:prstGeom>
          <a:solidFill xmlns:a="http://schemas.openxmlformats.org/drawingml/2006/main">
            <a:srgbClr val="0C2435"/>
          </a:solidFill>
          <a:ln xmlns:a="http://schemas.openxmlformats.org/drawingml/2006/main" w="19050">
            <a:solidFill>
              <a:srgbClr val="24D6E5"/>
            </a:solidFill>
          </a:ln>
        </p:spPr>
        <p:txBody>
          <a:bodyPr xmlns:a="http://schemas.openxmlformats.org/drawingml/2006/main"/>
          <a:lstStyle xmlns:a="http://schemas.openxmlformats.org/drawingml/2006/main"/>
          <a:p xmlns:a="http://schemas.openxmlformats.org/drawingml/2006/main">
            <a:pPr algn="ctr">
              <a:defRPr sz="1275" b="1">
                <a:solidFill>
                  <a:srgbClr val="F7FBFD"/>
                </a:solidFill>
                <a:latin typeface="Arial"/>
                <a:ea typeface="Arial"/>
                <a:cs typeface="Arial"/>
              </a:defRPr>
            </a:pPr>
            <a:r>
              <a:rPr sz="1275" b="1">
                <a:solidFill>
                  <a:srgbClr val="F7FBFD"/>
                </a:solidFill>
                <a:latin typeface="Arial"/>
                <a:ea typeface="Arial"/>
                <a:cs typeface="Arial"/>
              </a:rPr>
              <a:t>Encrypted</a:t>
            </a:r>
          </a:p>
          <a:p xmlns:a="http://schemas.openxmlformats.org/drawingml/2006/main">
            <a:pPr algn="ctr">
              <a:defRPr sz="1275" b="1">
                <a:solidFill>
                  <a:srgbClr val="F7FBFD"/>
                </a:solidFill>
                <a:latin typeface="Arial"/>
                <a:ea typeface="Arial"/>
                <a:cs typeface="Arial"/>
              </a:defRPr>
            </a:pPr>
            <a:r>
              <a:rPr sz="1275" b="1">
                <a:solidFill>
                  <a:srgbClr val="F7FBFD"/>
                </a:solidFill>
                <a:latin typeface="Arial"/>
                <a:ea typeface="Arial"/>
                <a:cs typeface="Arial"/>
              </a:rPr>
              <a:t>connection</a:t>
            </a:r>
          </a:p>
        </p:txBody>
      </p:sp>
      <p:sp>
        <p:nvSpPr>
          <p:cNvPr id="6" name="">
            <a:extLst xmlns:a="http://schemas.openxmlformats.org/drawingml/2006/main">
              <a:ext uri="{FF2B5EF4-FFF2-40B4-BE49-F238E27FC236}">
                <a16:creationId xmlns:a16="http://schemas.microsoft.com/office/drawing/2014/main" id="{376FB3B4-BF58-4836-BD15-5F7596B59E00}"/>
              </a:ext>
            </a:extLst>
          </p:cNvPr>
          <p:cNvSpPr>
            <a:spLocks xmlns:a="http://schemas.openxmlformats.org/drawingml/2006/main" noGrp="1"/>
          </p:cNvSpPr>
          <p:nvPr/>
        </p:nvSpPr>
        <p:spPr>
          <a:xfrm xmlns:a="http://schemas.openxmlformats.org/drawingml/2006/main">
            <a:off x="4953000" y="2628900"/>
            <a:ext cx="2286000" cy="1447800"/>
          </a:xfrm>
          <a:prstGeom xmlns:a="http://schemas.openxmlformats.org/drawingml/2006/main" prst="roundRect">
            <a:avLst>
              <a:gd name="adj" fmla="val 9211"/>
            </a:avLst>
          </a:prstGeom>
          <a:solidFill xmlns:a="http://schemas.openxmlformats.org/drawingml/2006/main">
            <a:srgbClr val="0C2435"/>
          </a:solidFill>
          <a:ln xmlns:a="http://schemas.openxmlformats.org/drawingml/2006/main" w="19050">
            <a:solidFill>
              <a:srgbClr val="FFB547"/>
            </a:solidFill>
          </a:ln>
        </p:spPr>
        <p:txBody>
          <a:bodyPr xmlns:a="http://schemas.openxmlformats.org/drawingml/2006/main"/>
          <a:lstStyle xmlns:a="http://schemas.openxmlformats.org/drawingml/2006/main"/>
          <a:p xmlns:a="http://schemas.openxmlformats.org/drawingml/2006/main">
            <a:pPr algn="ctr">
              <a:defRPr sz="1275" b="1">
                <a:solidFill>
                  <a:srgbClr val="F7FBFD"/>
                </a:solidFill>
                <a:latin typeface="Arial"/>
                <a:ea typeface="Arial"/>
                <a:cs typeface="Arial"/>
              </a:defRPr>
            </a:pPr>
            <a:r>
              <a:rPr sz="1275" b="1">
                <a:solidFill>
                  <a:srgbClr val="F7FBFD"/>
                </a:solidFill>
                <a:latin typeface="Arial"/>
                <a:ea typeface="Arial"/>
                <a:cs typeface="Arial"/>
              </a:rPr>
              <a:t>NGFW</a:t>
            </a:r>
          </a:p>
          <a:p xmlns:a="http://schemas.openxmlformats.org/drawingml/2006/main">
            <a:pPr algn="ctr">
              <a:defRPr sz="1275" b="1">
                <a:solidFill>
                  <a:srgbClr val="F7FBFD"/>
                </a:solidFill>
                <a:latin typeface="Arial"/>
                <a:ea typeface="Arial"/>
                <a:cs typeface="Arial"/>
              </a:defRPr>
            </a:pPr>
            <a:r>
              <a:rPr sz="1275" b="1">
                <a:solidFill>
                  <a:srgbClr val="F7FBFD"/>
                </a:solidFill>
                <a:latin typeface="Arial"/>
                <a:ea typeface="Arial"/>
                <a:cs typeface="Arial"/>
              </a:rPr>
              <a:t>traffic inspection</a:t>
            </a:r>
          </a:p>
        </p:txBody>
      </p:sp>
      <p:sp>
        <p:nvSpPr>
          <p:cNvPr id="7" name="">
            <a:extLst xmlns:a="http://schemas.openxmlformats.org/drawingml/2006/main">
              <a:ext uri="{FF2B5EF4-FFF2-40B4-BE49-F238E27FC236}">
                <a16:creationId xmlns:a16="http://schemas.microsoft.com/office/drawing/2014/main" id="{442FB373-1F8C-4C22-BE01-CDD43264ED15}"/>
              </a:ext>
            </a:extLst>
          </p:cNvPr>
          <p:cNvSpPr>
            <a:spLocks xmlns:a="http://schemas.openxmlformats.org/drawingml/2006/main" noGrp="1"/>
          </p:cNvSpPr>
          <p:nvPr/>
        </p:nvSpPr>
        <p:spPr>
          <a:xfrm xmlns:a="http://schemas.openxmlformats.org/drawingml/2006/main">
            <a:off x="9010650" y="2819400"/>
            <a:ext cx="2190750" cy="1066800"/>
          </a:xfrm>
          <a:prstGeom xmlns:a="http://schemas.openxmlformats.org/drawingml/2006/main" prst="roundRect">
            <a:avLst>
              <a:gd name="adj" fmla="val 12500"/>
            </a:avLst>
          </a:prstGeom>
          <a:solidFill xmlns:a="http://schemas.openxmlformats.org/drawingml/2006/main">
            <a:srgbClr val="0C2435"/>
          </a:solidFill>
          <a:ln xmlns:a="http://schemas.openxmlformats.org/drawingml/2006/main" w="19050">
            <a:solidFill>
              <a:srgbClr val="24D6E5"/>
            </a:solidFill>
          </a:ln>
        </p:spPr>
        <p:txBody>
          <a:bodyPr xmlns:a="http://schemas.openxmlformats.org/drawingml/2006/main"/>
          <a:lstStyle xmlns:a="http://schemas.openxmlformats.org/drawingml/2006/main"/>
          <a:p xmlns:a="http://schemas.openxmlformats.org/drawingml/2006/main">
            <a:pPr algn="ctr">
              <a:defRPr sz="1275" b="1">
                <a:solidFill>
                  <a:srgbClr val="F7FBFD"/>
                </a:solidFill>
                <a:latin typeface="Arial"/>
                <a:ea typeface="Arial"/>
                <a:cs typeface="Arial"/>
              </a:defRPr>
            </a:pPr>
            <a:r>
              <a:rPr sz="1275" b="1">
                <a:solidFill>
                  <a:srgbClr val="F7FBFD"/>
                </a:solidFill>
                <a:latin typeface="Arial"/>
                <a:ea typeface="Arial"/>
                <a:cs typeface="Arial"/>
              </a:rPr>
              <a:t>Application</a:t>
            </a:r>
          </a:p>
          <a:p xmlns:a="http://schemas.openxmlformats.org/drawingml/2006/main">
            <a:pPr algn="ctr">
              <a:defRPr sz="1275" b="1">
                <a:solidFill>
                  <a:srgbClr val="F7FBFD"/>
                </a:solidFill>
                <a:latin typeface="Arial"/>
                <a:ea typeface="Arial"/>
                <a:cs typeface="Arial"/>
              </a:defRPr>
            </a:pPr>
            <a:r>
              <a:rPr sz="1275" b="1">
                <a:solidFill>
                  <a:srgbClr val="F7FBFD"/>
                </a:solidFill>
                <a:latin typeface="Arial"/>
                <a:ea typeface="Arial"/>
                <a:cs typeface="Arial"/>
              </a:rPr>
              <a:t>and device</a:t>
            </a:r>
          </a:p>
        </p:txBody>
      </p: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3067050" y="3352800"/>
            <a:ext cx="1885950" cy="0"/>
          </a:xfrm>
          <a:prstGeom xmlns:a="http://schemas.openxmlformats.org/drawingml/2006/main" prst="straightConnector1">
            <a:avLst/>
          </a:prstGeom>
          <a:ln xmlns:a="http://schemas.openxmlformats.org/drawingml/2006/main" w="28575">
            <a:solidFill>
              <a:srgbClr val="24D6E5"/>
            </a:solidFill>
            <a:tailEnd type="triangle" w="sm" len="sm"/>
          </a:ln>
        </p:spPr>
      </p:cxnSp>
      <p:cxnSp>
        <p:nvCxnSpPr>
          <p:cNvPr id="23" name=""/>
          <p:cNvCxnSpPr>
            <a:stCxn xmlns:a="http://schemas.openxmlformats.org/drawingml/2006/main" id="6" idx="3"/>
            <a:endCxn xmlns:a="http://schemas.openxmlformats.org/drawingml/2006/main" id="7" idx="1"/>
          </p:cNvCxnSpPr>
          <p:nvPr/>
        </p:nvCxnSpPr>
        <p:spPr>
          <a:xfrm xmlns:a="http://schemas.openxmlformats.org/drawingml/2006/main">
            <a:off x="7239000" y="3352800"/>
            <a:ext cx="1771650" cy="0"/>
          </a:xfrm>
          <a:prstGeom xmlns:a="http://schemas.openxmlformats.org/drawingml/2006/main" prst="straightConnector1">
            <a:avLst/>
          </a:prstGeom>
          <a:ln xmlns:a="http://schemas.openxmlformats.org/drawingml/2006/main" w="28575">
            <a:solidFill>
              <a:srgbClr val="24D6E5"/>
            </a:solidFill>
            <a:tailEnd type="triangle" w="sm" len="sm"/>
          </a:ln>
        </p:spPr>
      </p:cxnSp>
      <p:sp>
        <p:nvSpPr>
          <p:cNvPr id="10" name="">
            <a:extLst xmlns:a="http://schemas.openxmlformats.org/drawingml/2006/main">
              <a:ext uri="{FF2B5EF4-FFF2-40B4-BE49-F238E27FC236}">
                <a16:creationId xmlns:a16="http://schemas.microsoft.com/office/drawing/2014/main" id="{217958A5-28A8-4C2C-9AFF-3470320A6BB5}"/>
              </a:ext>
            </a:extLst>
          </p:cNvPr>
          <p:cNvSpPr>
            <a:spLocks xmlns:a="http://schemas.openxmlformats.org/drawingml/2006/main" noGrp="1"/>
          </p:cNvSpPr>
          <p:nvPr/>
        </p:nvSpPr>
        <p:spPr>
          <a:xfrm xmlns:a="http://schemas.openxmlformats.org/drawingml/2006/main">
            <a:off x="4667250" y="445770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defRPr sz="1350" b="1">
                <a:solidFill>
                  <a:srgbClr val="FFB547"/>
                </a:solidFill>
                <a:latin typeface="Arial"/>
                <a:ea typeface="Arial"/>
                <a:cs typeface="Arial"/>
              </a:defRPr>
            </a:pPr>
            <a:r>
              <a:rPr sz="1350" b="1">
                <a:solidFill>
                  <a:srgbClr val="FFB547"/>
                </a:solidFill>
                <a:latin typeface="Arial"/>
                <a:ea typeface="Arial"/>
                <a:cs typeface="Arial"/>
              </a:rPr>
              <a:t>Missing context</a:t>
            </a:r>
          </a:p>
        </p:txBody>
      </p:sp>
      <p:sp>
        <p:nvSpPr>
          <p:cNvPr id="11" name="">
            <a:extLst xmlns:a="http://schemas.openxmlformats.org/drawingml/2006/main">
              <a:ext uri="{FF2B5EF4-FFF2-40B4-BE49-F238E27FC236}">
                <a16:creationId xmlns:a16="http://schemas.microsoft.com/office/drawing/2014/main" id="{67CCF0EB-3849-46DB-B2BB-29295EAA9A89}"/>
              </a:ext>
            </a:extLst>
          </p:cNvPr>
          <p:cNvSpPr>
            <a:spLocks xmlns:a="http://schemas.openxmlformats.org/drawingml/2006/main" noGrp="1"/>
          </p:cNvSpPr>
          <p:nvPr/>
        </p:nvSpPr>
        <p:spPr>
          <a:xfrm xmlns:a="http://schemas.openxmlformats.org/drawingml/2006/main">
            <a:off x="2667000" y="4905375"/>
            <a:ext cx="685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defRPr sz="1500" b="0">
                <a:solidFill>
                  <a:srgbClr val="D7E5EC"/>
                </a:solidFill>
                <a:latin typeface="Arial"/>
                <a:ea typeface="Arial"/>
                <a:cs typeface="Arial"/>
              </a:defRPr>
            </a:pPr>
            <a:r>
              <a:rPr sz="1500" b="0">
                <a:solidFill>
                  <a:srgbClr val="D7E5EC"/>
                </a:solidFill>
                <a:latin typeface="Arial"/>
                <a:ea typeface="Arial"/>
                <a:cs typeface="Arial"/>
              </a:rPr>
              <a:t>Process identity · software version · device posture · asset state</a:t>
            </a:r>
          </a:p>
        </p:txBody>
      </p:sp>
      <p:sp>
        <p:nvSpPr>
          <p:cNvPr id="12" name="">
            <a:extLst xmlns:a="http://schemas.openxmlformats.org/drawingml/2006/main">
              <a:ext uri="{FF2B5EF4-FFF2-40B4-BE49-F238E27FC236}">
                <a16:creationId xmlns:a16="http://schemas.microsoft.com/office/drawing/2014/main" id="{4BFFF3E1-CEFE-4EA3-98B3-20BF276E7201}"/>
              </a:ext>
            </a:extLst>
          </p:cNvPr>
          <p:cNvSpPr>
            <a:spLocks xmlns:a="http://schemas.openxmlformats.org/drawingml/2006/main" noGrp="1"/>
          </p:cNvSpPr>
          <p:nvPr/>
        </p:nvSpPr>
        <p:spPr>
          <a:xfrm xmlns:a="http://schemas.openxmlformats.org/drawingml/2006/main">
            <a:off x="1809750" y="5562600"/>
            <a:ext cx="857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defRPr sz="1425" b="1">
                <a:solidFill>
                  <a:srgbClr val="F7FBFD"/>
                </a:solidFill>
                <a:latin typeface="Arial"/>
                <a:ea typeface="Arial"/>
                <a:cs typeface="Arial"/>
              </a:defRPr>
            </a:pPr>
            <a:r>
              <a:rPr sz="1425" b="1">
                <a:solidFill>
                  <a:srgbClr val="F7FBFD"/>
                </a:solidFill>
                <a:latin typeface="Arial"/>
                <a:ea typeface="Arial"/>
                <a:cs typeface="Arial"/>
              </a:rPr>
              <a:t>Endpoint awareness narrows policy decisions and improves alert context. It does not replace traffic inspection.</a:t>
            </a:r>
          </a:p>
        </p:txBody>
      </p:sp>
      <p:sp>
        <p:nvSpPr>
          <p:cNvPr id="13" name="">
            <a:extLst xmlns:a="http://schemas.openxmlformats.org/drawingml/2006/main">
              <a:ext uri="{FF2B5EF4-FFF2-40B4-BE49-F238E27FC236}">
                <a16:creationId xmlns:a16="http://schemas.microsoft.com/office/drawing/2014/main" id="{555B61F2-EAD5-4F10-A26E-F0F825BA2C7D}"/>
              </a:ext>
            </a:extLst>
          </p:cNvPr>
          <p:cNvSpPr>
            <a:spLocks xmlns:a="http://schemas.openxmlformats.org/drawingml/2006/main" noGrp="1"/>
          </p:cNvSpPr>
          <p:nvPr/>
        </p:nvSpPr>
        <p:spPr>
          <a:xfrm xmlns:a="http://schemas.openxmlformats.org/drawingml/2006/main">
            <a:off x="647700" y="6486525"/>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900" b="0">
                <a:solidFill>
                  <a:srgbClr val="8FA8B5"/>
                </a:solidFill>
                <a:latin typeface="Arial"/>
                <a:ea typeface="Arial"/>
                <a:cs typeface="Arial"/>
              </a:defRPr>
            </a:pPr>
            <a:r>
              <a:rPr sz="900" b="0">
                <a:solidFill>
                  <a:srgbClr val="8FA8B5"/>
                </a:solidFill>
                <a:latin typeface="Arial"/>
                <a:ea typeface="Arial"/>
                <a:cs typeface="Arial"/>
              </a:rPr>
              <a:t>Spyridon Grouztidis · Ioakeim Christaras</a:t>
            </a:r>
          </a:p>
        </p:txBody>
      </p:sp>
      <p:sp>
        <p:nvSpPr>
          <p:cNvPr id="14" name="">
            <a:extLst xmlns:a="http://schemas.openxmlformats.org/drawingml/2006/main">
              <a:ext uri="{FF2B5EF4-FFF2-40B4-BE49-F238E27FC236}">
                <a16:creationId xmlns:a16="http://schemas.microsoft.com/office/drawing/2014/main" id="{0E0A7B1E-70BF-4C8E-B681-02708A15913C}"/>
              </a:ext>
            </a:extLst>
          </p:cNvPr>
          <p:cNvSpPr>
            <a:spLocks xmlns:a="http://schemas.openxmlformats.org/drawingml/2006/main" noGrp="1"/>
          </p:cNvSpPr>
          <p:nvPr/>
        </p:nvSpPr>
        <p:spPr>
          <a:xfrm xmlns:a="http://schemas.openxmlformats.org/drawingml/2006/main">
            <a:off x="10953750" y="6486525"/>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defRPr sz="900" b="1">
                <a:solidFill>
                  <a:srgbClr val="8FA8B5"/>
                </a:solidFill>
                <a:latin typeface="Arial"/>
                <a:ea typeface="Arial"/>
                <a:cs typeface="Arial"/>
              </a:defRPr>
            </a:pPr>
            <a:r>
              <a:rPr sz="900" b="1">
                <a:solidFill>
                  <a:srgbClr val="8FA8B5"/>
                </a:solidFill>
                <a:latin typeface="Arial"/>
                <a:ea typeface="Arial"/>
                <a:cs typeface="Arial"/>
              </a:rPr>
              <a:t>02</a:t>
            </a:r>
          </a:p>
        </p:txBody>
      </p:sp>
    </p:spTree>
    <p:extLst>
      <p:ext uri="{BB962C8B-B14F-4D97-AF65-F5344CB8AC3E}">
        <p14:creationId xmlns:p14="http://schemas.microsoft.com/office/powerpoint/2010/main" val="1439931021"/>
      </p:ext>
    </p:extLst>
  </p:cSld>
</p:sld>
</file>

<file path=ppt/slides/slide3.xml><?xml version="1.0" encoding="utf-8"?>
<p:sld xmlns:p="http://schemas.openxmlformats.org/presentationml/2006/main">
  <p:cSld>
    <p:bg>
      <p:bgPr>
        <a:solidFill xmlns:a="http://schemas.openxmlformats.org/drawingml/2006/main">
          <a:srgbClr val="071724"/>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2504856-5319-4B53-BD37-C26AB4454272}"/>
              </a:ext>
            </a:extLst>
          </p:cNvPr>
          <p:cNvSpPr>
            <a:spLocks xmlns:a="http://schemas.openxmlformats.org/drawingml/2006/main" noGrp="1"/>
          </p:cNvSpPr>
          <p:nvPr/>
        </p:nvSpPr>
        <p:spPr>
          <a:xfrm xmlns:a="http://schemas.openxmlformats.org/drawingml/2006/main">
            <a:off x="647700" y="3619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975" b="1">
                <a:solidFill>
                  <a:srgbClr val="24D6E5"/>
                </a:solidFill>
                <a:latin typeface="Arial"/>
                <a:ea typeface="Arial"/>
                <a:cs typeface="Arial"/>
              </a:defRPr>
            </a:pPr>
            <a:r>
              <a:rPr sz="975" b="1">
                <a:solidFill>
                  <a:srgbClr val="24D6E5"/>
                </a:solidFill>
                <a:latin typeface="Arial"/>
                <a:ea typeface="Arial"/>
                <a:cs typeface="Arial"/>
              </a:rPr>
              <a:t>ENDPOINT-AWARE NGFW</a:t>
            </a:r>
          </a:p>
        </p:txBody>
      </p:sp>
      <p:sp>
        <p:nvSpPr>
          <p:cNvPr id="2" name="">
            <a:extLst xmlns:a="http://schemas.openxmlformats.org/drawingml/2006/main">
              <a:ext uri="{FF2B5EF4-FFF2-40B4-BE49-F238E27FC236}">
                <a16:creationId xmlns:a16="http://schemas.microsoft.com/office/drawing/2014/main" id="{3640C0F0-781A-40F2-B90A-E28FB8E64BEE}"/>
              </a:ext>
            </a:extLst>
          </p:cNvPr>
          <p:cNvSpPr>
            <a:spLocks xmlns:a="http://schemas.openxmlformats.org/drawingml/2006/main" noGrp="1"/>
          </p:cNvSpPr>
          <p:nvPr/>
        </p:nvSpPr>
        <p:spPr>
          <a:xfrm xmlns:a="http://schemas.openxmlformats.org/drawingml/2006/main">
            <a:off x="647700" y="66675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325" b="1">
                <a:solidFill>
                  <a:srgbClr val="F7FBFD"/>
                </a:solidFill>
                <a:latin typeface="Arial"/>
                <a:ea typeface="Arial"/>
                <a:cs typeface="Arial"/>
              </a:defRPr>
            </a:pPr>
            <a:r>
              <a:rPr sz="2325" b="1">
                <a:solidFill>
                  <a:srgbClr val="F7FBFD"/>
                </a:solidFill>
                <a:latin typeface="Arial"/>
                <a:ea typeface="Arial"/>
                <a:cs typeface="Arial"/>
              </a:rPr>
              <a:t>Evidence base and analytical boundary</a:t>
            </a:r>
          </a:p>
        </p:txBody>
      </p:sp>
      <p:sp>
        <p:nvSpPr>
          <p:cNvPr id="3" name="">
            <a:extLst xmlns:a="http://schemas.openxmlformats.org/drawingml/2006/main">
              <a:ext uri="{FF2B5EF4-FFF2-40B4-BE49-F238E27FC236}">
                <a16:creationId xmlns:a16="http://schemas.microsoft.com/office/drawing/2014/main" id="{2D5D6B76-5290-415D-8ED8-28C23E1B7CC3}"/>
              </a:ext>
            </a:extLst>
          </p:cNvPr>
          <p:cNvSpPr>
            <a:spLocks xmlns:a="http://schemas.openxmlformats.org/drawingml/2006/main" noGrp="1"/>
          </p:cNvSpPr>
          <p:nvPr/>
        </p:nvSpPr>
        <p:spPr>
          <a:xfrm xmlns:a="http://schemas.openxmlformats.org/drawingml/2006/main">
            <a:off x="647700" y="1504950"/>
            <a:ext cx="10896600" cy="0"/>
          </a:xfrm>
          <a:prstGeom xmlns:a="http://schemas.openxmlformats.org/drawingml/2006/main" prst="line">
            <a:avLst/>
          </a:prstGeom>
          <a:noFill xmlns:a="http://schemas.openxmlformats.org/drawingml/2006/main"/>
          <a:ln xmlns:a="http://schemas.openxmlformats.org/drawingml/2006/main" w="19050">
            <a:solidFill>
              <a:srgbClr val="17394C"/>
            </a:solidFill>
          </a:ln>
        </p:spPr>
      </p:sp>
      <p:sp>
        <p:nvSpPr>
          <p:cNvPr id="4" name="">
            <a:extLst xmlns:a="http://schemas.openxmlformats.org/drawingml/2006/main">
              <a:ext uri="{FF2B5EF4-FFF2-40B4-BE49-F238E27FC236}">
                <a16:creationId xmlns:a16="http://schemas.microsoft.com/office/drawing/2014/main" id="{70AB127E-4760-427B-B56B-A45A03695C0E}"/>
              </a:ext>
            </a:extLst>
          </p:cNvPr>
          <p:cNvSpPr>
            <a:spLocks xmlns:a="http://schemas.openxmlformats.org/drawingml/2006/main" noGrp="1"/>
          </p:cNvSpPr>
          <p:nvPr/>
        </p:nvSpPr>
        <p:spPr>
          <a:xfrm xmlns:a="http://schemas.openxmlformats.org/drawingml/2006/main">
            <a:off x="685800" y="1752600"/>
            <a:ext cx="3333750" cy="3333750"/>
          </a:xfrm>
          <a:prstGeom xmlns:a="http://schemas.openxmlformats.org/drawingml/2006/main" prst="roundRect">
            <a:avLst>
              <a:gd name="adj" fmla="val 5143"/>
            </a:avLst>
          </a:prstGeom>
          <a:solidFill xmlns:a="http://schemas.openxmlformats.org/drawingml/2006/main">
            <a:srgbClr val="0C2435"/>
          </a:solidFill>
          <a:ln xmlns:a="http://schemas.openxmlformats.org/drawingml/2006/main" w="14288">
            <a:solidFill>
              <a:srgbClr val="17394C"/>
            </a:solidFill>
          </a:ln>
        </p:spPr>
      </p:sp>
      <p:sp>
        <p:nvSpPr>
          <p:cNvPr id="5" name="">
            <a:extLst xmlns:a="http://schemas.openxmlformats.org/drawingml/2006/main">
              <a:ext uri="{FF2B5EF4-FFF2-40B4-BE49-F238E27FC236}">
                <a16:creationId xmlns:a16="http://schemas.microsoft.com/office/drawing/2014/main" id="{F538C2ED-C9E3-444D-82BB-F9DF54DDCA5A}"/>
              </a:ext>
            </a:extLst>
          </p:cNvPr>
          <p:cNvSpPr>
            <a:spLocks xmlns:a="http://schemas.openxmlformats.org/drawingml/2006/main" noGrp="1"/>
          </p:cNvSpPr>
          <p:nvPr/>
        </p:nvSpPr>
        <p:spPr>
          <a:xfrm xmlns:a="http://schemas.openxmlformats.org/drawingml/2006/main">
            <a:off x="685800" y="1752600"/>
            <a:ext cx="66675" cy="3333750"/>
          </a:xfrm>
          <a:prstGeom xmlns:a="http://schemas.openxmlformats.org/drawingml/2006/main" prst="rect">
            <a:avLst/>
          </a:prstGeom>
          <a:solidFill xmlns:a="http://schemas.openxmlformats.org/drawingml/2006/main">
            <a:srgbClr val="24D6E5"/>
          </a:solidFill>
          <a:ln xmlns:a="http://schemas.openxmlformats.org/drawingml/2006/main" w="0">
            <a:solidFill>
              <a:srgbClr val="24D6E5"/>
            </a:solidFill>
          </a:ln>
        </p:spPr>
      </p:sp>
      <p:sp>
        <p:nvSpPr>
          <p:cNvPr id="6" name="">
            <a:extLst xmlns:a="http://schemas.openxmlformats.org/drawingml/2006/main">
              <a:ext uri="{FF2B5EF4-FFF2-40B4-BE49-F238E27FC236}">
                <a16:creationId xmlns:a16="http://schemas.microsoft.com/office/drawing/2014/main" id="{60B86A81-2886-4B90-A7E8-1CF270D2071F}"/>
              </a:ext>
            </a:extLst>
          </p:cNvPr>
          <p:cNvSpPr>
            <a:spLocks xmlns:a="http://schemas.openxmlformats.org/drawingml/2006/main" noGrp="1"/>
          </p:cNvSpPr>
          <p:nvPr/>
        </p:nvSpPr>
        <p:spPr>
          <a:xfrm xmlns:a="http://schemas.openxmlformats.org/drawingml/2006/main">
            <a:off x="914400" y="1943100"/>
            <a:ext cx="2876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500" b="1">
                <a:solidFill>
                  <a:srgbClr val="F7FBFD"/>
                </a:solidFill>
                <a:latin typeface="Arial"/>
                <a:ea typeface="Arial"/>
                <a:cs typeface="Arial"/>
              </a:defRPr>
            </a:pPr>
            <a:r>
              <a:rPr sz="1500" b="1">
                <a:solidFill>
                  <a:srgbClr val="F7FBFD"/>
                </a:solidFill>
                <a:latin typeface="Arial"/>
                <a:ea typeface="Arial"/>
                <a:cs typeface="Arial"/>
              </a:rPr>
              <a:t>Research taxonomy</a:t>
            </a:r>
          </a:p>
        </p:txBody>
      </p:sp>
      <p:sp>
        <p:nvSpPr>
          <p:cNvPr id="7" name="">
            <a:extLst xmlns:a="http://schemas.openxmlformats.org/drawingml/2006/main">
              <a:ext uri="{FF2B5EF4-FFF2-40B4-BE49-F238E27FC236}">
                <a16:creationId xmlns:a16="http://schemas.microsoft.com/office/drawing/2014/main" id="{CF15ACB1-AAF7-4B75-BCA8-A9EFD96C59B2}"/>
              </a:ext>
            </a:extLst>
          </p:cNvPr>
          <p:cNvSpPr>
            <a:spLocks xmlns:a="http://schemas.openxmlformats.org/drawingml/2006/main" noGrp="1"/>
          </p:cNvSpPr>
          <p:nvPr/>
        </p:nvSpPr>
        <p:spPr>
          <a:xfrm xmlns:a="http://schemas.openxmlformats.org/drawingml/2006/main">
            <a:off x="914400" y="2343150"/>
            <a:ext cx="2876550" cy="259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200" b="0">
                <a:solidFill>
                  <a:srgbClr val="D7E5EC"/>
                </a:solidFill>
                <a:latin typeface="Arial"/>
                <a:ea typeface="Arial"/>
                <a:cs typeface="Arial"/>
              </a:defRPr>
            </a:pPr>
            <a:r>
              <a:rPr sz="1200" b="0">
                <a:solidFill>
                  <a:srgbClr val="D7E5EC"/>
                </a:solidFill>
                <a:latin typeface="Arial"/>
                <a:ea typeface="Arial"/>
                <a:cs typeface="Arial"/>
              </a:rPr>
              <a:t>Heino et al. divide endpoint application identification into passive and active methods. Their survey reviews academic work and public implementation evidence.</a:t>
            </a:r>
          </a:p>
        </p:txBody>
      </p:sp>
      <p:sp>
        <p:nvSpPr>
          <p:cNvPr id="8" name="">
            <a:extLst xmlns:a="http://schemas.openxmlformats.org/drawingml/2006/main">
              <a:ext uri="{FF2B5EF4-FFF2-40B4-BE49-F238E27FC236}">
                <a16:creationId xmlns:a16="http://schemas.microsoft.com/office/drawing/2014/main" id="{142091CA-657E-4941-AF90-587BE28D1DFF}"/>
              </a:ext>
            </a:extLst>
          </p:cNvPr>
          <p:cNvSpPr>
            <a:spLocks xmlns:a="http://schemas.openxmlformats.org/drawingml/2006/main" noGrp="1"/>
          </p:cNvSpPr>
          <p:nvPr/>
        </p:nvSpPr>
        <p:spPr>
          <a:xfrm xmlns:a="http://schemas.openxmlformats.org/drawingml/2006/main">
            <a:off x="4429125" y="1752600"/>
            <a:ext cx="3333750" cy="3333750"/>
          </a:xfrm>
          <a:prstGeom xmlns:a="http://schemas.openxmlformats.org/drawingml/2006/main" prst="roundRect">
            <a:avLst>
              <a:gd name="adj" fmla="val 5143"/>
            </a:avLst>
          </a:prstGeom>
          <a:solidFill xmlns:a="http://schemas.openxmlformats.org/drawingml/2006/main">
            <a:srgbClr val="0C2435"/>
          </a:solidFill>
          <a:ln xmlns:a="http://schemas.openxmlformats.org/drawingml/2006/main" w="14288">
            <a:solidFill>
              <a:srgbClr val="17394C"/>
            </a:solidFill>
          </a:ln>
        </p:spPr>
      </p:sp>
      <p:sp>
        <p:nvSpPr>
          <p:cNvPr id="9" name="">
            <a:extLst xmlns:a="http://schemas.openxmlformats.org/drawingml/2006/main">
              <a:ext uri="{FF2B5EF4-FFF2-40B4-BE49-F238E27FC236}">
                <a16:creationId xmlns:a16="http://schemas.microsoft.com/office/drawing/2014/main" id="{3629189D-8650-4B55-8E94-843AF70F39B6}"/>
              </a:ext>
            </a:extLst>
          </p:cNvPr>
          <p:cNvSpPr>
            <a:spLocks xmlns:a="http://schemas.openxmlformats.org/drawingml/2006/main" noGrp="1"/>
          </p:cNvSpPr>
          <p:nvPr/>
        </p:nvSpPr>
        <p:spPr>
          <a:xfrm xmlns:a="http://schemas.openxmlformats.org/drawingml/2006/main">
            <a:off x="4429125" y="1752600"/>
            <a:ext cx="66675" cy="3333750"/>
          </a:xfrm>
          <a:prstGeom xmlns:a="http://schemas.openxmlformats.org/drawingml/2006/main" prst="rect">
            <a:avLst/>
          </a:prstGeom>
          <a:solidFill xmlns:a="http://schemas.openxmlformats.org/drawingml/2006/main">
            <a:srgbClr val="57D6A2"/>
          </a:solidFill>
          <a:ln xmlns:a="http://schemas.openxmlformats.org/drawingml/2006/main" w="0">
            <a:solidFill>
              <a:srgbClr val="57D6A2"/>
            </a:solidFill>
          </a:ln>
        </p:spPr>
      </p:sp>
      <p:sp>
        <p:nvSpPr>
          <p:cNvPr id="10" name="">
            <a:extLst xmlns:a="http://schemas.openxmlformats.org/drawingml/2006/main">
              <a:ext uri="{FF2B5EF4-FFF2-40B4-BE49-F238E27FC236}">
                <a16:creationId xmlns:a16="http://schemas.microsoft.com/office/drawing/2014/main" id="{EDCE10CA-139E-400F-B039-5E6D4C44ABCE}"/>
              </a:ext>
            </a:extLst>
          </p:cNvPr>
          <p:cNvSpPr>
            <a:spLocks xmlns:a="http://schemas.openxmlformats.org/drawingml/2006/main" noGrp="1"/>
          </p:cNvSpPr>
          <p:nvPr/>
        </p:nvSpPr>
        <p:spPr>
          <a:xfrm xmlns:a="http://schemas.openxmlformats.org/drawingml/2006/main">
            <a:off x="4657725" y="1943100"/>
            <a:ext cx="2876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500" b="1">
                <a:solidFill>
                  <a:srgbClr val="F7FBFD"/>
                </a:solidFill>
                <a:latin typeface="Arial"/>
                <a:ea typeface="Arial"/>
                <a:cs typeface="Arial"/>
              </a:defRPr>
            </a:pPr>
            <a:r>
              <a:rPr sz="1500" b="1">
                <a:solidFill>
                  <a:srgbClr val="F7FBFD"/>
                </a:solidFill>
                <a:latin typeface="Arial"/>
                <a:ea typeface="Arial"/>
                <a:cs typeface="Arial"/>
              </a:rPr>
              <a:t>Zero Trust context</a:t>
            </a:r>
          </a:p>
        </p:txBody>
      </p:sp>
      <p:sp>
        <p:nvSpPr>
          <p:cNvPr id="11" name="">
            <a:extLst xmlns:a="http://schemas.openxmlformats.org/drawingml/2006/main">
              <a:ext uri="{FF2B5EF4-FFF2-40B4-BE49-F238E27FC236}">
                <a16:creationId xmlns:a16="http://schemas.microsoft.com/office/drawing/2014/main" id="{9C524191-B034-40A4-8148-A75330F8E5B6}"/>
              </a:ext>
            </a:extLst>
          </p:cNvPr>
          <p:cNvSpPr>
            <a:spLocks xmlns:a="http://schemas.openxmlformats.org/drawingml/2006/main" noGrp="1"/>
          </p:cNvSpPr>
          <p:nvPr/>
        </p:nvSpPr>
        <p:spPr>
          <a:xfrm xmlns:a="http://schemas.openxmlformats.org/drawingml/2006/main">
            <a:off x="4657725" y="2343150"/>
            <a:ext cx="2876550" cy="259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200" b="0">
                <a:solidFill>
                  <a:srgbClr val="D7E5EC"/>
                </a:solidFill>
                <a:latin typeface="Arial"/>
                <a:ea typeface="Arial"/>
                <a:cs typeface="Arial"/>
              </a:defRPr>
            </a:pPr>
            <a:r>
              <a:rPr sz="1200" b="0">
                <a:solidFill>
                  <a:srgbClr val="D7E5EC"/>
                </a:solidFill>
                <a:latin typeface="Arial"/>
                <a:ea typeface="Arial"/>
                <a:cs typeface="Arial"/>
              </a:rPr>
              <a:t>NIST SP 800-207 treats policy enforcement as a decision informed by identity, asset state, diagnostics, and policy. Endpoint context can become one input to that decision.</a:t>
            </a:r>
          </a:p>
        </p:txBody>
      </p:sp>
      <p:sp>
        <p:nvSpPr>
          <p:cNvPr id="12" name="">
            <a:extLst xmlns:a="http://schemas.openxmlformats.org/drawingml/2006/main">
              <a:ext uri="{FF2B5EF4-FFF2-40B4-BE49-F238E27FC236}">
                <a16:creationId xmlns:a16="http://schemas.microsoft.com/office/drawing/2014/main" id="{6A2CC2E6-C9BA-4FF3-8E9D-3FDB2C5E1DFC}"/>
              </a:ext>
            </a:extLst>
          </p:cNvPr>
          <p:cNvSpPr>
            <a:spLocks xmlns:a="http://schemas.openxmlformats.org/drawingml/2006/main" noGrp="1"/>
          </p:cNvSpPr>
          <p:nvPr/>
        </p:nvSpPr>
        <p:spPr>
          <a:xfrm xmlns:a="http://schemas.openxmlformats.org/drawingml/2006/main">
            <a:off x="8172450" y="1752600"/>
            <a:ext cx="3333750" cy="3333750"/>
          </a:xfrm>
          <a:prstGeom xmlns:a="http://schemas.openxmlformats.org/drawingml/2006/main" prst="roundRect">
            <a:avLst>
              <a:gd name="adj" fmla="val 5143"/>
            </a:avLst>
          </a:prstGeom>
          <a:solidFill xmlns:a="http://schemas.openxmlformats.org/drawingml/2006/main">
            <a:srgbClr val="0C2435"/>
          </a:solidFill>
          <a:ln xmlns:a="http://schemas.openxmlformats.org/drawingml/2006/main" w="14288">
            <a:solidFill>
              <a:srgbClr val="17394C"/>
            </a:solidFill>
          </a:ln>
        </p:spPr>
      </p:sp>
      <p:sp>
        <p:nvSpPr>
          <p:cNvPr id="13" name="">
            <a:extLst xmlns:a="http://schemas.openxmlformats.org/drawingml/2006/main">
              <a:ext uri="{FF2B5EF4-FFF2-40B4-BE49-F238E27FC236}">
                <a16:creationId xmlns:a16="http://schemas.microsoft.com/office/drawing/2014/main" id="{46833BB2-E90C-4A3F-BDE1-12A9FA8C17DB}"/>
              </a:ext>
            </a:extLst>
          </p:cNvPr>
          <p:cNvSpPr>
            <a:spLocks xmlns:a="http://schemas.openxmlformats.org/drawingml/2006/main" noGrp="1"/>
          </p:cNvSpPr>
          <p:nvPr/>
        </p:nvSpPr>
        <p:spPr>
          <a:xfrm xmlns:a="http://schemas.openxmlformats.org/drawingml/2006/main">
            <a:off x="8172450" y="1752600"/>
            <a:ext cx="66675" cy="3333750"/>
          </a:xfrm>
          <a:prstGeom xmlns:a="http://schemas.openxmlformats.org/drawingml/2006/main" prst="rect">
            <a:avLst/>
          </a:prstGeom>
          <a:solidFill xmlns:a="http://schemas.openxmlformats.org/drawingml/2006/main">
            <a:srgbClr val="FFB547"/>
          </a:solidFill>
          <a:ln xmlns:a="http://schemas.openxmlformats.org/drawingml/2006/main" w="0">
            <a:solidFill>
              <a:srgbClr val="FFB547"/>
            </a:solidFill>
          </a:ln>
        </p:spPr>
      </p:sp>
      <p:sp>
        <p:nvSpPr>
          <p:cNvPr id="14" name="">
            <a:extLst xmlns:a="http://schemas.openxmlformats.org/drawingml/2006/main">
              <a:ext uri="{FF2B5EF4-FFF2-40B4-BE49-F238E27FC236}">
                <a16:creationId xmlns:a16="http://schemas.microsoft.com/office/drawing/2014/main" id="{F9B4BF19-E372-4186-824A-0AEF05159ADA}"/>
              </a:ext>
            </a:extLst>
          </p:cNvPr>
          <p:cNvSpPr>
            <a:spLocks xmlns:a="http://schemas.openxmlformats.org/drawingml/2006/main" noGrp="1"/>
          </p:cNvSpPr>
          <p:nvPr/>
        </p:nvSpPr>
        <p:spPr>
          <a:xfrm xmlns:a="http://schemas.openxmlformats.org/drawingml/2006/main">
            <a:off x="8401050" y="1943100"/>
            <a:ext cx="2876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500" b="1">
                <a:solidFill>
                  <a:srgbClr val="F7FBFD"/>
                </a:solidFill>
                <a:latin typeface="Arial"/>
                <a:ea typeface="Arial"/>
                <a:cs typeface="Arial"/>
              </a:defRPr>
            </a:pPr>
            <a:r>
              <a:rPr sz="1500" b="1">
                <a:solidFill>
                  <a:srgbClr val="F7FBFD"/>
                </a:solidFill>
                <a:latin typeface="Arial"/>
                <a:ea typeface="Arial"/>
                <a:cs typeface="Arial"/>
              </a:rPr>
              <a:t>Portfolio interpretation</a:t>
            </a:r>
          </a:p>
        </p:txBody>
      </p:sp>
      <p:sp>
        <p:nvSpPr>
          <p:cNvPr id="15" name="">
            <a:extLst xmlns:a="http://schemas.openxmlformats.org/drawingml/2006/main">
              <a:ext uri="{FF2B5EF4-FFF2-40B4-BE49-F238E27FC236}">
                <a16:creationId xmlns:a16="http://schemas.microsoft.com/office/drawing/2014/main" id="{A73DDEB7-06EA-4F1D-A533-0CE70A259273}"/>
              </a:ext>
            </a:extLst>
          </p:cNvPr>
          <p:cNvSpPr>
            <a:spLocks xmlns:a="http://schemas.openxmlformats.org/drawingml/2006/main" noGrp="1"/>
          </p:cNvSpPr>
          <p:nvPr/>
        </p:nvSpPr>
        <p:spPr>
          <a:xfrm xmlns:a="http://schemas.openxmlformats.org/drawingml/2006/main">
            <a:off x="8401050" y="2343150"/>
            <a:ext cx="2876550" cy="259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200" b="0">
                <a:solidFill>
                  <a:srgbClr val="D7E5EC"/>
                </a:solidFill>
                <a:latin typeface="Arial"/>
                <a:ea typeface="Arial"/>
                <a:cs typeface="Arial"/>
              </a:defRPr>
            </a:pPr>
            <a:r>
              <a:rPr sz="1200" b="0">
                <a:solidFill>
                  <a:srgbClr val="D7E5EC"/>
                </a:solidFill>
                <a:latin typeface="Arial"/>
                <a:ea typeface="Arial"/>
                <a:cs typeface="Arial"/>
              </a:rPr>
              <a:t>The architecture and SOC rule in this repository are design artifacts. They have not been deployed, benchmarked, or validated against a production firewall.</a:t>
            </a:r>
          </a:p>
        </p:txBody>
      </p:sp>
      <p:sp>
        <p:nvSpPr>
          <p:cNvPr id="16" name="">
            <a:extLst xmlns:a="http://schemas.openxmlformats.org/drawingml/2006/main">
              <a:ext uri="{FF2B5EF4-FFF2-40B4-BE49-F238E27FC236}">
                <a16:creationId xmlns:a16="http://schemas.microsoft.com/office/drawing/2014/main" id="{EC5020C1-A82D-407D-809D-E952FF73DE0A}"/>
              </a:ext>
            </a:extLst>
          </p:cNvPr>
          <p:cNvSpPr>
            <a:spLocks xmlns:a="http://schemas.openxmlformats.org/drawingml/2006/main" noGrp="1"/>
          </p:cNvSpPr>
          <p:nvPr/>
        </p:nvSpPr>
        <p:spPr>
          <a:xfrm xmlns:a="http://schemas.openxmlformats.org/drawingml/2006/main">
            <a:off x="1657350" y="5543550"/>
            <a:ext cx="8877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defRPr sz="1500" b="1">
                <a:solidFill>
                  <a:srgbClr val="F7FBFD"/>
                </a:solidFill>
                <a:latin typeface="Arial"/>
                <a:ea typeface="Arial"/>
                <a:cs typeface="Arial"/>
              </a:defRPr>
            </a:pPr>
            <a:r>
              <a:rPr sz="1500" b="1">
                <a:solidFill>
                  <a:srgbClr val="F7FBFD"/>
                </a:solidFill>
                <a:latin typeface="Arial"/>
                <a:ea typeface="Arial"/>
                <a:cs typeface="Arial"/>
              </a:rPr>
              <a:t>Strong evidence labels make the design useful without overstating implementation maturity.</a:t>
            </a:r>
          </a:p>
        </p:txBody>
      </p:sp>
      <p:sp>
        <p:nvSpPr>
          <p:cNvPr id="17" name="">
            <a:extLst xmlns:a="http://schemas.openxmlformats.org/drawingml/2006/main">
              <a:ext uri="{FF2B5EF4-FFF2-40B4-BE49-F238E27FC236}">
                <a16:creationId xmlns:a16="http://schemas.microsoft.com/office/drawing/2014/main" id="{D78C45DB-06E0-4C5A-9891-323A62FF7DA3}"/>
              </a:ext>
            </a:extLst>
          </p:cNvPr>
          <p:cNvSpPr>
            <a:spLocks xmlns:a="http://schemas.openxmlformats.org/drawingml/2006/main" noGrp="1"/>
          </p:cNvSpPr>
          <p:nvPr/>
        </p:nvSpPr>
        <p:spPr>
          <a:xfrm xmlns:a="http://schemas.openxmlformats.org/drawingml/2006/main">
            <a:off x="647700" y="6486525"/>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900" b="0">
                <a:solidFill>
                  <a:srgbClr val="8FA8B5"/>
                </a:solidFill>
                <a:latin typeface="Arial"/>
                <a:ea typeface="Arial"/>
                <a:cs typeface="Arial"/>
              </a:defRPr>
            </a:pPr>
            <a:r>
              <a:rPr sz="900" b="0">
                <a:solidFill>
                  <a:srgbClr val="8FA8B5"/>
                </a:solidFill>
                <a:latin typeface="Arial"/>
                <a:ea typeface="Arial"/>
                <a:cs typeface="Arial"/>
              </a:rPr>
              <a:t>Spyridon Grouztidis · Ioakeim Christaras</a:t>
            </a:r>
          </a:p>
        </p:txBody>
      </p:sp>
      <p:sp>
        <p:nvSpPr>
          <p:cNvPr id="18" name="">
            <a:extLst xmlns:a="http://schemas.openxmlformats.org/drawingml/2006/main">
              <a:ext uri="{FF2B5EF4-FFF2-40B4-BE49-F238E27FC236}">
                <a16:creationId xmlns:a16="http://schemas.microsoft.com/office/drawing/2014/main" id="{F3E4A370-8FC9-45F3-BA6F-2902DC81B651}"/>
              </a:ext>
            </a:extLst>
          </p:cNvPr>
          <p:cNvSpPr>
            <a:spLocks xmlns:a="http://schemas.openxmlformats.org/drawingml/2006/main" noGrp="1"/>
          </p:cNvSpPr>
          <p:nvPr/>
        </p:nvSpPr>
        <p:spPr>
          <a:xfrm xmlns:a="http://schemas.openxmlformats.org/drawingml/2006/main">
            <a:off x="10953750" y="6486525"/>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defRPr sz="900" b="1">
                <a:solidFill>
                  <a:srgbClr val="8FA8B5"/>
                </a:solidFill>
                <a:latin typeface="Arial"/>
                <a:ea typeface="Arial"/>
                <a:cs typeface="Arial"/>
              </a:defRPr>
            </a:pPr>
            <a:r>
              <a:rPr sz="900" b="1">
                <a:solidFill>
                  <a:srgbClr val="8FA8B5"/>
                </a:solidFill>
                <a:latin typeface="Arial"/>
                <a:ea typeface="Arial"/>
                <a:cs typeface="Arial"/>
              </a:rPr>
              <a:t>03</a:t>
            </a:r>
          </a:p>
        </p:txBody>
      </p:sp>
    </p:spTree>
    <p:extLst>
      <p:ext uri="{BB962C8B-B14F-4D97-AF65-F5344CB8AC3E}">
        <p14:creationId xmlns:p14="http://schemas.microsoft.com/office/powerpoint/2010/main" val="279625056"/>
      </p:ext>
    </p:extLst>
  </p:cSld>
</p:sld>
</file>

<file path=ppt/slides/slide4.xml><?xml version="1.0" encoding="utf-8"?>
<p:sld xmlns:p="http://schemas.openxmlformats.org/presentationml/2006/main">
  <p:cSld>
    <p:bg>
      <p:bgPr>
        <a:solidFill xmlns:a="http://schemas.openxmlformats.org/drawingml/2006/main">
          <a:srgbClr val="071724"/>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6C45342-3BA3-424E-AAAE-B4C82E102493}"/>
              </a:ext>
            </a:extLst>
          </p:cNvPr>
          <p:cNvSpPr>
            <a:spLocks xmlns:a="http://schemas.openxmlformats.org/drawingml/2006/main" noGrp="1"/>
          </p:cNvSpPr>
          <p:nvPr/>
        </p:nvSpPr>
        <p:spPr>
          <a:xfrm xmlns:a="http://schemas.openxmlformats.org/drawingml/2006/main">
            <a:off x="647700" y="3619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975" b="1">
                <a:solidFill>
                  <a:srgbClr val="24D6E5"/>
                </a:solidFill>
                <a:latin typeface="Arial"/>
                <a:ea typeface="Arial"/>
                <a:cs typeface="Arial"/>
              </a:defRPr>
            </a:pPr>
            <a:r>
              <a:rPr sz="975" b="1">
                <a:solidFill>
                  <a:srgbClr val="24D6E5"/>
                </a:solidFill>
                <a:latin typeface="Arial"/>
                <a:ea typeface="Arial"/>
                <a:cs typeface="Arial"/>
              </a:rPr>
              <a:t>ENDPOINT-AWARE NGFW</a:t>
            </a:r>
          </a:p>
        </p:txBody>
      </p:sp>
      <p:sp>
        <p:nvSpPr>
          <p:cNvPr id="2" name="">
            <a:extLst xmlns:a="http://schemas.openxmlformats.org/drawingml/2006/main">
              <a:ext uri="{FF2B5EF4-FFF2-40B4-BE49-F238E27FC236}">
                <a16:creationId xmlns:a16="http://schemas.microsoft.com/office/drawing/2014/main" id="{2750ACBF-9A92-4EE0-BA08-ABCE5B856F43}"/>
              </a:ext>
            </a:extLst>
          </p:cNvPr>
          <p:cNvSpPr>
            <a:spLocks xmlns:a="http://schemas.openxmlformats.org/drawingml/2006/main" noGrp="1"/>
          </p:cNvSpPr>
          <p:nvPr/>
        </p:nvSpPr>
        <p:spPr>
          <a:xfrm xmlns:a="http://schemas.openxmlformats.org/drawingml/2006/main">
            <a:off x="647700" y="66675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325" b="1">
                <a:solidFill>
                  <a:srgbClr val="F7FBFD"/>
                </a:solidFill>
                <a:latin typeface="Arial"/>
                <a:ea typeface="Arial"/>
                <a:cs typeface="Arial"/>
              </a:defRPr>
            </a:pPr>
            <a:r>
              <a:rPr sz="2325" b="1">
                <a:solidFill>
                  <a:srgbClr val="F7FBFD"/>
                </a:solidFill>
                <a:latin typeface="Arial"/>
                <a:ea typeface="Arial"/>
                <a:cs typeface="Arial"/>
              </a:rPr>
              <a:t>Endpoint identification taxonomy</a:t>
            </a:r>
          </a:p>
        </p:txBody>
      </p:sp>
      <p:sp>
        <p:nvSpPr>
          <p:cNvPr id="3" name="">
            <a:extLst xmlns:a="http://schemas.openxmlformats.org/drawingml/2006/main">
              <a:ext uri="{FF2B5EF4-FFF2-40B4-BE49-F238E27FC236}">
                <a16:creationId xmlns:a16="http://schemas.microsoft.com/office/drawing/2014/main" id="{C037027B-8568-4EC7-95C2-A97A1780AB11}"/>
              </a:ext>
            </a:extLst>
          </p:cNvPr>
          <p:cNvSpPr>
            <a:spLocks xmlns:a="http://schemas.openxmlformats.org/drawingml/2006/main" noGrp="1"/>
          </p:cNvSpPr>
          <p:nvPr/>
        </p:nvSpPr>
        <p:spPr>
          <a:xfrm xmlns:a="http://schemas.openxmlformats.org/drawingml/2006/main">
            <a:off x="647700" y="1504950"/>
            <a:ext cx="10896600" cy="0"/>
          </a:xfrm>
          <a:prstGeom xmlns:a="http://schemas.openxmlformats.org/drawingml/2006/main" prst="line">
            <a:avLst/>
          </a:prstGeom>
          <a:noFill xmlns:a="http://schemas.openxmlformats.org/drawingml/2006/main"/>
          <a:ln xmlns:a="http://schemas.openxmlformats.org/drawingml/2006/main" w="19050">
            <a:solidFill>
              <a:srgbClr val="17394C"/>
            </a:solidFill>
          </a:ln>
        </p:spPr>
      </p:sp>
      <p:sp>
        <p:nvSpPr>
          <p:cNvPr id="4" name="">
            <a:extLst xmlns:a="http://schemas.openxmlformats.org/drawingml/2006/main">
              <a:ext uri="{FF2B5EF4-FFF2-40B4-BE49-F238E27FC236}">
                <a16:creationId xmlns:a16="http://schemas.microsoft.com/office/drawing/2014/main" id="{542A0AAC-87FA-4F67-9F5F-41526E56C3B1}"/>
              </a:ext>
            </a:extLst>
          </p:cNvPr>
          <p:cNvSpPr>
            <a:spLocks xmlns:a="http://schemas.openxmlformats.org/drawingml/2006/main" noGrp="1"/>
          </p:cNvSpPr>
          <p:nvPr/>
        </p:nvSpPr>
        <p:spPr>
          <a:xfrm xmlns:a="http://schemas.openxmlformats.org/drawingml/2006/main">
            <a:off x="4762500" y="1638300"/>
            <a:ext cx="2667000" cy="685800"/>
          </a:xfrm>
          <a:prstGeom xmlns:a="http://schemas.openxmlformats.org/drawingml/2006/main" prst="roundRect">
            <a:avLst>
              <a:gd name="adj" fmla="val 19444"/>
            </a:avLst>
          </a:prstGeom>
          <a:solidFill xmlns:a="http://schemas.openxmlformats.org/drawingml/2006/main">
            <a:srgbClr val="0C2435"/>
          </a:solidFill>
          <a:ln xmlns:a="http://schemas.openxmlformats.org/drawingml/2006/main" w="19050">
            <a:solidFill>
              <a:srgbClr val="FFB547"/>
            </a:solidFill>
          </a:ln>
        </p:spPr>
        <p:txBody>
          <a:bodyPr xmlns:a="http://schemas.openxmlformats.org/drawingml/2006/main"/>
          <a:lstStyle xmlns:a="http://schemas.openxmlformats.org/drawingml/2006/main"/>
          <a:p xmlns:a="http://schemas.openxmlformats.org/drawingml/2006/main">
            <a:pPr algn="ctr">
              <a:defRPr sz="1275" b="1">
                <a:solidFill>
                  <a:srgbClr val="F7FBFD"/>
                </a:solidFill>
                <a:latin typeface="Arial"/>
                <a:ea typeface="Arial"/>
                <a:cs typeface="Arial"/>
              </a:defRPr>
            </a:pPr>
            <a:r>
              <a:rPr sz="1275" b="1">
                <a:solidFill>
                  <a:srgbClr val="F7FBFD"/>
                </a:solidFill>
                <a:latin typeface="Arial"/>
                <a:ea typeface="Arial"/>
                <a:cs typeface="Arial"/>
              </a:rPr>
              <a:t>Endpoint identification</a:t>
            </a:r>
          </a:p>
        </p:txBody>
      </p:sp>
      <p:sp>
        <p:nvSpPr>
          <p:cNvPr id="5" name="">
            <a:extLst xmlns:a="http://schemas.openxmlformats.org/drawingml/2006/main">
              <a:ext uri="{FF2B5EF4-FFF2-40B4-BE49-F238E27FC236}">
                <a16:creationId xmlns:a16="http://schemas.microsoft.com/office/drawing/2014/main" id="{A9DE7BA1-5188-4BEA-9337-826BA013F262}"/>
              </a:ext>
            </a:extLst>
          </p:cNvPr>
          <p:cNvSpPr>
            <a:spLocks xmlns:a="http://schemas.openxmlformats.org/drawingml/2006/main" noGrp="1"/>
          </p:cNvSpPr>
          <p:nvPr/>
        </p:nvSpPr>
        <p:spPr>
          <a:xfrm xmlns:a="http://schemas.openxmlformats.org/drawingml/2006/main">
            <a:off x="1714500" y="2876550"/>
            <a:ext cx="3048000" cy="723900"/>
          </a:xfrm>
          <a:prstGeom xmlns:a="http://schemas.openxmlformats.org/drawingml/2006/main" prst="roundRect">
            <a:avLst>
              <a:gd name="adj" fmla="val 18421"/>
            </a:avLst>
          </a:prstGeom>
          <a:solidFill xmlns:a="http://schemas.openxmlformats.org/drawingml/2006/main">
            <a:srgbClr val="0C2435"/>
          </a:solidFill>
          <a:ln xmlns:a="http://schemas.openxmlformats.org/drawingml/2006/main" w="19050">
            <a:solidFill>
              <a:srgbClr val="24D6E5"/>
            </a:solidFill>
          </a:ln>
        </p:spPr>
        <p:txBody>
          <a:bodyPr xmlns:a="http://schemas.openxmlformats.org/drawingml/2006/main"/>
          <a:lstStyle xmlns:a="http://schemas.openxmlformats.org/drawingml/2006/main"/>
          <a:p xmlns:a="http://schemas.openxmlformats.org/drawingml/2006/main">
            <a:pPr algn="ctr">
              <a:defRPr sz="1275" b="1">
                <a:solidFill>
                  <a:srgbClr val="F7FBFD"/>
                </a:solidFill>
                <a:latin typeface="Arial"/>
                <a:ea typeface="Arial"/>
                <a:cs typeface="Arial"/>
              </a:defRPr>
            </a:pPr>
            <a:r>
              <a:rPr sz="1275" b="1">
                <a:solidFill>
                  <a:srgbClr val="F7FBFD"/>
                </a:solidFill>
                <a:latin typeface="Arial"/>
                <a:ea typeface="Arial"/>
                <a:cs typeface="Arial"/>
              </a:rPr>
              <a:t>Passive observation</a:t>
            </a:r>
          </a:p>
        </p:txBody>
      </p:sp>
      <p:sp>
        <p:nvSpPr>
          <p:cNvPr id="6" name="">
            <a:extLst xmlns:a="http://schemas.openxmlformats.org/drawingml/2006/main">
              <a:ext uri="{FF2B5EF4-FFF2-40B4-BE49-F238E27FC236}">
                <a16:creationId xmlns:a16="http://schemas.microsoft.com/office/drawing/2014/main" id="{16767A7A-20DC-491A-AE9D-D98BD4E65056}"/>
              </a:ext>
            </a:extLst>
          </p:cNvPr>
          <p:cNvSpPr>
            <a:spLocks xmlns:a="http://schemas.openxmlformats.org/drawingml/2006/main" noGrp="1"/>
          </p:cNvSpPr>
          <p:nvPr/>
        </p:nvSpPr>
        <p:spPr>
          <a:xfrm xmlns:a="http://schemas.openxmlformats.org/drawingml/2006/main">
            <a:off x="7429500" y="2876550"/>
            <a:ext cx="3048000" cy="723900"/>
          </a:xfrm>
          <a:prstGeom xmlns:a="http://schemas.openxmlformats.org/drawingml/2006/main" prst="roundRect">
            <a:avLst>
              <a:gd name="adj" fmla="val 18421"/>
            </a:avLst>
          </a:prstGeom>
          <a:solidFill xmlns:a="http://schemas.openxmlformats.org/drawingml/2006/main">
            <a:srgbClr val="0C2435"/>
          </a:solidFill>
          <a:ln xmlns:a="http://schemas.openxmlformats.org/drawingml/2006/main" w="19050">
            <a:solidFill>
              <a:srgbClr val="57D6A2"/>
            </a:solidFill>
          </a:ln>
        </p:spPr>
        <p:txBody>
          <a:bodyPr xmlns:a="http://schemas.openxmlformats.org/drawingml/2006/main"/>
          <a:lstStyle xmlns:a="http://schemas.openxmlformats.org/drawingml/2006/main"/>
          <a:p xmlns:a="http://schemas.openxmlformats.org/drawingml/2006/main">
            <a:pPr algn="ctr">
              <a:defRPr sz="1275" b="1">
                <a:solidFill>
                  <a:srgbClr val="F7FBFD"/>
                </a:solidFill>
                <a:latin typeface="Arial"/>
                <a:ea typeface="Arial"/>
                <a:cs typeface="Arial"/>
              </a:defRPr>
            </a:pPr>
            <a:r>
              <a:rPr sz="1275" b="1">
                <a:solidFill>
                  <a:srgbClr val="F7FBFD"/>
                </a:solidFill>
                <a:latin typeface="Arial"/>
                <a:ea typeface="Arial"/>
                <a:cs typeface="Arial"/>
              </a:rPr>
              <a:t>Active context</a:t>
            </a:r>
          </a:p>
        </p:txBody>
      </p:sp>
      <p:cxnSp>
        <p:nvCxnSpPr>
          <p:cNvPr id="21" name=""/>
          <p:cNvCxnSpPr>
            <a:stCxn xmlns:a="http://schemas.openxmlformats.org/drawingml/2006/main" id="4" idx="2"/>
            <a:endCxn xmlns:a="http://schemas.openxmlformats.org/drawingml/2006/main" id="5" idx="0"/>
          </p:cNvCxnSpPr>
          <p:nvPr/>
        </p:nvCxnSpPr>
        <p:spPr>
          <a:xfrm xmlns:a="http://schemas.openxmlformats.org/drawingml/2006/main" flipH="1">
            <a:off x="3238500" y="2324100"/>
            <a:ext cx="2857500" cy="552450"/>
          </a:xfrm>
          <a:prstGeom xmlns:a="http://schemas.openxmlformats.org/drawingml/2006/main" prst="bentConnector4">
            <a:avLst>
              <a:gd name="adj1" fmla="val 0"/>
              <a:gd name="adj2" fmla="val 50000"/>
            </a:avLst>
          </a:prstGeom>
          <a:ln xmlns:a="http://schemas.openxmlformats.org/drawingml/2006/main" w="23813">
            <a:solidFill>
              <a:srgbClr val="24D6E5"/>
            </a:solidFill>
            <a:tailEnd type="triangle" w="sm" len="sm"/>
          </a:ln>
        </p:spPr>
      </p:cxnSp>
      <p:cxnSp>
        <p:nvCxnSpPr>
          <p:cNvPr id="22" name=""/>
          <p:cNvCxnSpPr>
            <a:stCxn xmlns:a="http://schemas.openxmlformats.org/drawingml/2006/main" id="4" idx="2"/>
            <a:endCxn xmlns:a="http://schemas.openxmlformats.org/drawingml/2006/main" id="6" idx="0"/>
          </p:cNvCxnSpPr>
          <p:nvPr/>
        </p:nvCxnSpPr>
        <p:spPr>
          <a:xfrm xmlns:a="http://schemas.openxmlformats.org/drawingml/2006/main">
            <a:off x="6096000" y="2324100"/>
            <a:ext cx="2857500" cy="552450"/>
          </a:xfrm>
          <a:prstGeom xmlns:a="http://schemas.openxmlformats.org/drawingml/2006/main" prst="bentConnector4">
            <a:avLst>
              <a:gd name="adj1" fmla="val 0"/>
              <a:gd name="adj2" fmla="val 50000"/>
            </a:avLst>
          </a:prstGeom>
          <a:ln xmlns:a="http://schemas.openxmlformats.org/drawingml/2006/main" w="23813">
            <a:solidFill>
              <a:srgbClr val="57D6A2"/>
            </a:solidFill>
            <a:tailEnd type="triangle" w="sm" len="sm"/>
          </a:ln>
        </p:spPr>
      </p:cxnSp>
      <p:sp>
        <p:nvSpPr>
          <p:cNvPr id="9" name="">
            <a:extLst xmlns:a="http://schemas.openxmlformats.org/drawingml/2006/main">
              <a:ext uri="{FF2B5EF4-FFF2-40B4-BE49-F238E27FC236}">
                <a16:creationId xmlns:a16="http://schemas.microsoft.com/office/drawing/2014/main" id="{D86AD9DC-9955-408C-833D-5D620451DCB0}"/>
              </a:ext>
            </a:extLst>
          </p:cNvPr>
          <p:cNvSpPr>
            <a:spLocks xmlns:a="http://schemas.openxmlformats.org/drawingml/2006/main" noGrp="1"/>
          </p:cNvSpPr>
          <p:nvPr/>
        </p:nvSpPr>
        <p:spPr>
          <a:xfrm xmlns:a="http://schemas.openxmlformats.org/drawingml/2006/main">
            <a:off x="1809750" y="3905250"/>
            <a:ext cx="2857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defRPr sz="1425" b="0">
                <a:solidFill>
                  <a:srgbClr val="D7E5EC"/>
                </a:solidFill>
                <a:latin typeface="Arial"/>
                <a:ea typeface="Arial"/>
                <a:cs typeface="Arial"/>
              </a:defRPr>
            </a:pPr>
            <a:r>
              <a:rPr sz="1425" b="0">
                <a:solidFill>
                  <a:srgbClr val="D7E5EC"/>
                </a:solidFill>
                <a:latin typeface="Arial"/>
                <a:ea typeface="Arial"/>
                <a:cs typeface="Arial"/>
              </a:rPr>
              <a:t>HTTP metadata</a:t>
            </a:r>
          </a:p>
          <a:p xmlns:a="http://schemas.openxmlformats.org/drawingml/2006/main">
            <a:pPr algn="ctr">
              <a:defRPr sz="1425" b="0">
                <a:solidFill>
                  <a:srgbClr val="D7E5EC"/>
                </a:solidFill>
                <a:latin typeface="Arial"/>
                <a:ea typeface="Arial"/>
                <a:cs typeface="Arial"/>
              </a:defRPr>
            </a:pPr>
            <a:r>
              <a:rPr sz="1425" b="0">
                <a:solidFill>
                  <a:srgbClr val="D7E5EC"/>
                </a:solidFill>
                <a:latin typeface="Arial"/>
                <a:ea typeface="Arial"/>
                <a:cs typeface="Arial"/>
              </a:rPr>
              <a:t>TLS / QUIC fingerprints</a:t>
            </a:r>
          </a:p>
          <a:p xmlns:a="http://schemas.openxmlformats.org/drawingml/2006/main">
            <a:pPr algn="ctr">
              <a:defRPr sz="1425" b="0">
                <a:solidFill>
                  <a:srgbClr val="D7E5EC"/>
                </a:solidFill>
                <a:latin typeface="Arial"/>
                <a:ea typeface="Arial"/>
                <a:cs typeface="Arial"/>
              </a:defRPr>
            </a:pPr>
            <a:r>
              <a:rPr sz="1425" b="0">
                <a:solidFill>
                  <a:srgbClr val="D7E5EC"/>
                </a:solidFill>
                <a:latin typeface="Arial"/>
                <a:ea typeface="Arial"/>
                <a:cs typeface="Arial"/>
              </a:rPr>
              <a:t>Flow classification</a:t>
            </a:r>
          </a:p>
        </p:txBody>
      </p:sp>
      <p:sp>
        <p:nvSpPr>
          <p:cNvPr id="10" name="">
            <a:extLst xmlns:a="http://schemas.openxmlformats.org/drawingml/2006/main">
              <a:ext uri="{FF2B5EF4-FFF2-40B4-BE49-F238E27FC236}">
                <a16:creationId xmlns:a16="http://schemas.microsoft.com/office/drawing/2014/main" id="{1053A84A-3746-4414-867F-2769A6C36948}"/>
              </a:ext>
            </a:extLst>
          </p:cNvPr>
          <p:cNvSpPr>
            <a:spLocks xmlns:a="http://schemas.openxmlformats.org/drawingml/2006/main" noGrp="1"/>
          </p:cNvSpPr>
          <p:nvPr/>
        </p:nvSpPr>
        <p:spPr>
          <a:xfrm xmlns:a="http://schemas.openxmlformats.org/drawingml/2006/main">
            <a:off x="7524750" y="3905250"/>
            <a:ext cx="2857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defRPr sz="1425" b="0">
                <a:solidFill>
                  <a:srgbClr val="D7E5EC"/>
                </a:solidFill>
                <a:latin typeface="Arial"/>
                <a:ea typeface="Arial"/>
                <a:cs typeface="Arial"/>
              </a:defRPr>
            </a:pPr>
            <a:r>
              <a:rPr sz="1425" b="0">
                <a:solidFill>
                  <a:srgbClr val="D7E5EC"/>
                </a:solidFill>
                <a:latin typeface="Arial"/>
                <a:ea typeface="Arial"/>
                <a:cs typeface="Arial"/>
              </a:rPr>
              <a:t>Active scanning</a:t>
            </a:r>
          </a:p>
          <a:p xmlns:a="http://schemas.openxmlformats.org/drawingml/2006/main">
            <a:pPr algn="ctr">
              <a:defRPr sz="1425" b="0">
                <a:solidFill>
                  <a:srgbClr val="D7E5EC"/>
                </a:solidFill>
                <a:latin typeface="Arial"/>
                <a:ea typeface="Arial"/>
                <a:cs typeface="Arial"/>
              </a:defRPr>
            </a:pPr>
            <a:r>
              <a:rPr sz="1425" b="0">
                <a:solidFill>
                  <a:srgbClr val="D7E5EC"/>
                </a:solidFill>
                <a:latin typeface="Arial"/>
                <a:ea typeface="Arial"/>
                <a:cs typeface="Arial"/>
              </a:rPr>
              <a:t>CMDB / asset inventory</a:t>
            </a:r>
          </a:p>
          <a:p xmlns:a="http://schemas.openxmlformats.org/drawingml/2006/main">
            <a:pPr algn="ctr">
              <a:defRPr sz="1425" b="0">
                <a:solidFill>
                  <a:srgbClr val="D7E5EC"/>
                </a:solidFill>
                <a:latin typeface="Arial"/>
                <a:ea typeface="Arial"/>
                <a:cs typeface="Arial"/>
              </a:defRPr>
            </a:pPr>
            <a:r>
              <a:rPr sz="1425" b="0">
                <a:solidFill>
                  <a:srgbClr val="D7E5EC"/>
                </a:solidFill>
                <a:latin typeface="Arial"/>
                <a:ea typeface="Arial"/>
                <a:cs typeface="Arial"/>
              </a:rPr>
              <a:t>Endpoint telemetry</a:t>
            </a:r>
          </a:p>
        </p:txBody>
      </p:sp>
      <p:sp>
        <p:nvSpPr>
          <p:cNvPr id="11" name="">
            <a:extLst xmlns:a="http://schemas.openxmlformats.org/drawingml/2006/main">
              <a:ext uri="{FF2B5EF4-FFF2-40B4-BE49-F238E27FC236}">
                <a16:creationId xmlns:a16="http://schemas.microsoft.com/office/drawing/2014/main" id="{9A62D12D-F5C8-4489-8D65-6932283887D5}"/>
              </a:ext>
            </a:extLst>
          </p:cNvPr>
          <p:cNvSpPr>
            <a:spLocks xmlns:a="http://schemas.openxmlformats.org/drawingml/2006/main" noGrp="1"/>
          </p:cNvSpPr>
          <p:nvPr/>
        </p:nvSpPr>
        <p:spPr>
          <a:xfrm xmlns:a="http://schemas.openxmlformats.org/drawingml/2006/main">
            <a:off x="1714500" y="533400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defRPr sz="1350" b="1">
                <a:solidFill>
                  <a:srgbClr val="A6F3F6"/>
                </a:solidFill>
                <a:latin typeface="Arial"/>
                <a:ea typeface="Arial"/>
                <a:cs typeface="Arial"/>
              </a:defRPr>
            </a:pPr>
            <a:r>
              <a:rPr sz="1350" b="1">
                <a:solidFill>
                  <a:srgbClr val="A6F3F6"/>
                </a:solidFill>
                <a:latin typeface="Arial"/>
                <a:ea typeface="Arial"/>
                <a:cs typeface="Arial"/>
              </a:rPr>
              <a:t>Broad coverage, weaker identity</a:t>
            </a:r>
          </a:p>
        </p:txBody>
      </p:sp>
      <p:sp>
        <p:nvSpPr>
          <p:cNvPr id="12" name="">
            <a:extLst xmlns:a="http://schemas.openxmlformats.org/drawingml/2006/main">
              <a:ext uri="{FF2B5EF4-FFF2-40B4-BE49-F238E27FC236}">
                <a16:creationId xmlns:a16="http://schemas.microsoft.com/office/drawing/2014/main" id="{12FC3D91-D200-41EE-AD71-E2B5BAA3DE1A}"/>
              </a:ext>
            </a:extLst>
          </p:cNvPr>
          <p:cNvSpPr>
            <a:spLocks xmlns:a="http://schemas.openxmlformats.org/drawingml/2006/main" noGrp="1"/>
          </p:cNvSpPr>
          <p:nvPr/>
        </p:nvSpPr>
        <p:spPr>
          <a:xfrm xmlns:a="http://schemas.openxmlformats.org/drawingml/2006/main">
            <a:off x="7429500" y="533400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defRPr sz="1350" b="1">
                <a:solidFill>
                  <a:srgbClr val="57D6A2"/>
                </a:solidFill>
                <a:latin typeface="Arial"/>
                <a:ea typeface="Arial"/>
                <a:cs typeface="Arial"/>
              </a:defRPr>
            </a:pPr>
            <a:r>
              <a:rPr sz="1350" b="1">
                <a:solidFill>
                  <a:srgbClr val="57D6A2"/>
                </a:solidFill>
                <a:latin typeface="Arial"/>
                <a:ea typeface="Arial"/>
                <a:cs typeface="Arial"/>
              </a:rPr>
              <a:t>Stronger context, narrower reach</a:t>
            </a:r>
          </a:p>
        </p:txBody>
      </p:sp>
      <p:sp>
        <p:nvSpPr>
          <p:cNvPr id="13" name="">
            <a:extLst xmlns:a="http://schemas.openxmlformats.org/drawingml/2006/main">
              <a:ext uri="{FF2B5EF4-FFF2-40B4-BE49-F238E27FC236}">
                <a16:creationId xmlns:a16="http://schemas.microsoft.com/office/drawing/2014/main" id="{B7957A56-B317-4263-9496-C422AB5B7A2D}"/>
              </a:ext>
            </a:extLst>
          </p:cNvPr>
          <p:cNvSpPr>
            <a:spLocks xmlns:a="http://schemas.openxmlformats.org/drawingml/2006/main" noGrp="1"/>
          </p:cNvSpPr>
          <p:nvPr/>
        </p:nvSpPr>
        <p:spPr>
          <a:xfrm xmlns:a="http://schemas.openxmlformats.org/drawingml/2006/main">
            <a:off x="647700" y="6486525"/>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900" b="0">
                <a:solidFill>
                  <a:srgbClr val="8FA8B5"/>
                </a:solidFill>
                <a:latin typeface="Arial"/>
                <a:ea typeface="Arial"/>
                <a:cs typeface="Arial"/>
              </a:defRPr>
            </a:pPr>
            <a:r>
              <a:rPr sz="900" b="0">
                <a:solidFill>
                  <a:srgbClr val="8FA8B5"/>
                </a:solidFill>
                <a:latin typeface="Arial"/>
                <a:ea typeface="Arial"/>
                <a:cs typeface="Arial"/>
              </a:rPr>
              <a:t>Spyridon Grouztidis · Ioakeim Christaras</a:t>
            </a:r>
          </a:p>
        </p:txBody>
      </p:sp>
      <p:sp>
        <p:nvSpPr>
          <p:cNvPr id="14" name="">
            <a:extLst xmlns:a="http://schemas.openxmlformats.org/drawingml/2006/main">
              <a:ext uri="{FF2B5EF4-FFF2-40B4-BE49-F238E27FC236}">
                <a16:creationId xmlns:a16="http://schemas.microsoft.com/office/drawing/2014/main" id="{3C47A049-4C04-4D7E-9F85-4333D2755DA4}"/>
              </a:ext>
            </a:extLst>
          </p:cNvPr>
          <p:cNvSpPr>
            <a:spLocks xmlns:a="http://schemas.openxmlformats.org/drawingml/2006/main" noGrp="1"/>
          </p:cNvSpPr>
          <p:nvPr/>
        </p:nvSpPr>
        <p:spPr>
          <a:xfrm xmlns:a="http://schemas.openxmlformats.org/drawingml/2006/main">
            <a:off x="10953750" y="6486525"/>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defRPr sz="900" b="1">
                <a:solidFill>
                  <a:srgbClr val="8FA8B5"/>
                </a:solidFill>
                <a:latin typeface="Arial"/>
                <a:ea typeface="Arial"/>
                <a:cs typeface="Arial"/>
              </a:defRPr>
            </a:pPr>
            <a:r>
              <a:rPr sz="900" b="1">
                <a:solidFill>
                  <a:srgbClr val="8FA8B5"/>
                </a:solidFill>
                <a:latin typeface="Arial"/>
                <a:ea typeface="Arial"/>
                <a:cs typeface="Arial"/>
              </a:rPr>
              <a:t>04</a:t>
            </a:r>
          </a:p>
        </p:txBody>
      </p:sp>
    </p:spTree>
    <p:extLst>
      <p:ext uri="{BB962C8B-B14F-4D97-AF65-F5344CB8AC3E}">
        <p14:creationId xmlns:p14="http://schemas.microsoft.com/office/powerpoint/2010/main" val="1629193032"/>
      </p:ext>
    </p:extLst>
  </p:cSld>
</p:sld>
</file>

<file path=ppt/slides/slide5.xml><?xml version="1.0" encoding="utf-8"?>
<p:sld xmlns:p="http://schemas.openxmlformats.org/presentationml/2006/main">
  <p:cSld>
    <p:bg>
      <p:bgPr>
        <a:solidFill xmlns:a="http://schemas.openxmlformats.org/drawingml/2006/main">
          <a:srgbClr val="071724"/>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7269AC2-C50C-4C8E-BB4A-6223D20FD4ED}"/>
              </a:ext>
            </a:extLst>
          </p:cNvPr>
          <p:cNvSpPr>
            <a:spLocks xmlns:a="http://schemas.openxmlformats.org/drawingml/2006/main" noGrp="1"/>
          </p:cNvSpPr>
          <p:nvPr/>
        </p:nvSpPr>
        <p:spPr>
          <a:xfrm xmlns:a="http://schemas.openxmlformats.org/drawingml/2006/main">
            <a:off x="647700" y="3619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975" b="1">
                <a:solidFill>
                  <a:srgbClr val="24D6E5"/>
                </a:solidFill>
                <a:latin typeface="Arial"/>
                <a:ea typeface="Arial"/>
                <a:cs typeface="Arial"/>
              </a:defRPr>
            </a:pPr>
            <a:r>
              <a:rPr sz="975" b="1">
                <a:solidFill>
                  <a:srgbClr val="24D6E5"/>
                </a:solidFill>
                <a:latin typeface="Arial"/>
                <a:ea typeface="Arial"/>
                <a:cs typeface="Arial"/>
              </a:rPr>
              <a:t>ENDPOINT-AWARE NGFW</a:t>
            </a:r>
          </a:p>
        </p:txBody>
      </p:sp>
      <p:sp>
        <p:nvSpPr>
          <p:cNvPr id="2" name="">
            <a:extLst xmlns:a="http://schemas.openxmlformats.org/drawingml/2006/main">
              <a:ext uri="{FF2B5EF4-FFF2-40B4-BE49-F238E27FC236}">
                <a16:creationId xmlns:a16="http://schemas.microsoft.com/office/drawing/2014/main" id="{EB0E805B-4F0C-45DE-BEF2-44862C63CCE3}"/>
              </a:ext>
            </a:extLst>
          </p:cNvPr>
          <p:cNvSpPr>
            <a:spLocks xmlns:a="http://schemas.openxmlformats.org/drawingml/2006/main" noGrp="1"/>
          </p:cNvSpPr>
          <p:nvPr/>
        </p:nvSpPr>
        <p:spPr>
          <a:xfrm xmlns:a="http://schemas.openxmlformats.org/drawingml/2006/main">
            <a:off x="647700" y="66675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325" b="1">
                <a:solidFill>
                  <a:srgbClr val="F7FBFD"/>
                </a:solidFill>
                <a:latin typeface="Arial"/>
                <a:ea typeface="Arial"/>
                <a:cs typeface="Arial"/>
              </a:defRPr>
            </a:pPr>
            <a:r>
              <a:rPr sz="2325" b="1">
                <a:solidFill>
                  <a:srgbClr val="F7FBFD"/>
                </a:solidFill>
                <a:latin typeface="Arial"/>
                <a:ea typeface="Arial"/>
                <a:cs typeface="Arial"/>
              </a:rPr>
              <a:t>Passive methods provide scale, but identity remains probabilistic</a:t>
            </a:r>
          </a:p>
        </p:txBody>
      </p:sp>
      <p:sp>
        <p:nvSpPr>
          <p:cNvPr id="3" name="">
            <a:extLst xmlns:a="http://schemas.openxmlformats.org/drawingml/2006/main">
              <a:ext uri="{FF2B5EF4-FFF2-40B4-BE49-F238E27FC236}">
                <a16:creationId xmlns:a16="http://schemas.microsoft.com/office/drawing/2014/main" id="{638DF453-4472-4344-B833-D7929AAC72FC}"/>
              </a:ext>
            </a:extLst>
          </p:cNvPr>
          <p:cNvSpPr>
            <a:spLocks xmlns:a="http://schemas.openxmlformats.org/drawingml/2006/main" noGrp="1"/>
          </p:cNvSpPr>
          <p:nvPr/>
        </p:nvSpPr>
        <p:spPr>
          <a:xfrm xmlns:a="http://schemas.openxmlformats.org/drawingml/2006/main">
            <a:off x="647700" y="1504950"/>
            <a:ext cx="10896600" cy="0"/>
          </a:xfrm>
          <a:prstGeom xmlns:a="http://schemas.openxmlformats.org/drawingml/2006/main" prst="line">
            <a:avLst/>
          </a:prstGeom>
          <a:noFill xmlns:a="http://schemas.openxmlformats.org/drawingml/2006/main"/>
          <a:ln xmlns:a="http://schemas.openxmlformats.org/drawingml/2006/main" w="19050">
            <a:solidFill>
              <a:srgbClr val="17394C"/>
            </a:solidFill>
          </a:ln>
        </p:spPr>
      </p:sp>
      <p:sp>
        <p:nvSpPr>
          <p:cNvPr id="4" name="">
            <a:extLst xmlns:a="http://schemas.openxmlformats.org/drawingml/2006/main">
              <a:ext uri="{FF2B5EF4-FFF2-40B4-BE49-F238E27FC236}">
                <a16:creationId xmlns:a16="http://schemas.microsoft.com/office/drawing/2014/main" id="{C0F28D74-2757-4AB8-BA6C-7C43BC2B2232}"/>
              </a:ext>
            </a:extLst>
          </p:cNvPr>
          <p:cNvSpPr>
            <a:spLocks xmlns:a="http://schemas.openxmlformats.org/drawingml/2006/main" noGrp="1"/>
          </p:cNvSpPr>
          <p:nvPr/>
        </p:nvSpPr>
        <p:spPr>
          <a:xfrm xmlns:a="http://schemas.openxmlformats.org/drawingml/2006/main">
            <a:off x="685800" y="1695450"/>
            <a:ext cx="3286125" cy="1485900"/>
          </a:xfrm>
          <a:prstGeom xmlns:a="http://schemas.openxmlformats.org/drawingml/2006/main" prst="roundRect">
            <a:avLst>
              <a:gd name="adj" fmla="val 11538"/>
            </a:avLst>
          </a:prstGeom>
          <a:solidFill xmlns:a="http://schemas.openxmlformats.org/drawingml/2006/main">
            <a:srgbClr val="0C2435"/>
          </a:solidFill>
          <a:ln xmlns:a="http://schemas.openxmlformats.org/drawingml/2006/main" w="14288">
            <a:solidFill>
              <a:srgbClr val="17394C"/>
            </a:solidFill>
          </a:ln>
        </p:spPr>
      </p:sp>
      <p:sp>
        <p:nvSpPr>
          <p:cNvPr id="5" name="">
            <a:extLst xmlns:a="http://schemas.openxmlformats.org/drawingml/2006/main">
              <a:ext uri="{FF2B5EF4-FFF2-40B4-BE49-F238E27FC236}">
                <a16:creationId xmlns:a16="http://schemas.microsoft.com/office/drawing/2014/main" id="{05E9DFBD-21BA-4CD6-8C2E-5D28D95618B0}"/>
              </a:ext>
            </a:extLst>
          </p:cNvPr>
          <p:cNvSpPr>
            <a:spLocks xmlns:a="http://schemas.openxmlformats.org/drawingml/2006/main" noGrp="1"/>
          </p:cNvSpPr>
          <p:nvPr/>
        </p:nvSpPr>
        <p:spPr>
          <a:xfrm xmlns:a="http://schemas.openxmlformats.org/drawingml/2006/main">
            <a:off x="685800" y="1695450"/>
            <a:ext cx="66675" cy="1485900"/>
          </a:xfrm>
          <a:prstGeom xmlns:a="http://schemas.openxmlformats.org/drawingml/2006/main" prst="rect">
            <a:avLst/>
          </a:prstGeom>
          <a:solidFill xmlns:a="http://schemas.openxmlformats.org/drawingml/2006/main">
            <a:srgbClr val="24D6E5"/>
          </a:solidFill>
          <a:ln xmlns:a="http://schemas.openxmlformats.org/drawingml/2006/main" w="0">
            <a:solidFill>
              <a:srgbClr val="24D6E5"/>
            </a:solidFill>
          </a:ln>
        </p:spPr>
      </p:sp>
      <p:sp>
        <p:nvSpPr>
          <p:cNvPr id="6" name="">
            <a:extLst xmlns:a="http://schemas.openxmlformats.org/drawingml/2006/main">
              <a:ext uri="{FF2B5EF4-FFF2-40B4-BE49-F238E27FC236}">
                <a16:creationId xmlns:a16="http://schemas.microsoft.com/office/drawing/2014/main" id="{2E11DAD9-6B27-4BF9-BC2A-4E277943307D}"/>
              </a:ext>
            </a:extLst>
          </p:cNvPr>
          <p:cNvSpPr>
            <a:spLocks xmlns:a="http://schemas.openxmlformats.org/drawingml/2006/main" noGrp="1"/>
          </p:cNvSpPr>
          <p:nvPr/>
        </p:nvSpPr>
        <p:spPr>
          <a:xfrm xmlns:a="http://schemas.openxmlformats.org/drawingml/2006/main">
            <a:off x="914400" y="1885950"/>
            <a:ext cx="2828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500" b="1">
                <a:solidFill>
                  <a:srgbClr val="F7FBFD"/>
                </a:solidFill>
                <a:latin typeface="Arial"/>
                <a:ea typeface="Arial"/>
                <a:cs typeface="Arial"/>
              </a:defRPr>
            </a:pPr>
            <a:r>
              <a:rPr sz="1500" b="1">
                <a:solidFill>
                  <a:srgbClr val="F7FBFD"/>
                </a:solidFill>
                <a:latin typeface="Arial"/>
                <a:ea typeface="Arial"/>
                <a:cs typeface="Arial"/>
              </a:rPr>
              <a:t>Protocol metadata</a:t>
            </a:r>
          </a:p>
        </p:txBody>
      </p:sp>
      <p:sp>
        <p:nvSpPr>
          <p:cNvPr id="7" name="">
            <a:extLst xmlns:a="http://schemas.openxmlformats.org/drawingml/2006/main">
              <a:ext uri="{FF2B5EF4-FFF2-40B4-BE49-F238E27FC236}">
                <a16:creationId xmlns:a16="http://schemas.microsoft.com/office/drawing/2014/main" id="{77EEAAAC-E248-4EF8-B73E-7FEC2AE3E3D2}"/>
              </a:ext>
            </a:extLst>
          </p:cNvPr>
          <p:cNvSpPr>
            <a:spLocks xmlns:a="http://schemas.openxmlformats.org/drawingml/2006/main" noGrp="1"/>
          </p:cNvSpPr>
          <p:nvPr/>
        </p:nvSpPr>
        <p:spPr>
          <a:xfrm xmlns:a="http://schemas.openxmlformats.org/drawingml/2006/main">
            <a:off x="914400" y="2286000"/>
            <a:ext cx="28289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200" b="0">
                <a:solidFill>
                  <a:srgbClr val="D7E5EC"/>
                </a:solidFill>
                <a:latin typeface="Arial"/>
                <a:ea typeface="Arial"/>
                <a:cs typeface="Arial"/>
              </a:defRPr>
            </a:pPr>
            <a:r>
              <a:rPr sz="1200" b="0">
                <a:solidFill>
                  <a:srgbClr val="D7E5EC"/>
                </a:solidFill>
                <a:latin typeface="Arial"/>
                <a:ea typeface="Arial"/>
                <a:cs typeface="Arial"/>
              </a:rPr>
              <a:t>HTTP User-Agent and visible protocol fields are inexpensive signals, but clients can spoof them and encryption reduces visibility.</a:t>
            </a:r>
          </a:p>
        </p:txBody>
      </p:sp>
      <p:sp>
        <p:nvSpPr>
          <p:cNvPr id="8" name="">
            <a:extLst xmlns:a="http://schemas.openxmlformats.org/drawingml/2006/main">
              <a:ext uri="{FF2B5EF4-FFF2-40B4-BE49-F238E27FC236}">
                <a16:creationId xmlns:a16="http://schemas.microsoft.com/office/drawing/2014/main" id="{9E8916F1-6038-4E5A-B74C-FEC1F0FD1571}"/>
              </a:ext>
            </a:extLst>
          </p:cNvPr>
          <p:cNvSpPr>
            <a:spLocks xmlns:a="http://schemas.openxmlformats.org/drawingml/2006/main" noGrp="1"/>
          </p:cNvSpPr>
          <p:nvPr/>
        </p:nvSpPr>
        <p:spPr>
          <a:xfrm xmlns:a="http://schemas.openxmlformats.org/drawingml/2006/main">
            <a:off x="4457700" y="1695450"/>
            <a:ext cx="3286125" cy="1485900"/>
          </a:xfrm>
          <a:prstGeom xmlns:a="http://schemas.openxmlformats.org/drawingml/2006/main" prst="roundRect">
            <a:avLst>
              <a:gd name="adj" fmla="val 11538"/>
            </a:avLst>
          </a:prstGeom>
          <a:solidFill xmlns:a="http://schemas.openxmlformats.org/drawingml/2006/main">
            <a:srgbClr val="0C2435"/>
          </a:solidFill>
          <a:ln xmlns:a="http://schemas.openxmlformats.org/drawingml/2006/main" w="14288">
            <a:solidFill>
              <a:srgbClr val="17394C"/>
            </a:solidFill>
          </a:ln>
        </p:spPr>
      </p:sp>
      <p:sp>
        <p:nvSpPr>
          <p:cNvPr id="9" name="">
            <a:extLst xmlns:a="http://schemas.openxmlformats.org/drawingml/2006/main">
              <a:ext uri="{FF2B5EF4-FFF2-40B4-BE49-F238E27FC236}">
                <a16:creationId xmlns:a16="http://schemas.microsoft.com/office/drawing/2014/main" id="{F2D74DAD-8235-4A04-8151-0223D4DC1E78}"/>
              </a:ext>
            </a:extLst>
          </p:cNvPr>
          <p:cNvSpPr>
            <a:spLocks xmlns:a="http://schemas.openxmlformats.org/drawingml/2006/main" noGrp="1"/>
          </p:cNvSpPr>
          <p:nvPr/>
        </p:nvSpPr>
        <p:spPr>
          <a:xfrm xmlns:a="http://schemas.openxmlformats.org/drawingml/2006/main">
            <a:off x="4457700" y="1695450"/>
            <a:ext cx="66675" cy="1485900"/>
          </a:xfrm>
          <a:prstGeom xmlns:a="http://schemas.openxmlformats.org/drawingml/2006/main" prst="rect">
            <a:avLst/>
          </a:prstGeom>
          <a:solidFill xmlns:a="http://schemas.openxmlformats.org/drawingml/2006/main">
            <a:srgbClr val="24D6E5"/>
          </a:solidFill>
          <a:ln xmlns:a="http://schemas.openxmlformats.org/drawingml/2006/main" w="0">
            <a:solidFill>
              <a:srgbClr val="24D6E5"/>
            </a:solidFill>
          </a:ln>
        </p:spPr>
      </p:sp>
      <p:sp>
        <p:nvSpPr>
          <p:cNvPr id="10" name="">
            <a:extLst xmlns:a="http://schemas.openxmlformats.org/drawingml/2006/main">
              <a:ext uri="{FF2B5EF4-FFF2-40B4-BE49-F238E27FC236}">
                <a16:creationId xmlns:a16="http://schemas.microsoft.com/office/drawing/2014/main" id="{EBA04BF0-F49E-4B87-AABA-9108C3F8D770}"/>
              </a:ext>
            </a:extLst>
          </p:cNvPr>
          <p:cNvSpPr>
            <a:spLocks xmlns:a="http://schemas.openxmlformats.org/drawingml/2006/main" noGrp="1"/>
          </p:cNvSpPr>
          <p:nvPr/>
        </p:nvSpPr>
        <p:spPr>
          <a:xfrm xmlns:a="http://schemas.openxmlformats.org/drawingml/2006/main">
            <a:off x="4686300" y="1885950"/>
            <a:ext cx="2828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500" b="1">
                <a:solidFill>
                  <a:srgbClr val="F7FBFD"/>
                </a:solidFill>
                <a:latin typeface="Arial"/>
                <a:ea typeface="Arial"/>
                <a:cs typeface="Arial"/>
              </a:defRPr>
            </a:pPr>
            <a:r>
              <a:rPr sz="1500" b="1">
                <a:solidFill>
                  <a:srgbClr val="F7FBFD"/>
                </a:solidFill>
                <a:latin typeface="Arial"/>
                <a:ea typeface="Arial"/>
                <a:cs typeface="Arial"/>
              </a:rPr>
              <a:t>TLS fingerprints</a:t>
            </a:r>
          </a:p>
        </p:txBody>
      </p:sp>
      <p:sp>
        <p:nvSpPr>
          <p:cNvPr id="11" name="">
            <a:extLst xmlns:a="http://schemas.openxmlformats.org/drawingml/2006/main">
              <a:ext uri="{FF2B5EF4-FFF2-40B4-BE49-F238E27FC236}">
                <a16:creationId xmlns:a16="http://schemas.microsoft.com/office/drawing/2014/main" id="{FCC6EB0E-4E7E-459A-A4CC-E11425A5557C}"/>
              </a:ext>
            </a:extLst>
          </p:cNvPr>
          <p:cNvSpPr>
            <a:spLocks xmlns:a="http://schemas.openxmlformats.org/drawingml/2006/main" noGrp="1"/>
          </p:cNvSpPr>
          <p:nvPr/>
        </p:nvSpPr>
        <p:spPr>
          <a:xfrm xmlns:a="http://schemas.openxmlformats.org/drawingml/2006/main">
            <a:off x="4686300" y="2286000"/>
            <a:ext cx="28289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200" b="0">
                <a:solidFill>
                  <a:srgbClr val="D7E5EC"/>
                </a:solidFill>
                <a:latin typeface="Arial"/>
                <a:ea typeface="Arial"/>
                <a:cs typeface="Arial"/>
              </a:defRPr>
            </a:pPr>
            <a:r>
              <a:rPr sz="1200" b="0">
                <a:solidFill>
                  <a:srgbClr val="D7E5EC"/>
                </a:solidFill>
                <a:latin typeface="Arial"/>
                <a:ea typeface="Arial"/>
                <a:cs typeface="Arial"/>
              </a:rPr>
              <a:t>ClientHello and ServerHello features can cluster clients or servers. Shared TLS libraries and evasion create collisions and false attribution.</a:t>
            </a:r>
          </a:p>
        </p:txBody>
      </p:sp>
      <p:sp>
        <p:nvSpPr>
          <p:cNvPr id="12" name="">
            <a:extLst xmlns:a="http://schemas.openxmlformats.org/drawingml/2006/main">
              <a:ext uri="{FF2B5EF4-FFF2-40B4-BE49-F238E27FC236}">
                <a16:creationId xmlns:a16="http://schemas.microsoft.com/office/drawing/2014/main" id="{01CC01A9-5F60-491F-B0FA-FB5D2EDA1FE5}"/>
              </a:ext>
            </a:extLst>
          </p:cNvPr>
          <p:cNvSpPr>
            <a:spLocks xmlns:a="http://schemas.openxmlformats.org/drawingml/2006/main" noGrp="1"/>
          </p:cNvSpPr>
          <p:nvPr/>
        </p:nvSpPr>
        <p:spPr>
          <a:xfrm xmlns:a="http://schemas.openxmlformats.org/drawingml/2006/main">
            <a:off x="8229600" y="1695450"/>
            <a:ext cx="3286125" cy="1485900"/>
          </a:xfrm>
          <a:prstGeom xmlns:a="http://schemas.openxmlformats.org/drawingml/2006/main" prst="roundRect">
            <a:avLst>
              <a:gd name="adj" fmla="val 11538"/>
            </a:avLst>
          </a:prstGeom>
          <a:solidFill xmlns:a="http://schemas.openxmlformats.org/drawingml/2006/main">
            <a:srgbClr val="0C2435"/>
          </a:solidFill>
          <a:ln xmlns:a="http://schemas.openxmlformats.org/drawingml/2006/main" w="14288">
            <a:solidFill>
              <a:srgbClr val="17394C"/>
            </a:solidFill>
          </a:ln>
        </p:spPr>
      </p:sp>
      <p:sp>
        <p:nvSpPr>
          <p:cNvPr id="13" name="">
            <a:extLst xmlns:a="http://schemas.openxmlformats.org/drawingml/2006/main">
              <a:ext uri="{FF2B5EF4-FFF2-40B4-BE49-F238E27FC236}">
                <a16:creationId xmlns:a16="http://schemas.microsoft.com/office/drawing/2014/main" id="{F0E7DA4B-B123-42CF-9730-899536BDC873}"/>
              </a:ext>
            </a:extLst>
          </p:cNvPr>
          <p:cNvSpPr>
            <a:spLocks xmlns:a="http://schemas.openxmlformats.org/drawingml/2006/main" noGrp="1"/>
          </p:cNvSpPr>
          <p:nvPr/>
        </p:nvSpPr>
        <p:spPr>
          <a:xfrm xmlns:a="http://schemas.openxmlformats.org/drawingml/2006/main">
            <a:off x="8229600" y="1695450"/>
            <a:ext cx="66675" cy="1485900"/>
          </a:xfrm>
          <a:prstGeom xmlns:a="http://schemas.openxmlformats.org/drawingml/2006/main" prst="rect">
            <a:avLst/>
          </a:prstGeom>
          <a:solidFill xmlns:a="http://schemas.openxmlformats.org/drawingml/2006/main">
            <a:srgbClr val="24D6E5"/>
          </a:solidFill>
          <a:ln xmlns:a="http://schemas.openxmlformats.org/drawingml/2006/main" w="0">
            <a:solidFill>
              <a:srgbClr val="24D6E5"/>
            </a:solidFill>
          </a:ln>
        </p:spPr>
      </p:sp>
      <p:sp>
        <p:nvSpPr>
          <p:cNvPr id="14" name="">
            <a:extLst xmlns:a="http://schemas.openxmlformats.org/drawingml/2006/main">
              <a:ext uri="{FF2B5EF4-FFF2-40B4-BE49-F238E27FC236}">
                <a16:creationId xmlns:a16="http://schemas.microsoft.com/office/drawing/2014/main" id="{2315A990-D650-4CF6-A7E5-081FCC59AB99}"/>
              </a:ext>
            </a:extLst>
          </p:cNvPr>
          <p:cNvSpPr>
            <a:spLocks xmlns:a="http://schemas.openxmlformats.org/drawingml/2006/main" noGrp="1"/>
          </p:cNvSpPr>
          <p:nvPr/>
        </p:nvSpPr>
        <p:spPr>
          <a:xfrm xmlns:a="http://schemas.openxmlformats.org/drawingml/2006/main">
            <a:off x="8458200" y="1885950"/>
            <a:ext cx="2828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500" b="1">
                <a:solidFill>
                  <a:srgbClr val="F7FBFD"/>
                </a:solidFill>
                <a:latin typeface="Arial"/>
                <a:ea typeface="Arial"/>
                <a:cs typeface="Arial"/>
              </a:defRPr>
            </a:pPr>
            <a:r>
              <a:rPr sz="1500" b="1">
                <a:solidFill>
                  <a:srgbClr val="F7FBFD"/>
                </a:solidFill>
                <a:latin typeface="Arial"/>
                <a:ea typeface="Arial"/>
                <a:cs typeface="Arial"/>
              </a:rPr>
              <a:t>Flow features</a:t>
            </a:r>
          </a:p>
        </p:txBody>
      </p:sp>
      <p:sp>
        <p:nvSpPr>
          <p:cNvPr id="15" name="">
            <a:extLst xmlns:a="http://schemas.openxmlformats.org/drawingml/2006/main">
              <a:ext uri="{FF2B5EF4-FFF2-40B4-BE49-F238E27FC236}">
                <a16:creationId xmlns:a16="http://schemas.microsoft.com/office/drawing/2014/main" id="{D89507B8-46A3-48B7-B10A-35697786A08C}"/>
              </a:ext>
            </a:extLst>
          </p:cNvPr>
          <p:cNvSpPr>
            <a:spLocks xmlns:a="http://schemas.openxmlformats.org/drawingml/2006/main" noGrp="1"/>
          </p:cNvSpPr>
          <p:nvPr/>
        </p:nvSpPr>
        <p:spPr>
          <a:xfrm xmlns:a="http://schemas.openxmlformats.org/drawingml/2006/main">
            <a:off x="8458200" y="2286000"/>
            <a:ext cx="28289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200" b="0">
                <a:solidFill>
                  <a:srgbClr val="D7E5EC"/>
                </a:solidFill>
                <a:latin typeface="Arial"/>
                <a:ea typeface="Arial"/>
                <a:cs typeface="Arial"/>
              </a:defRPr>
            </a:pPr>
            <a:r>
              <a:rPr sz="1200" b="0">
                <a:solidFill>
                  <a:srgbClr val="D7E5EC"/>
                </a:solidFill>
                <a:latin typeface="Arial"/>
                <a:ea typeface="Arial"/>
                <a:cs typeface="Arial"/>
              </a:rPr>
              <a:t>Packet sizes, timing, and bursts can support classification without payload inspection. Some methods require complete flows and model maintenance.</a:t>
            </a:r>
          </a:p>
        </p:txBody>
      </p:sp>
      <p:sp>
        <p:nvSpPr>
          <p:cNvPr id="16" name="">
            <a:extLst xmlns:a="http://schemas.openxmlformats.org/drawingml/2006/main">
              <a:ext uri="{FF2B5EF4-FFF2-40B4-BE49-F238E27FC236}">
                <a16:creationId xmlns:a16="http://schemas.microsoft.com/office/drawing/2014/main" id="{BF9AAA65-932C-46DA-88AB-F69A21DE56B5}"/>
              </a:ext>
            </a:extLst>
          </p:cNvPr>
          <p:cNvSpPr>
            <a:spLocks xmlns:a="http://schemas.openxmlformats.org/drawingml/2006/main" noGrp="1"/>
          </p:cNvSpPr>
          <p:nvPr/>
        </p:nvSpPr>
        <p:spPr>
          <a:xfrm xmlns:a="http://schemas.openxmlformats.org/drawingml/2006/main">
            <a:off x="1162050" y="4057650"/>
            <a:ext cx="9810750" cy="0"/>
          </a:xfrm>
          <a:prstGeom xmlns:a="http://schemas.openxmlformats.org/drawingml/2006/main" prst="line">
            <a:avLst/>
          </a:prstGeom>
          <a:noFill xmlns:a="http://schemas.openxmlformats.org/drawingml/2006/main"/>
          <a:ln xmlns:a="http://schemas.openxmlformats.org/drawingml/2006/main" w="47625">
            <a:solidFill>
              <a:srgbClr val="17394C"/>
            </a:solidFill>
          </a:ln>
        </p:spPr>
      </p:sp>
      <p:sp>
        <p:nvSpPr>
          <p:cNvPr id="17" name="">
            <a:extLst xmlns:a="http://schemas.openxmlformats.org/drawingml/2006/main">
              <a:ext uri="{FF2B5EF4-FFF2-40B4-BE49-F238E27FC236}">
                <a16:creationId xmlns:a16="http://schemas.microsoft.com/office/drawing/2014/main" id="{9926C347-7BD2-4367-8F2E-27C7F064804A}"/>
              </a:ext>
            </a:extLst>
          </p:cNvPr>
          <p:cNvSpPr>
            <a:spLocks xmlns:a="http://schemas.openxmlformats.org/drawingml/2006/main" noGrp="1"/>
          </p:cNvSpPr>
          <p:nvPr/>
        </p:nvSpPr>
        <p:spPr>
          <a:xfrm xmlns:a="http://schemas.openxmlformats.org/drawingml/2006/main">
            <a:off x="723900" y="377190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975" b="1">
                <a:solidFill>
                  <a:srgbClr val="8FA8B5"/>
                </a:solidFill>
                <a:latin typeface="Arial"/>
                <a:ea typeface="Arial"/>
                <a:cs typeface="Arial"/>
              </a:defRPr>
            </a:pPr>
            <a:r>
              <a:rPr sz="975" b="1">
                <a:solidFill>
                  <a:srgbClr val="8FA8B5"/>
                </a:solidFill>
                <a:latin typeface="Arial"/>
                <a:ea typeface="Arial"/>
                <a:cs typeface="Arial"/>
              </a:rPr>
              <a:t>OBSERVATION</a:t>
            </a:r>
          </a:p>
        </p:txBody>
      </p:sp>
      <p:sp>
        <p:nvSpPr>
          <p:cNvPr id="18" name="">
            <a:extLst xmlns:a="http://schemas.openxmlformats.org/drawingml/2006/main">
              <a:ext uri="{FF2B5EF4-FFF2-40B4-BE49-F238E27FC236}">
                <a16:creationId xmlns:a16="http://schemas.microsoft.com/office/drawing/2014/main" id="{A8AC5C9F-FD8A-46A2-9009-26513C076E9B}"/>
              </a:ext>
            </a:extLst>
          </p:cNvPr>
          <p:cNvSpPr>
            <a:spLocks xmlns:a="http://schemas.openxmlformats.org/drawingml/2006/main" noGrp="1"/>
          </p:cNvSpPr>
          <p:nvPr/>
        </p:nvSpPr>
        <p:spPr>
          <a:xfrm xmlns:a="http://schemas.openxmlformats.org/drawingml/2006/main">
            <a:off x="5067300" y="377190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defRPr sz="975" b="1">
                <a:solidFill>
                  <a:srgbClr val="8FA8B5"/>
                </a:solidFill>
                <a:latin typeface="Arial"/>
                <a:ea typeface="Arial"/>
                <a:cs typeface="Arial"/>
              </a:defRPr>
            </a:pPr>
            <a:r>
              <a:rPr sz="975" b="1">
                <a:solidFill>
                  <a:srgbClr val="8FA8B5"/>
                </a:solidFill>
                <a:latin typeface="Arial"/>
                <a:ea typeface="Arial"/>
                <a:cs typeface="Arial"/>
              </a:rPr>
              <a:t>INDICATOR</a:t>
            </a:r>
          </a:p>
        </p:txBody>
      </p:sp>
      <p:sp>
        <p:nvSpPr>
          <p:cNvPr id="19" name="">
            <a:extLst xmlns:a="http://schemas.openxmlformats.org/drawingml/2006/main">
              <a:ext uri="{FF2B5EF4-FFF2-40B4-BE49-F238E27FC236}">
                <a16:creationId xmlns:a16="http://schemas.microsoft.com/office/drawing/2014/main" id="{F4C91F29-A1EB-4E2C-AA4F-5C01610244F7}"/>
              </a:ext>
            </a:extLst>
          </p:cNvPr>
          <p:cNvSpPr>
            <a:spLocks xmlns:a="http://schemas.openxmlformats.org/drawingml/2006/main" noGrp="1"/>
          </p:cNvSpPr>
          <p:nvPr/>
        </p:nvSpPr>
        <p:spPr>
          <a:xfrm xmlns:a="http://schemas.openxmlformats.org/drawingml/2006/main">
            <a:off x="10001250" y="37719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defRPr sz="975" b="1">
                <a:solidFill>
                  <a:srgbClr val="8FA8B5"/>
                </a:solidFill>
                <a:latin typeface="Arial"/>
                <a:ea typeface="Arial"/>
                <a:cs typeface="Arial"/>
              </a:defRPr>
            </a:pPr>
            <a:r>
              <a:rPr sz="975" b="1">
                <a:solidFill>
                  <a:srgbClr val="8FA8B5"/>
                </a:solidFill>
                <a:latin typeface="Arial"/>
                <a:ea typeface="Arial"/>
                <a:cs typeface="Arial"/>
              </a:rPr>
              <a:t>IDENTITY</a:t>
            </a:r>
          </a:p>
        </p:txBody>
      </p:sp>
      <p:sp>
        <p:nvSpPr>
          <p:cNvPr id="20" name="">
            <a:extLst xmlns:a="http://schemas.openxmlformats.org/drawingml/2006/main">
              <a:ext uri="{FF2B5EF4-FFF2-40B4-BE49-F238E27FC236}">
                <a16:creationId xmlns:a16="http://schemas.microsoft.com/office/drawing/2014/main" id="{4FDF26CD-4C44-4BE2-9B5F-E37C10E38939}"/>
              </a:ext>
            </a:extLst>
          </p:cNvPr>
          <p:cNvSpPr>
            <a:spLocks xmlns:a="http://schemas.openxmlformats.org/drawingml/2006/main" noGrp="1"/>
          </p:cNvSpPr>
          <p:nvPr/>
        </p:nvSpPr>
        <p:spPr>
          <a:xfrm xmlns:a="http://schemas.openxmlformats.org/drawingml/2006/main">
            <a:off x="6191250" y="3895725"/>
            <a:ext cx="323850" cy="323850"/>
          </a:xfrm>
          <a:prstGeom xmlns:a="http://schemas.openxmlformats.org/drawingml/2006/main" prst="ellipse">
            <a:avLst/>
          </a:prstGeom>
          <a:solidFill xmlns:a="http://schemas.openxmlformats.org/drawingml/2006/main">
            <a:srgbClr val="FFB547"/>
          </a:solidFill>
          <a:ln xmlns:a="http://schemas.openxmlformats.org/drawingml/2006/main" w="0">
            <a:solidFill>
              <a:srgbClr val="FFB547"/>
            </a:solidFill>
          </a:ln>
        </p:spPr>
      </p:sp>
      <p:sp>
        <p:nvSpPr>
          <p:cNvPr id="21" name="">
            <a:extLst xmlns:a="http://schemas.openxmlformats.org/drawingml/2006/main">
              <a:ext uri="{FF2B5EF4-FFF2-40B4-BE49-F238E27FC236}">
                <a16:creationId xmlns:a16="http://schemas.microsoft.com/office/drawing/2014/main" id="{CBB2EDA9-1DCC-4FD4-A01F-A0545402D014}"/>
              </a:ext>
            </a:extLst>
          </p:cNvPr>
          <p:cNvSpPr>
            <a:spLocks xmlns:a="http://schemas.openxmlformats.org/drawingml/2006/main" noGrp="1"/>
          </p:cNvSpPr>
          <p:nvPr/>
        </p:nvSpPr>
        <p:spPr>
          <a:xfrm xmlns:a="http://schemas.openxmlformats.org/drawingml/2006/main">
            <a:off x="1714500" y="4686300"/>
            <a:ext cx="8763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defRPr sz="1725" b="1">
                <a:solidFill>
                  <a:srgbClr val="F7FBFD"/>
                </a:solidFill>
                <a:latin typeface="Arial"/>
                <a:ea typeface="Arial"/>
                <a:cs typeface="Arial"/>
              </a:defRPr>
            </a:pPr>
            <a:r>
              <a:rPr sz="1725" b="1">
                <a:solidFill>
                  <a:srgbClr val="F7FBFD"/>
                </a:solidFill>
                <a:latin typeface="Arial"/>
                <a:ea typeface="Arial"/>
                <a:cs typeface="Arial"/>
              </a:rPr>
              <a:t>A fingerprint supports an inference. It should never become the sole proof of application identity.</a:t>
            </a:r>
          </a:p>
        </p:txBody>
      </p:sp>
      <p:sp>
        <p:nvSpPr>
          <p:cNvPr id="22" name="">
            <a:extLst xmlns:a="http://schemas.openxmlformats.org/drawingml/2006/main">
              <a:ext uri="{FF2B5EF4-FFF2-40B4-BE49-F238E27FC236}">
                <a16:creationId xmlns:a16="http://schemas.microsoft.com/office/drawing/2014/main" id="{CB49ABBC-6C4D-4EFA-A65B-821FA1C217B1}"/>
              </a:ext>
            </a:extLst>
          </p:cNvPr>
          <p:cNvSpPr>
            <a:spLocks xmlns:a="http://schemas.openxmlformats.org/drawingml/2006/main" noGrp="1"/>
          </p:cNvSpPr>
          <p:nvPr/>
        </p:nvSpPr>
        <p:spPr>
          <a:xfrm xmlns:a="http://schemas.openxmlformats.org/drawingml/2006/main">
            <a:off x="2190750" y="5619750"/>
            <a:ext cx="781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defRPr sz="1350" b="0">
                <a:solidFill>
                  <a:srgbClr val="A6F3F6"/>
                </a:solidFill>
                <a:latin typeface="Arial"/>
                <a:ea typeface="Arial"/>
                <a:cs typeface="Arial"/>
              </a:defRPr>
            </a:pPr>
            <a:r>
              <a:rPr sz="1350" b="0">
                <a:solidFill>
                  <a:srgbClr val="A6F3F6"/>
                </a:solidFill>
                <a:latin typeface="Arial"/>
                <a:ea typeface="Arial"/>
                <a:cs typeface="Arial"/>
              </a:rPr>
              <a:t>Operational use: clustering, hunting, enrichment, and confidence scoring</a:t>
            </a:r>
          </a:p>
        </p:txBody>
      </p:sp>
      <p:sp>
        <p:nvSpPr>
          <p:cNvPr id="23" name="">
            <a:extLst xmlns:a="http://schemas.openxmlformats.org/drawingml/2006/main">
              <a:ext uri="{FF2B5EF4-FFF2-40B4-BE49-F238E27FC236}">
                <a16:creationId xmlns:a16="http://schemas.microsoft.com/office/drawing/2014/main" id="{801CE290-8BA9-45A2-AB2D-C0C15AAFB182}"/>
              </a:ext>
            </a:extLst>
          </p:cNvPr>
          <p:cNvSpPr>
            <a:spLocks xmlns:a="http://schemas.openxmlformats.org/drawingml/2006/main" noGrp="1"/>
          </p:cNvSpPr>
          <p:nvPr/>
        </p:nvSpPr>
        <p:spPr>
          <a:xfrm xmlns:a="http://schemas.openxmlformats.org/drawingml/2006/main">
            <a:off x="647700" y="6486525"/>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900" b="0">
                <a:solidFill>
                  <a:srgbClr val="8FA8B5"/>
                </a:solidFill>
                <a:latin typeface="Arial"/>
                <a:ea typeface="Arial"/>
                <a:cs typeface="Arial"/>
              </a:defRPr>
            </a:pPr>
            <a:r>
              <a:rPr sz="900" b="0">
                <a:solidFill>
                  <a:srgbClr val="8FA8B5"/>
                </a:solidFill>
                <a:latin typeface="Arial"/>
                <a:ea typeface="Arial"/>
                <a:cs typeface="Arial"/>
              </a:rPr>
              <a:t>Spyridon Grouztidis · Ioakeim Christaras</a:t>
            </a:r>
          </a:p>
        </p:txBody>
      </p:sp>
      <p:sp>
        <p:nvSpPr>
          <p:cNvPr id="24" name="">
            <a:extLst xmlns:a="http://schemas.openxmlformats.org/drawingml/2006/main">
              <a:ext uri="{FF2B5EF4-FFF2-40B4-BE49-F238E27FC236}">
                <a16:creationId xmlns:a16="http://schemas.microsoft.com/office/drawing/2014/main" id="{03D2B5ED-4E78-4788-9584-0E4F929455AB}"/>
              </a:ext>
            </a:extLst>
          </p:cNvPr>
          <p:cNvSpPr>
            <a:spLocks xmlns:a="http://schemas.openxmlformats.org/drawingml/2006/main" noGrp="1"/>
          </p:cNvSpPr>
          <p:nvPr/>
        </p:nvSpPr>
        <p:spPr>
          <a:xfrm xmlns:a="http://schemas.openxmlformats.org/drawingml/2006/main">
            <a:off x="10953750" y="6486525"/>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defRPr sz="900" b="1">
                <a:solidFill>
                  <a:srgbClr val="8FA8B5"/>
                </a:solidFill>
                <a:latin typeface="Arial"/>
                <a:ea typeface="Arial"/>
                <a:cs typeface="Arial"/>
              </a:defRPr>
            </a:pPr>
            <a:r>
              <a:rPr sz="900" b="1">
                <a:solidFill>
                  <a:srgbClr val="8FA8B5"/>
                </a:solidFill>
                <a:latin typeface="Arial"/>
                <a:ea typeface="Arial"/>
                <a:cs typeface="Arial"/>
              </a:rPr>
              <a:t>05</a:t>
            </a:r>
          </a:p>
        </p:txBody>
      </p:sp>
    </p:spTree>
    <p:extLst>
      <p:ext uri="{BB962C8B-B14F-4D97-AF65-F5344CB8AC3E}">
        <p14:creationId xmlns:p14="http://schemas.microsoft.com/office/powerpoint/2010/main" val="1164127081"/>
      </p:ext>
    </p:extLst>
  </p:cSld>
</p:sld>
</file>

<file path=ppt/slides/slide6.xml><?xml version="1.0" encoding="utf-8"?>
<p:sld xmlns:p="http://schemas.openxmlformats.org/presentationml/2006/main">
  <p:cSld>
    <p:bg>
      <p:bgPr>
        <a:solidFill xmlns:a="http://schemas.openxmlformats.org/drawingml/2006/main">
          <a:srgbClr val="071724"/>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23B7416-66EF-47EE-85D4-7AB876E8006F}"/>
              </a:ext>
            </a:extLst>
          </p:cNvPr>
          <p:cNvSpPr>
            <a:spLocks xmlns:a="http://schemas.openxmlformats.org/drawingml/2006/main" noGrp="1"/>
          </p:cNvSpPr>
          <p:nvPr/>
        </p:nvSpPr>
        <p:spPr>
          <a:xfrm xmlns:a="http://schemas.openxmlformats.org/drawingml/2006/main">
            <a:off x="647700" y="3619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975" b="1">
                <a:solidFill>
                  <a:srgbClr val="24D6E5"/>
                </a:solidFill>
                <a:latin typeface="Arial"/>
                <a:ea typeface="Arial"/>
                <a:cs typeface="Arial"/>
              </a:defRPr>
            </a:pPr>
            <a:r>
              <a:rPr sz="975" b="1">
                <a:solidFill>
                  <a:srgbClr val="24D6E5"/>
                </a:solidFill>
                <a:latin typeface="Arial"/>
                <a:ea typeface="Arial"/>
                <a:cs typeface="Arial"/>
              </a:rPr>
              <a:t>ENDPOINT-AWARE NGFW</a:t>
            </a:r>
          </a:p>
        </p:txBody>
      </p:sp>
      <p:sp>
        <p:nvSpPr>
          <p:cNvPr id="2" name="">
            <a:extLst xmlns:a="http://schemas.openxmlformats.org/drawingml/2006/main">
              <a:ext uri="{FF2B5EF4-FFF2-40B4-BE49-F238E27FC236}">
                <a16:creationId xmlns:a16="http://schemas.microsoft.com/office/drawing/2014/main" id="{9298584F-65BE-4642-86DF-845B02ED0362}"/>
              </a:ext>
            </a:extLst>
          </p:cNvPr>
          <p:cNvSpPr>
            <a:spLocks xmlns:a="http://schemas.openxmlformats.org/drawingml/2006/main" noGrp="1"/>
          </p:cNvSpPr>
          <p:nvPr/>
        </p:nvSpPr>
        <p:spPr>
          <a:xfrm xmlns:a="http://schemas.openxmlformats.org/drawingml/2006/main">
            <a:off x="647700" y="66675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325" b="1">
                <a:solidFill>
                  <a:srgbClr val="F7FBFD"/>
                </a:solidFill>
                <a:latin typeface="Arial"/>
                <a:ea typeface="Arial"/>
                <a:cs typeface="Arial"/>
              </a:defRPr>
            </a:pPr>
            <a:r>
              <a:rPr sz="2325" b="1">
                <a:solidFill>
                  <a:srgbClr val="F7FBFD"/>
                </a:solidFill>
                <a:latin typeface="Arial"/>
                <a:ea typeface="Arial"/>
                <a:cs typeface="Arial"/>
              </a:rPr>
              <a:t>Active methods improve context at the cost of reach and maintenance</a:t>
            </a:r>
          </a:p>
        </p:txBody>
      </p:sp>
      <p:sp>
        <p:nvSpPr>
          <p:cNvPr id="3" name="">
            <a:extLst xmlns:a="http://schemas.openxmlformats.org/drawingml/2006/main">
              <a:ext uri="{FF2B5EF4-FFF2-40B4-BE49-F238E27FC236}">
                <a16:creationId xmlns:a16="http://schemas.microsoft.com/office/drawing/2014/main" id="{738D26EB-2873-4B9A-86AF-00A97D25FF0E}"/>
              </a:ext>
            </a:extLst>
          </p:cNvPr>
          <p:cNvSpPr>
            <a:spLocks xmlns:a="http://schemas.openxmlformats.org/drawingml/2006/main" noGrp="1"/>
          </p:cNvSpPr>
          <p:nvPr/>
        </p:nvSpPr>
        <p:spPr>
          <a:xfrm xmlns:a="http://schemas.openxmlformats.org/drawingml/2006/main">
            <a:off x="647700" y="1504950"/>
            <a:ext cx="10896600" cy="0"/>
          </a:xfrm>
          <a:prstGeom xmlns:a="http://schemas.openxmlformats.org/drawingml/2006/main" prst="line">
            <a:avLst/>
          </a:prstGeom>
          <a:noFill xmlns:a="http://schemas.openxmlformats.org/drawingml/2006/main"/>
          <a:ln xmlns:a="http://schemas.openxmlformats.org/drawingml/2006/main" w="19050">
            <a:solidFill>
              <a:srgbClr val="17394C"/>
            </a:solidFill>
          </a:ln>
        </p:spPr>
      </p:sp>
      <p:sp>
        <p:nvSpPr>
          <p:cNvPr id="4" name="">
            <a:extLst xmlns:a="http://schemas.openxmlformats.org/drawingml/2006/main">
              <a:ext uri="{FF2B5EF4-FFF2-40B4-BE49-F238E27FC236}">
                <a16:creationId xmlns:a16="http://schemas.microsoft.com/office/drawing/2014/main" id="{226E0199-3DF7-4CC5-8000-3DE04B3E9B91}"/>
              </a:ext>
            </a:extLst>
          </p:cNvPr>
          <p:cNvSpPr>
            <a:spLocks xmlns:a="http://schemas.openxmlformats.org/drawingml/2006/main" noGrp="1"/>
          </p:cNvSpPr>
          <p:nvPr/>
        </p:nvSpPr>
        <p:spPr>
          <a:xfrm xmlns:a="http://schemas.openxmlformats.org/drawingml/2006/main">
            <a:off x="685800" y="1714500"/>
            <a:ext cx="3314700" cy="3429000"/>
          </a:xfrm>
          <a:prstGeom xmlns:a="http://schemas.openxmlformats.org/drawingml/2006/main" prst="roundRect">
            <a:avLst>
              <a:gd name="adj" fmla="val 5172"/>
            </a:avLst>
          </a:prstGeom>
          <a:solidFill xmlns:a="http://schemas.openxmlformats.org/drawingml/2006/main">
            <a:srgbClr val="0C2435"/>
          </a:solidFill>
          <a:ln xmlns:a="http://schemas.openxmlformats.org/drawingml/2006/main" w="14288">
            <a:solidFill>
              <a:srgbClr val="17394C"/>
            </a:solidFill>
          </a:ln>
        </p:spPr>
      </p:sp>
      <p:sp>
        <p:nvSpPr>
          <p:cNvPr id="5" name="">
            <a:extLst xmlns:a="http://schemas.openxmlformats.org/drawingml/2006/main">
              <a:ext uri="{FF2B5EF4-FFF2-40B4-BE49-F238E27FC236}">
                <a16:creationId xmlns:a16="http://schemas.microsoft.com/office/drawing/2014/main" id="{0BC8F06A-EBD4-4AC6-86B4-F6DC555D7BBF}"/>
              </a:ext>
            </a:extLst>
          </p:cNvPr>
          <p:cNvSpPr>
            <a:spLocks xmlns:a="http://schemas.openxmlformats.org/drawingml/2006/main" noGrp="1"/>
          </p:cNvSpPr>
          <p:nvPr/>
        </p:nvSpPr>
        <p:spPr>
          <a:xfrm xmlns:a="http://schemas.openxmlformats.org/drawingml/2006/main">
            <a:off x="685800" y="1714500"/>
            <a:ext cx="66675" cy="3429000"/>
          </a:xfrm>
          <a:prstGeom xmlns:a="http://schemas.openxmlformats.org/drawingml/2006/main" prst="rect">
            <a:avLst/>
          </a:prstGeom>
          <a:solidFill xmlns:a="http://schemas.openxmlformats.org/drawingml/2006/main">
            <a:srgbClr val="57D6A2"/>
          </a:solidFill>
          <a:ln xmlns:a="http://schemas.openxmlformats.org/drawingml/2006/main" w="0">
            <a:solidFill>
              <a:srgbClr val="57D6A2"/>
            </a:solidFill>
          </a:ln>
        </p:spPr>
      </p:sp>
      <p:sp>
        <p:nvSpPr>
          <p:cNvPr id="6" name="">
            <a:extLst xmlns:a="http://schemas.openxmlformats.org/drawingml/2006/main">
              <a:ext uri="{FF2B5EF4-FFF2-40B4-BE49-F238E27FC236}">
                <a16:creationId xmlns:a16="http://schemas.microsoft.com/office/drawing/2014/main" id="{F97FF2E4-F9CB-4F91-A54F-3D4867047A30}"/>
              </a:ext>
            </a:extLst>
          </p:cNvPr>
          <p:cNvSpPr>
            <a:spLocks xmlns:a="http://schemas.openxmlformats.org/drawingml/2006/main" noGrp="1"/>
          </p:cNvSpPr>
          <p:nvPr/>
        </p:nvSpPr>
        <p:spPr>
          <a:xfrm xmlns:a="http://schemas.openxmlformats.org/drawingml/2006/main">
            <a:off x="914400" y="190500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500" b="1">
                <a:solidFill>
                  <a:srgbClr val="F7FBFD"/>
                </a:solidFill>
                <a:latin typeface="Arial"/>
                <a:ea typeface="Arial"/>
                <a:cs typeface="Arial"/>
              </a:defRPr>
            </a:pPr>
            <a:r>
              <a:rPr sz="1500" b="1">
                <a:solidFill>
                  <a:srgbClr val="F7FBFD"/>
                </a:solidFill>
                <a:latin typeface="Arial"/>
                <a:ea typeface="Arial"/>
                <a:cs typeface="Arial"/>
              </a:rPr>
              <a:t>Active scanning</a:t>
            </a:r>
          </a:p>
        </p:txBody>
      </p:sp>
      <p:sp>
        <p:nvSpPr>
          <p:cNvPr id="7" name="">
            <a:extLst xmlns:a="http://schemas.openxmlformats.org/drawingml/2006/main">
              <a:ext uri="{FF2B5EF4-FFF2-40B4-BE49-F238E27FC236}">
                <a16:creationId xmlns:a16="http://schemas.microsoft.com/office/drawing/2014/main" id="{63526EDB-3F03-4144-BFC5-9347244CED80}"/>
              </a:ext>
            </a:extLst>
          </p:cNvPr>
          <p:cNvSpPr>
            <a:spLocks xmlns:a="http://schemas.openxmlformats.org/drawingml/2006/main" noGrp="1"/>
          </p:cNvSpPr>
          <p:nvPr/>
        </p:nvSpPr>
        <p:spPr>
          <a:xfrm xmlns:a="http://schemas.openxmlformats.org/drawingml/2006/main">
            <a:off x="914400" y="2305050"/>
            <a:ext cx="2857500" cy="2686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200" b="0">
                <a:solidFill>
                  <a:srgbClr val="D7E5EC"/>
                </a:solidFill>
                <a:latin typeface="Arial"/>
                <a:ea typeface="Arial"/>
                <a:cs typeface="Arial"/>
              </a:defRPr>
            </a:pPr>
            <a:r>
              <a:rPr sz="1200" b="0">
                <a:solidFill>
                  <a:srgbClr val="D7E5EC"/>
                </a:solidFill>
                <a:latin typeface="Arial"/>
                <a:ea typeface="Arial"/>
                <a:cs typeface="Arial"/>
              </a:rPr>
              <a:t>Best suited to exposed server services. Results age between scans, probing requires authorization, and comprehensive discovery consumes time and resources.</a:t>
            </a:r>
          </a:p>
          <a:p xmlns:a="http://schemas.openxmlformats.org/drawingml/2006/main">
            <a:r>
              <a:t/>
            </a:r>
          </a:p>
          <a:p xmlns:a="http://schemas.openxmlformats.org/drawingml/2006/main">
            <a:pPr algn="l">
              <a:defRPr sz="1200" b="0">
                <a:solidFill>
                  <a:srgbClr val="D7E5EC"/>
                </a:solidFill>
                <a:latin typeface="Arial"/>
                <a:ea typeface="Arial"/>
                <a:cs typeface="Arial"/>
              </a:defRPr>
            </a:pPr>
            <a:r>
              <a:rPr sz="1200" b="0">
                <a:solidFill>
                  <a:srgbClr val="D7E5EC"/>
                </a:solidFill>
                <a:latin typeface="Arial"/>
                <a:ea typeface="Arial"/>
                <a:cs typeface="Arial"/>
              </a:rPr>
              <a:t>Examples: service detection, version discovery, authorized vulnerability scanning.</a:t>
            </a:r>
          </a:p>
        </p:txBody>
      </p:sp>
      <p:sp>
        <p:nvSpPr>
          <p:cNvPr id="8" name="">
            <a:extLst xmlns:a="http://schemas.openxmlformats.org/drawingml/2006/main">
              <a:ext uri="{FF2B5EF4-FFF2-40B4-BE49-F238E27FC236}">
                <a16:creationId xmlns:a16="http://schemas.microsoft.com/office/drawing/2014/main" id="{B0B4561A-5CD1-433A-9002-2AB82E82E646}"/>
              </a:ext>
            </a:extLst>
          </p:cNvPr>
          <p:cNvSpPr>
            <a:spLocks xmlns:a="http://schemas.openxmlformats.org/drawingml/2006/main" noGrp="1"/>
          </p:cNvSpPr>
          <p:nvPr/>
        </p:nvSpPr>
        <p:spPr>
          <a:xfrm xmlns:a="http://schemas.openxmlformats.org/drawingml/2006/main">
            <a:off x="4438650" y="1714500"/>
            <a:ext cx="3314700" cy="3429000"/>
          </a:xfrm>
          <a:prstGeom xmlns:a="http://schemas.openxmlformats.org/drawingml/2006/main" prst="roundRect">
            <a:avLst>
              <a:gd name="adj" fmla="val 5172"/>
            </a:avLst>
          </a:prstGeom>
          <a:solidFill xmlns:a="http://schemas.openxmlformats.org/drawingml/2006/main">
            <a:srgbClr val="0C2435"/>
          </a:solidFill>
          <a:ln xmlns:a="http://schemas.openxmlformats.org/drawingml/2006/main" w="14288">
            <a:solidFill>
              <a:srgbClr val="17394C"/>
            </a:solidFill>
          </a:ln>
        </p:spPr>
      </p:sp>
      <p:sp>
        <p:nvSpPr>
          <p:cNvPr id="9" name="">
            <a:extLst xmlns:a="http://schemas.openxmlformats.org/drawingml/2006/main">
              <a:ext uri="{FF2B5EF4-FFF2-40B4-BE49-F238E27FC236}">
                <a16:creationId xmlns:a16="http://schemas.microsoft.com/office/drawing/2014/main" id="{220D6471-75F1-4B82-A122-09AC4524DBD6}"/>
              </a:ext>
            </a:extLst>
          </p:cNvPr>
          <p:cNvSpPr>
            <a:spLocks xmlns:a="http://schemas.openxmlformats.org/drawingml/2006/main" noGrp="1"/>
          </p:cNvSpPr>
          <p:nvPr/>
        </p:nvSpPr>
        <p:spPr>
          <a:xfrm xmlns:a="http://schemas.openxmlformats.org/drawingml/2006/main">
            <a:off x="4438650" y="1714500"/>
            <a:ext cx="66675" cy="3429000"/>
          </a:xfrm>
          <a:prstGeom xmlns:a="http://schemas.openxmlformats.org/drawingml/2006/main" prst="rect">
            <a:avLst/>
          </a:prstGeom>
          <a:solidFill xmlns:a="http://schemas.openxmlformats.org/drawingml/2006/main">
            <a:srgbClr val="57D6A2"/>
          </a:solidFill>
          <a:ln xmlns:a="http://schemas.openxmlformats.org/drawingml/2006/main" w="0">
            <a:solidFill>
              <a:srgbClr val="57D6A2"/>
            </a:solidFill>
          </a:ln>
        </p:spPr>
      </p:sp>
      <p:sp>
        <p:nvSpPr>
          <p:cNvPr id="10" name="">
            <a:extLst xmlns:a="http://schemas.openxmlformats.org/drawingml/2006/main">
              <a:ext uri="{FF2B5EF4-FFF2-40B4-BE49-F238E27FC236}">
                <a16:creationId xmlns:a16="http://schemas.microsoft.com/office/drawing/2014/main" id="{343CC702-4C6A-4049-B02F-AD300CFF978D}"/>
              </a:ext>
            </a:extLst>
          </p:cNvPr>
          <p:cNvSpPr>
            <a:spLocks xmlns:a="http://schemas.openxmlformats.org/drawingml/2006/main" noGrp="1"/>
          </p:cNvSpPr>
          <p:nvPr/>
        </p:nvSpPr>
        <p:spPr>
          <a:xfrm xmlns:a="http://schemas.openxmlformats.org/drawingml/2006/main">
            <a:off x="4667250" y="190500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500" b="1">
                <a:solidFill>
                  <a:srgbClr val="F7FBFD"/>
                </a:solidFill>
                <a:latin typeface="Arial"/>
                <a:ea typeface="Arial"/>
                <a:cs typeface="Arial"/>
              </a:defRPr>
            </a:pPr>
            <a:r>
              <a:rPr sz="1500" b="1">
                <a:solidFill>
                  <a:srgbClr val="F7FBFD"/>
                </a:solidFill>
                <a:latin typeface="Arial"/>
                <a:ea typeface="Arial"/>
                <a:cs typeface="Arial"/>
              </a:rPr>
              <a:t>CMDB and inventory</a:t>
            </a:r>
          </a:p>
        </p:txBody>
      </p:sp>
      <p:sp>
        <p:nvSpPr>
          <p:cNvPr id="11" name="">
            <a:extLst xmlns:a="http://schemas.openxmlformats.org/drawingml/2006/main">
              <a:ext uri="{FF2B5EF4-FFF2-40B4-BE49-F238E27FC236}">
                <a16:creationId xmlns:a16="http://schemas.microsoft.com/office/drawing/2014/main" id="{2787DE67-4F6A-4F51-AF12-42AABB02E697}"/>
              </a:ext>
            </a:extLst>
          </p:cNvPr>
          <p:cNvSpPr>
            <a:spLocks xmlns:a="http://schemas.openxmlformats.org/drawingml/2006/main" noGrp="1"/>
          </p:cNvSpPr>
          <p:nvPr/>
        </p:nvSpPr>
        <p:spPr>
          <a:xfrm xmlns:a="http://schemas.openxmlformats.org/drawingml/2006/main">
            <a:off x="4667250" y="2305050"/>
            <a:ext cx="2857500" cy="2686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200" b="0">
                <a:solidFill>
                  <a:srgbClr val="D7E5EC"/>
                </a:solidFill>
                <a:latin typeface="Arial"/>
                <a:ea typeface="Arial"/>
                <a:cs typeface="Arial"/>
              </a:defRPr>
            </a:pPr>
            <a:r>
              <a:rPr sz="1200" b="0">
                <a:solidFill>
                  <a:srgbClr val="D7E5EC"/>
                </a:solidFill>
                <a:latin typeface="Arial"/>
                <a:ea typeface="Arial"/>
                <a:cs typeface="Arial"/>
              </a:rPr>
              <a:t>Adds ownership, expected software, business criticality, and management state. Its value depends on coverage, synchronization, and governance.</a:t>
            </a:r>
          </a:p>
          <a:p xmlns:a="http://schemas.openxmlformats.org/drawingml/2006/main">
            <a:r>
              <a:t/>
            </a:r>
          </a:p>
          <a:p xmlns:a="http://schemas.openxmlformats.org/drawingml/2006/main">
            <a:pPr algn="l">
              <a:defRPr sz="1200" b="0">
                <a:solidFill>
                  <a:srgbClr val="D7E5EC"/>
                </a:solidFill>
                <a:latin typeface="Arial"/>
                <a:ea typeface="Arial"/>
                <a:cs typeface="Arial"/>
              </a:defRPr>
            </a:pPr>
            <a:r>
              <a:rPr sz="1200" b="0">
                <a:solidFill>
                  <a:srgbClr val="D7E5EC"/>
                </a:solidFill>
                <a:latin typeface="Arial"/>
                <a:ea typeface="Arial"/>
                <a:cs typeface="Arial"/>
              </a:rPr>
              <a:t>Main failure mode: stale or incomplete records.</a:t>
            </a:r>
          </a:p>
        </p:txBody>
      </p:sp>
      <p:sp>
        <p:nvSpPr>
          <p:cNvPr id="12" name="">
            <a:extLst xmlns:a="http://schemas.openxmlformats.org/drawingml/2006/main">
              <a:ext uri="{FF2B5EF4-FFF2-40B4-BE49-F238E27FC236}">
                <a16:creationId xmlns:a16="http://schemas.microsoft.com/office/drawing/2014/main" id="{D0DEE31B-5F38-4D35-8AE8-288CFB95F0DC}"/>
              </a:ext>
            </a:extLst>
          </p:cNvPr>
          <p:cNvSpPr>
            <a:spLocks xmlns:a="http://schemas.openxmlformats.org/drawingml/2006/main" noGrp="1"/>
          </p:cNvSpPr>
          <p:nvPr/>
        </p:nvSpPr>
        <p:spPr>
          <a:xfrm xmlns:a="http://schemas.openxmlformats.org/drawingml/2006/main">
            <a:off x="8191500" y="1714500"/>
            <a:ext cx="3314700" cy="3429000"/>
          </a:xfrm>
          <a:prstGeom xmlns:a="http://schemas.openxmlformats.org/drawingml/2006/main" prst="roundRect">
            <a:avLst>
              <a:gd name="adj" fmla="val 5172"/>
            </a:avLst>
          </a:prstGeom>
          <a:solidFill xmlns:a="http://schemas.openxmlformats.org/drawingml/2006/main">
            <a:srgbClr val="0C2435"/>
          </a:solidFill>
          <a:ln xmlns:a="http://schemas.openxmlformats.org/drawingml/2006/main" w="14288">
            <a:solidFill>
              <a:srgbClr val="17394C"/>
            </a:solidFill>
          </a:ln>
        </p:spPr>
      </p:sp>
      <p:sp>
        <p:nvSpPr>
          <p:cNvPr id="13" name="">
            <a:extLst xmlns:a="http://schemas.openxmlformats.org/drawingml/2006/main">
              <a:ext uri="{FF2B5EF4-FFF2-40B4-BE49-F238E27FC236}">
                <a16:creationId xmlns:a16="http://schemas.microsoft.com/office/drawing/2014/main" id="{34AD8765-30A2-4874-B144-C7AA1A5226B0}"/>
              </a:ext>
            </a:extLst>
          </p:cNvPr>
          <p:cNvSpPr>
            <a:spLocks xmlns:a="http://schemas.openxmlformats.org/drawingml/2006/main" noGrp="1"/>
          </p:cNvSpPr>
          <p:nvPr/>
        </p:nvSpPr>
        <p:spPr>
          <a:xfrm xmlns:a="http://schemas.openxmlformats.org/drawingml/2006/main">
            <a:off x="8191500" y="1714500"/>
            <a:ext cx="66675" cy="3429000"/>
          </a:xfrm>
          <a:prstGeom xmlns:a="http://schemas.openxmlformats.org/drawingml/2006/main" prst="rect">
            <a:avLst/>
          </a:prstGeom>
          <a:solidFill xmlns:a="http://schemas.openxmlformats.org/drawingml/2006/main">
            <a:srgbClr val="57D6A2"/>
          </a:solidFill>
          <a:ln xmlns:a="http://schemas.openxmlformats.org/drawingml/2006/main" w="0">
            <a:solidFill>
              <a:srgbClr val="57D6A2"/>
            </a:solidFill>
          </a:ln>
        </p:spPr>
      </p:sp>
      <p:sp>
        <p:nvSpPr>
          <p:cNvPr id="14" name="">
            <a:extLst xmlns:a="http://schemas.openxmlformats.org/drawingml/2006/main">
              <a:ext uri="{FF2B5EF4-FFF2-40B4-BE49-F238E27FC236}">
                <a16:creationId xmlns:a16="http://schemas.microsoft.com/office/drawing/2014/main" id="{FABE74F1-5A8E-4F76-AA99-365CBADA7E15}"/>
              </a:ext>
            </a:extLst>
          </p:cNvPr>
          <p:cNvSpPr>
            <a:spLocks xmlns:a="http://schemas.openxmlformats.org/drawingml/2006/main" noGrp="1"/>
          </p:cNvSpPr>
          <p:nvPr/>
        </p:nvSpPr>
        <p:spPr>
          <a:xfrm xmlns:a="http://schemas.openxmlformats.org/drawingml/2006/main">
            <a:off x="8420100" y="190500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500" b="1">
                <a:solidFill>
                  <a:srgbClr val="F7FBFD"/>
                </a:solidFill>
                <a:latin typeface="Arial"/>
                <a:ea typeface="Arial"/>
                <a:cs typeface="Arial"/>
              </a:defRPr>
            </a:pPr>
            <a:r>
              <a:rPr sz="1500" b="1">
                <a:solidFill>
                  <a:srgbClr val="F7FBFD"/>
                </a:solidFill>
                <a:latin typeface="Arial"/>
                <a:ea typeface="Arial"/>
                <a:cs typeface="Arial"/>
              </a:rPr>
              <a:t>Endpoint telemetry</a:t>
            </a:r>
          </a:p>
        </p:txBody>
      </p:sp>
      <p:sp>
        <p:nvSpPr>
          <p:cNvPr id="15" name="">
            <a:extLst xmlns:a="http://schemas.openxmlformats.org/drawingml/2006/main">
              <a:ext uri="{FF2B5EF4-FFF2-40B4-BE49-F238E27FC236}">
                <a16:creationId xmlns:a16="http://schemas.microsoft.com/office/drawing/2014/main" id="{B37FD57D-5758-44E2-A285-1071E0D092FB}"/>
              </a:ext>
            </a:extLst>
          </p:cNvPr>
          <p:cNvSpPr>
            <a:spLocks xmlns:a="http://schemas.openxmlformats.org/drawingml/2006/main" noGrp="1"/>
          </p:cNvSpPr>
          <p:nvPr/>
        </p:nvSpPr>
        <p:spPr>
          <a:xfrm xmlns:a="http://schemas.openxmlformats.org/drawingml/2006/main">
            <a:off x="8420100" y="2305050"/>
            <a:ext cx="2857500" cy="2686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200" b="0">
                <a:solidFill>
                  <a:srgbClr val="D7E5EC"/>
                </a:solidFill>
                <a:latin typeface="Arial"/>
                <a:ea typeface="Arial"/>
                <a:cs typeface="Arial"/>
              </a:defRPr>
            </a:pPr>
            <a:r>
              <a:rPr sz="1200" b="0">
                <a:solidFill>
                  <a:srgbClr val="D7E5EC"/>
                </a:solidFill>
                <a:latin typeface="Arial"/>
                <a:ea typeface="Arial"/>
                <a:cs typeface="Arial"/>
              </a:rPr>
              <a:t>Maps a connection to a local process and device. It offers strong attribution on managed endpoints but requires a trusted sensor, secure transport, and privacy controls.</a:t>
            </a:r>
          </a:p>
          <a:p xmlns:a="http://schemas.openxmlformats.org/drawingml/2006/main">
            <a:r>
              <a:t/>
            </a:r>
          </a:p>
          <a:p xmlns:a="http://schemas.openxmlformats.org/drawingml/2006/main">
            <a:pPr algn="l">
              <a:defRPr sz="1200" b="0">
                <a:solidFill>
                  <a:srgbClr val="D7E5EC"/>
                </a:solidFill>
                <a:latin typeface="Arial"/>
                <a:ea typeface="Arial"/>
                <a:cs typeface="Arial"/>
              </a:defRPr>
            </a:pPr>
            <a:r>
              <a:rPr sz="1200" b="0">
                <a:solidFill>
                  <a:srgbClr val="D7E5EC"/>
                </a:solidFill>
                <a:latin typeface="Arial"/>
                <a:ea typeface="Arial"/>
                <a:cs typeface="Arial"/>
              </a:rPr>
              <a:t>Main constraint: unmanaged endpoints remain outside coverage.</a:t>
            </a:r>
          </a:p>
        </p:txBody>
      </p:sp>
      <p:sp>
        <p:nvSpPr>
          <p:cNvPr id="16" name="">
            <a:extLst xmlns:a="http://schemas.openxmlformats.org/drawingml/2006/main">
              <a:ext uri="{FF2B5EF4-FFF2-40B4-BE49-F238E27FC236}">
                <a16:creationId xmlns:a16="http://schemas.microsoft.com/office/drawing/2014/main" id="{595B9B73-663B-4B98-9C3A-92E388DE6966}"/>
              </a:ext>
            </a:extLst>
          </p:cNvPr>
          <p:cNvSpPr>
            <a:spLocks xmlns:a="http://schemas.openxmlformats.org/drawingml/2006/main" noGrp="1"/>
          </p:cNvSpPr>
          <p:nvPr/>
        </p:nvSpPr>
        <p:spPr>
          <a:xfrm xmlns:a="http://schemas.openxmlformats.org/drawingml/2006/main">
            <a:off x="2095500" y="5581650"/>
            <a:ext cx="800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defRPr sz="1575" b="1">
                <a:solidFill>
                  <a:srgbClr val="F7FBFD"/>
                </a:solidFill>
                <a:latin typeface="Arial"/>
                <a:ea typeface="Arial"/>
                <a:cs typeface="Arial"/>
              </a:defRPr>
            </a:pPr>
            <a:r>
              <a:rPr sz="1575" b="1">
                <a:solidFill>
                  <a:srgbClr val="F7FBFD"/>
                </a:solidFill>
                <a:latin typeface="Arial"/>
                <a:ea typeface="Arial"/>
                <a:cs typeface="Arial"/>
              </a:rPr>
              <a:t>Freshness and provenance must travel with every context assertion.</a:t>
            </a:r>
          </a:p>
        </p:txBody>
      </p:sp>
      <p:sp>
        <p:nvSpPr>
          <p:cNvPr id="17" name="">
            <a:extLst xmlns:a="http://schemas.openxmlformats.org/drawingml/2006/main">
              <a:ext uri="{FF2B5EF4-FFF2-40B4-BE49-F238E27FC236}">
                <a16:creationId xmlns:a16="http://schemas.microsoft.com/office/drawing/2014/main" id="{DB615945-95DF-498F-A510-A0C53038AADD}"/>
              </a:ext>
            </a:extLst>
          </p:cNvPr>
          <p:cNvSpPr>
            <a:spLocks xmlns:a="http://schemas.openxmlformats.org/drawingml/2006/main" noGrp="1"/>
          </p:cNvSpPr>
          <p:nvPr/>
        </p:nvSpPr>
        <p:spPr>
          <a:xfrm xmlns:a="http://schemas.openxmlformats.org/drawingml/2006/main">
            <a:off x="647700" y="6486525"/>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900" b="0">
                <a:solidFill>
                  <a:srgbClr val="8FA8B5"/>
                </a:solidFill>
                <a:latin typeface="Arial"/>
                <a:ea typeface="Arial"/>
                <a:cs typeface="Arial"/>
              </a:defRPr>
            </a:pPr>
            <a:r>
              <a:rPr sz="900" b="0">
                <a:solidFill>
                  <a:srgbClr val="8FA8B5"/>
                </a:solidFill>
                <a:latin typeface="Arial"/>
                <a:ea typeface="Arial"/>
                <a:cs typeface="Arial"/>
              </a:rPr>
              <a:t>Spyridon Grouztidis · Ioakeim Christaras</a:t>
            </a:r>
          </a:p>
        </p:txBody>
      </p:sp>
      <p:sp>
        <p:nvSpPr>
          <p:cNvPr id="18" name="">
            <a:extLst xmlns:a="http://schemas.openxmlformats.org/drawingml/2006/main">
              <a:ext uri="{FF2B5EF4-FFF2-40B4-BE49-F238E27FC236}">
                <a16:creationId xmlns:a16="http://schemas.microsoft.com/office/drawing/2014/main" id="{96C83E6A-EE61-44D6-9716-D1FBE15272A9}"/>
              </a:ext>
            </a:extLst>
          </p:cNvPr>
          <p:cNvSpPr>
            <a:spLocks xmlns:a="http://schemas.openxmlformats.org/drawingml/2006/main" noGrp="1"/>
          </p:cNvSpPr>
          <p:nvPr/>
        </p:nvSpPr>
        <p:spPr>
          <a:xfrm xmlns:a="http://schemas.openxmlformats.org/drawingml/2006/main">
            <a:off x="10953750" y="6486525"/>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defRPr sz="900" b="1">
                <a:solidFill>
                  <a:srgbClr val="8FA8B5"/>
                </a:solidFill>
                <a:latin typeface="Arial"/>
                <a:ea typeface="Arial"/>
                <a:cs typeface="Arial"/>
              </a:defRPr>
            </a:pPr>
            <a:r>
              <a:rPr sz="900" b="1">
                <a:solidFill>
                  <a:srgbClr val="8FA8B5"/>
                </a:solidFill>
                <a:latin typeface="Arial"/>
                <a:ea typeface="Arial"/>
                <a:cs typeface="Arial"/>
              </a:rPr>
              <a:t>06</a:t>
            </a:r>
          </a:p>
        </p:txBody>
      </p:sp>
    </p:spTree>
    <p:extLst>
      <p:ext uri="{BB962C8B-B14F-4D97-AF65-F5344CB8AC3E}">
        <p14:creationId xmlns:p14="http://schemas.microsoft.com/office/powerpoint/2010/main" val="1447843811"/>
      </p:ext>
    </p:extLst>
  </p:cSld>
</p:sld>
</file>

<file path=ppt/slides/slide7.xml><?xml version="1.0" encoding="utf-8"?>
<p:sld xmlns:p="http://schemas.openxmlformats.org/presentationml/2006/main">
  <p:cSld>
    <p:bg>
      <p:bgPr>
        <a:solidFill xmlns:a="http://schemas.openxmlformats.org/drawingml/2006/main">
          <a:srgbClr val="071724"/>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B81F51E-A2A4-49E2-8116-856295B49479}"/>
              </a:ext>
            </a:extLst>
          </p:cNvPr>
          <p:cNvSpPr>
            <a:spLocks xmlns:a="http://schemas.openxmlformats.org/drawingml/2006/main" noGrp="1"/>
          </p:cNvSpPr>
          <p:nvPr/>
        </p:nvSpPr>
        <p:spPr>
          <a:xfrm xmlns:a="http://schemas.openxmlformats.org/drawingml/2006/main">
            <a:off x="647700" y="3619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975" b="1">
                <a:solidFill>
                  <a:srgbClr val="24D6E5"/>
                </a:solidFill>
                <a:latin typeface="Arial"/>
                <a:ea typeface="Arial"/>
                <a:cs typeface="Arial"/>
              </a:defRPr>
            </a:pPr>
            <a:r>
              <a:rPr sz="975" b="1">
                <a:solidFill>
                  <a:srgbClr val="24D6E5"/>
                </a:solidFill>
                <a:latin typeface="Arial"/>
                <a:ea typeface="Arial"/>
                <a:cs typeface="Arial"/>
              </a:rPr>
              <a:t>ENDPOINT-AWARE NGFW</a:t>
            </a:r>
          </a:p>
        </p:txBody>
      </p:sp>
      <p:sp>
        <p:nvSpPr>
          <p:cNvPr id="2" name="">
            <a:extLst xmlns:a="http://schemas.openxmlformats.org/drawingml/2006/main">
              <a:ext uri="{FF2B5EF4-FFF2-40B4-BE49-F238E27FC236}">
                <a16:creationId xmlns:a16="http://schemas.microsoft.com/office/drawing/2014/main" id="{BF52B54A-AE25-4F8A-B4A8-906402EFE4B6}"/>
              </a:ext>
            </a:extLst>
          </p:cNvPr>
          <p:cNvSpPr>
            <a:spLocks xmlns:a="http://schemas.openxmlformats.org/drawingml/2006/main" noGrp="1"/>
          </p:cNvSpPr>
          <p:nvPr/>
        </p:nvSpPr>
        <p:spPr>
          <a:xfrm xmlns:a="http://schemas.openxmlformats.org/drawingml/2006/main">
            <a:off x="647700" y="66675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325" b="1">
                <a:solidFill>
                  <a:srgbClr val="F7FBFD"/>
                </a:solidFill>
                <a:latin typeface="Arial"/>
                <a:ea typeface="Arial"/>
                <a:cs typeface="Arial"/>
              </a:defRPr>
            </a:pPr>
            <a:r>
              <a:rPr sz="2325" b="1">
                <a:solidFill>
                  <a:srgbClr val="F7FBFD"/>
                </a:solidFill>
                <a:latin typeface="Arial"/>
                <a:ea typeface="Arial"/>
                <a:cs typeface="Arial"/>
              </a:rPr>
              <a:t>Reference architecture: combine network evidence with endpoint context</a:t>
            </a:r>
          </a:p>
        </p:txBody>
      </p:sp>
      <p:sp>
        <p:nvSpPr>
          <p:cNvPr id="3" name="">
            <a:extLst xmlns:a="http://schemas.openxmlformats.org/drawingml/2006/main">
              <a:ext uri="{FF2B5EF4-FFF2-40B4-BE49-F238E27FC236}">
                <a16:creationId xmlns:a16="http://schemas.microsoft.com/office/drawing/2014/main" id="{DCC666B2-F737-4814-BDC0-B008C2AD3982}"/>
              </a:ext>
            </a:extLst>
          </p:cNvPr>
          <p:cNvSpPr>
            <a:spLocks xmlns:a="http://schemas.openxmlformats.org/drawingml/2006/main" noGrp="1"/>
          </p:cNvSpPr>
          <p:nvPr/>
        </p:nvSpPr>
        <p:spPr>
          <a:xfrm xmlns:a="http://schemas.openxmlformats.org/drawingml/2006/main">
            <a:off x="647700" y="1504950"/>
            <a:ext cx="10896600" cy="0"/>
          </a:xfrm>
          <a:prstGeom xmlns:a="http://schemas.openxmlformats.org/drawingml/2006/main" prst="line">
            <a:avLst/>
          </a:prstGeom>
          <a:noFill xmlns:a="http://schemas.openxmlformats.org/drawingml/2006/main"/>
          <a:ln xmlns:a="http://schemas.openxmlformats.org/drawingml/2006/main" w="19050">
            <a:solidFill>
              <a:srgbClr val="17394C"/>
            </a:solidFill>
          </a:ln>
        </p:spPr>
      </p:sp>
      <p:sp>
        <p:nvSpPr>
          <p:cNvPr id="4" name="">
            <a:extLst xmlns:a="http://schemas.openxmlformats.org/drawingml/2006/main">
              <a:ext uri="{FF2B5EF4-FFF2-40B4-BE49-F238E27FC236}">
                <a16:creationId xmlns:a16="http://schemas.microsoft.com/office/drawing/2014/main" id="{22E71F51-433F-480A-865B-DD3BBF74F0CC}"/>
              </a:ext>
            </a:extLst>
          </p:cNvPr>
          <p:cNvSpPr>
            <a:spLocks xmlns:a="http://schemas.openxmlformats.org/drawingml/2006/main" noGrp="1"/>
          </p:cNvSpPr>
          <p:nvPr/>
        </p:nvSpPr>
        <p:spPr>
          <a:xfrm xmlns:a="http://schemas.openxmlformats.org/drawingml/2006/main">
            <a:off x="666750" y="2381250"/>
            <a:ext cx="1809750" cy="857250"/>
          </a:xfrm>
          <a:prstGeom xmlns:a="http://schemas.openxmlformats.org/drawingml/2006/main" prst="roundRect">
            <a:avLst>
              <a:gd name="adj" fmla="val 15556"/>
            </a:avLst>
          </a:prstGeom>
          <a:solidFill xmlns:a="http://schemas.openxmlformats.org/drawingml/2006/main">
            <a:srgbClr val="0C2435"/>
          </a:solidFill>
          <a:ln xmlns:a="http://schemas.openxmlformats.org/drawingml/2006/main" w="19050">
            <a:solidFill>
              <a:srgbClr val="57D6A2"/>
            </a:solidFill>
          </a:ln>
        </p:spPr>
        <p:txBody>
          <a:bodyPr xmlns:a="http://schemas.openxmlformats.org/drawingml/2006/main"/>
          <a:lstStyle xmlns:a="http://schemas.openxmlformats.org/drawingml/2006/main"/>
          <a:p xmlns:a="http://schemas.openxmlformats.org/drawingml/2006/main">
            <a:pPr algn="ctr">
              <a:defRPr sz="1275" b="1">
                <a:solidFill>
                  <a:srgbClr val="F7FBFD"/>
                </a:solidFill>
                <a:latin typeface="Arial"/>
                <a:ea typeface="Arial"/>
                <a:cs typeface="Arial"/>
              </a:defRPr>
            </a:pPr>
            <a:r>
              <a:rPr sz="1275" b="1">
                <a:solidFill>
                  <a:srgbClr val="F7FBFD"/>
                </a:solidFill>
                <a:latin typeface="Arial"/>
                <a:ea typeface="Arial"/>
                <a:cs typeface="Arial"/>
              </a:rPr>
              <a:t>Managed</a:t>
            </a:r>
          </a:p>
          <a:p xmlns:a="http://schemas.openxmlformats.org/drawingml/2006/main">
            <a:pPr algn="ctr">
              <a:defRPr sz="1275" b="1">
                <a:solidFill>
                  <a:srgbClr val="F7FBFD"/>
                </a:solidFill>
                <a:latin typeface="Arial"/>
                <a:ea typeface="Arial"/>
                <a:cs typeface="Arial"/>
              </a:defRPr>
            </a:pPr>
            <a:r>
              <a:rPr sz="1275" b="1">
                <a:solidFill>
                  <a:srgbClr val="F7FBFD"/>
                </a:solidFill>
                <a:latin typeface="Arial"/>
                <a:ea typeface="Arial"/>
                <a:cs typeface="Arial"/>
              </a:rPr>
              <a:t>endpoint</a:t>
            </a:r>
          </a:p>
        </p:txBody>
      </p:sp>
      <p:sp>
        <p:nvSpPr>
          <p:cNvPr id="5" name="">
            <a:extLst xmlns:a="http://schemas.openxmlformats.org/drawingml/2006/main">
              <a:ext uri="{FF2B5EF4-FFF2-40B4-BE49-F238E27FC236}">
                <a16:creationId xmlns:a16="http://schemas.microsoft.com/office/drawing/2014/main" id="{D81006EE-E314-45BF-8B5F-631ABD825B25}"/>
              </a:ext>
            </a:extLst>
          </p:cNvPr>
          <p:cNvSpPr>
            <a:spLocks xmlns:a="http://schemas.openxmlformats.org/drawingml/2006/main" noGrp="1"/>
          </p:cNvSpPr>
          <p:nvPr/>
        </p:nvSpPr>
        <p:spPr>
          <a:xfrm xmlns:a="http://schemas.openxmlformats.org/drawingml/2006/main">
            <a:off x="666750" y="4191000"/>
            <a:ext cx="1809750" cy="857250"/>
          </a:xfrm>
          <a:prstGeom xmlns:a="http://schemas.openxmlformats.org/drawingml/2006/main" prst="roundRect">
            <a:avLst>
              <a:gd name="adj" fmla="val 15556"/>
            </a:avLst>
          </a:prstGeom>
          <a:solidFill xmlns:a="http://schemas.openxmlformats.org/drawingml/2006/main">
            <a:srgbClr val="0C2435"/>
          </a:solidFill>
          <a:ln xmlns:a="http://schemas.openxmlformats.org/drawingml/2006/main" w="19050">
            <a:solidFill>
              <a:srgbClr val="8FA8B5"/>
            </a:solidFill>
          </a:ln>
        </p:spPr>
        <p:txBody>
          <a:bodyPr xmlns:a="http://schemas.openxmlformats.org/drawingml/2006/main"/>
          <a:lstStyle xmlns:a="http://schemas.openxmlformats.org/drawingml/2006/main"/>
          <a:p xmlns:a="http://schemas.openxmlformats.org/drawingml/2006/main">
            <a:pPr algn="ctr">
              <a:defRPr sz="1275" b="1">
                <a:solidFill>
                  <a:srgbClr val="F7FBFD"/>
                </a:solidFill>
                <a:latin typeface="Arial"/>
                <a:ea typeface="Arial"/>
                <a:cs typeface="Arial"/>
              </a:defRPr>
            </a:pPr>
            <a:r>
              <a:rPr sz="1275" b="1">
                <a:solidFill>
                  <a:srgbClr val="F7FBFD"/>
                </a:solidFill>
                <a:latin typeface="Arial"/>
                <a:ea typeface="Arial"/>
                <a:cs typeface="Arial"/>
              </a:rPr>
              <a:t>Unmanaged</a:t>
            </a:r>
          </a:p>
          <a:p xmlns:a="http://schemas.openxmlformats.org/drawingml/2006/main">
            <a:pPr algn="ctr">
              <a:defRPr sz="1275" b="1">
                <a:solidFill>
                  <a:srgbClr val="F7FBFD"/>
                </a:solidFill>
                <a:latin typeface="Arial"/>
                <a:ea typeface="Arial"/>
                <a:cs typeface="Arial"/>
              </a:defRPr>
            </a:pPr>
            <a:r>
              <a:rPr sz="1275" b="1">
                <a:solidFill>
                  <a:srgbClr val="F7FBFD"/>
                </a:solidFill>
                <a:latin typeface="Arial"/>
                <a:ea typeface="Arial"/>
                <a:cs typeface="Arial"/>
              </a:rPr>
              <a:t>endpoint</a:t>
            </a:r>
          </a:p>
        </p:txBody>
      </p:sp>
      <p:sp>
        <p:nvSpPr>
          <p:cNvPr id="6" name="">
            <a:extLst xmlns:a="http://schemas.openxmlformats.org/drawingml/2006/main">
              <a:ext uri="{FF2B5EF4-FFF2-40B4-BE49-F238E27FC236}">
                <a16:creationId xmlns:a16="http://schemas.microsoft.com/office/drawing/2014/main" id="{212D13BE-4648-4D79-83DE-D680DED2C057}"/>
              </a:ext>
            </a:extLst>
          </p:cNvPr>
          <p:cNvSpPr>
            <a:spLocks xmlns:a="http://schemas.openxmlformats.org/drawingml/2006/main" noGrp="1"/>
          </p:cNvSpPr>
          <p:nvPr/>
        </p:nvSpPr>
        <p:spPr>
          <a:xfrm xmlns:a="http://schemas.openxmlformats.org/drawingml/2006/main">
            <a:off x="3333750" y="1619250"/>
            <a:ext cx="2190750" cy="952500"/>
          </a:xfrm>
          <a:prstGeom xmlns:a="http://schemas.openxmlformats.org/drawingml/2006/main" prst="roundRect">
            <a:avLst>
              <a:gd name="adj" fmla="val 14000"/>
            </a:avLst>
          </a:prstGeom>
          <a:solidFill xmlns:a="http://schemas.openxmlformats.org/drawingml/2006/main">
            <a:srgbClr val="0C2435"/>
          </a:solidFill>
          <a:ln xmlns:a="http://schemas.openxmlformats.org/drawingml/2006/main" w="19050">
            <a:solidFill>
              <a:srgbClr val="57D6A2"/>
            </a:solidFill>
          </a:ln>
        </p:spPr>
        <p:txBody>
          <a:bodyPr xmlns:a="http://schemas.openxmlformats.org/drawingml/2006/main"/>
          <a:lstStyle xmlns:a="http://schemas.openxmlformats.org/drawingml/2006/main"/>
          <a:p xmlns:a="http://schemas.openxmlformats.org/drawingml/2006/main">
            <a:pPr algn="ctr">
              <a:defRPr sz="1275" b="1">
                <a:solidFill>
                  <a:srgbClr val="F7FBFD"/>
                </a:solidFill>
                <a:latin typeface="Arial"/>
                <a:ea typeface="Arial"/>
                <a:cs typeface="Arial"/>
              </a:defRPr>
            </a:pPr>
            <a:r>
              <a:rPr sz="1275" b="1">
                <a:solidFill>
                  <a:srgbClr val="F7FBFD"/>
                </a:solidFill>
                <a:latin typeface="Arial"/>
                <a:ea typeface="Arial"/>
                <a:cs typeface="Arial"/>
              </a:rPr>
              <a:t>Context service</a:t>
            </a:r>
          </a:p>
          <a:p xmlns:a="http://schemas.openxmlformats.org/drawingml/2006/main">
            <a:pPr algn="ctr">
              <a:defRPr sz="1275" b="1">
                <a:solidFill>
                  <a:srgbClr val="F7FBFD"/>
                </a:solidFill>
                <a:latin typeface="Arial"/>
                <a:ea typeface="Arial"/>
                <a:cs typeface="Arial"/>
              </a:defRPr>
            </a:pPr>
            <a:r>
              <a:rPr sz="1275" b="1">
                <a:solidFill>
                  <a:srgbClr val="F7FBFD"/>
                </a:solidFill>
                <a:latin typeface="Arial"/>
                <a:ea typeface="Arial"/>
                <a:cs typeface="Arial"/>
              </a:rPr>
              <a:t>telemetry · CMDB</a:t>
            </a:r>
          </a:p>
        </p:txBody>
      </p:sp>
      <p:sp>
        <p:nvSpPr>
          <p:cNvPr id="7" name="">
            <a:extLst xmlns:a="http://schemas.openxmlformats.org/drawingml/2006/main">
              <a:ext uri="{FF2B5EF4-FFF2-40B4-BE49-F238E27FC236}">
                <a16:creationId xmlns:a16="http://schemas.microsoft.com/office/drawing/2014/main" id="{63EDC10B-8A52-492A-A07B-304508701C16}"/>
              </a:ext>
            </a:extLst>
          </p:cNvPr>
          <p:cNvSpPr>
            <a:spLocks xmlns:a="http://schemas.openxmlformats.org/drawingml/2006/main" noGrp="1"/>
          </p:cNvSpPr>
          <p:nvPr/>
        </p:nvSpPr>
        <p:spPr>
          <a:xfrm xmlns:a="http://schemas.openxmlformats.org/drawingml/2006/main">
            <a:off x="6191250" y="3048000"/>
            <a:ext cx="2190750" cy="1047750"/>
          </a:xfrm>
          <a:prstGeom xmlns:a="http://schemas.openxmlformats.org/drawingml/2006/main" prst="roundRect">
            <a:avLst>
              <a:gd name="adj" fmla="val 12727"/>
            </a:avLst>
          </a:prstGeom>
          <a:solidFill xmlns:a="http://schemas.openxmlformats.org/drawingml/2006/main">
            <a:srgbClr val="0C2435"/>
          </a:solidFill>
          <a:ln xmlns:a="http://schemas.openxmlformats.org/drawingml/2006/main" w="19050">
            <a:solidFill>
              <a:srgbClr val="FFB547"/>
            </a:solidFill>
          </a:ln>
        </p:spPr>
        <p:txBody>
          <a:bodyPr xmlns:a="http://schemas.openxmlformats.org/drawingml/2006/main"/>
          <a:lstStyle xmlns:a="http://schemas.openxmlformats.org/drawingml/2006/main"/>
          <a:p xmlns:a="http://schemas.openxmlformats.org/drawingml/2006/main">
            <a:pPr algn="ctr">
              <a:defRPr sz="1275" b="1">
                <a:solidFill>
                  <a:srgbClr val="F7FBFD"/>
                </a:solidFill>
                <a:latin typeface="Arial"/>
                <a:ea typeface="Arial"/>
                <a:cs typeface="Arial"/>
              </a:defRPr>
            </a:pPr>
            <a:r>
              <a:rPr sz="1275" b="1">
                <a:solidFill>
                  <a:srgbClr val="F7FBFD"/>
                </a:solidFill>
                <a:latin typeface="Arial"/>
                <a:ea typeface="Arial"/>
                <a:cs typeface="Arial"/>
              </a:rPr>
              <a:t>NGFW / PEP</a:t>
            </a:r>
          </a:p>
          <a:p xmlns:a="http://schemas.openxmlformats.org/drawingml/2006/main">
            <a:pPr algn="ctr">
              <a:defRPr sz="1275" b="1">
                <a:solidFill>
                  <a:srgbClr val="F7FBFD"/>
                </a:solidFill>
                <a:latin typeface="Arial"/>
                <a:ea typeface="Arial"/>
                <a:cs typeface="Arial"/>
              </a:defRPr>
            </a:pPr>
            <a:r>
              <a:rPr sz="1275" b="1">
                <a:solidFill>
                  <a:srgbClr val="F7FBFD"/>
                </a:solidFill>
                <a:latin typeface="Arial"/>
                <a:ea typeface="Arial"/>
                <a:cs typeface="Arial"/>
              </a:rPr>
              <a:t>inspect · decide · log</a:t>
            </a:r>
          </a:p>
        </p:txBody>
      </p:sp>
      <p:sp>
        <p:nvSpPr>
          <p:cNvPr id="8" name="">
            <a:extLst xmlns:a="http://schemas.openxmlformats.org/drawingml/2006/main">
              <a:ext uri="{FF2B5EF4-FFF2-40B4-BE49-F238E27FC236}">
                <a16:creationId xmlns:a16="http://schemas.microsoft.com/office/drawing/2014/main" id="{0A4CEEF6-9359-40CD-90C3-D4DE34A811D0}"/>
              </a:ext>
            </a:extLst>
          </p:cNvPr>
          <p:cNvSpPr>
            <a:spLocks xmlns:a="http://schemas.openxmlformats.org/drawingml/2006/main" noGrp="1"/>
          </p:cNvSpPr>
          <p:nvPr/>
        </p:nvSpPr>
        <p:spPr>
          <a:xfrm xmlns:a="http://schemas.openxmlformats.org/drawingml/2006/main">
            <a:off x="9334500" y="2190750"/>
            <a:ext cx="2095500" cy="952500"/>
          </a:xfrm>
          <a:prstGeom xmlns:a="http://schemas.openxmlformats.org/drawingml/2006/main" prst="roundRect">
            <a:avLst>
              <a:gd name="adj" fmla="val 14000"/>
            </a:avLst>
          </a:prstGeom>
          <a:solidFill xmlns:a="http://schemas.openxmlformats.org/drawingml/2006/main">
            <a:srgbClr val="0C2435"/>
          </a:solidFill>
          <a:ln xmlns:a="http://schemas.openxmlformats.org/drawingml/2006/main" w="19050">
            <a:solidFill>
              <a:srgbClr val="24D6E5"/>
            </a:solidFill>
          </a:ln>
        </p:spPr>
        <p:txBody>
          <a:bodyPr xmlns:a="http://schemas.openxmlformats.org/drawingml/2006/main"/>
          <a:lstStyle xmlns:a="http://schemas.openxmlformats.org/drawingml/2006/main"/>
          <a:p xmlns:a="http://schemas.openxmlformats.org/drawingml/2006/main">
            <a:pPr algn="ctr">
              <a:defRPr sz="1275" b="1">
                <a:solidFill>
                  <a:srgbClr val="F7FBFD"/>
                </a:solidFill>
                <a:latin typeface="Arial"/>
                <a:ea typeface="Arial"/>
                <a:cs typeface="Arial"/>
              </a:defRPr>
            </a:pPr>
            <a:r>
              <a:rPr sz="1275" b="1">
                <a:solidFill>
                  <a:srgbClr val="F7FBFD"/>
                </a:solidFill>
                <a:latin typeface="Arial"/>
                <a:ea typeface="Arial"/>
                <a:cs typeface="Arial"/>
              </a:rPr>
              <a:t>SIEM / XDR</a:t>
            </a:r>
          </a:p>
          <a:p xmlns:a="http://schemas.openxmlformats.org/drawingml/2006/main">
            <a:pPr algn="ctr">
              <a:defRPr sz="1275" b="1">
                <a:solidFill>
                  <a:srgbClr val="F7FBFD"/>
                </a:solidFill>
                <a:latin typeface="Arial"/>
                <a:ea typeface="Arial"/>
                <a:cs typeface="Arial"/>
              </a:defRPr>
            </a:pPr>
            <a:r>
              <a:rPr sz="1275" b="1">
                <a:solidFill>
                  <a:srgbClr val="F7FBFD"/>
                </a:solidFill>
                <a:latin typeface="Arial"/>
                <a:ea typeface="Arial"/>
                <a:cs typeface="Arial"/>
              </a:rPr>
              <a:t>correlate</a:t>
            </a:r>
          </a:p>
        </p:txBody>
      </p:sp>
      <p:sp>
        <p:nvSpPr>
          <p:cNvPr id="9" name="">
            <a:extLst xmlns:a="http://schemas.openxmlformats.org/drawingml/2006/main">
              <a:ext uri="{FF2B5EF4-FFF2-40B4-BE49-F238E27FC236}">
                <a16:creationId xmlns:a16="http://schemas.microsoft.com/office/drawing/2014/main" id="{22A2987D-FF4F-4E63-A807-D1A2A15D9291}"/>
              </a:ext>
            </a:extLst>
          </p:cNvPr>
          <p:cNvSpPr>
            <a:spLocks xmlns:a="http://schemas.openxmlformats.org/drawingml/2006/main" noGrp="1"/>
          </p:cNvSpPr>
          <p:nvPr/>
        </p:nvSpPr>
        <p:spPr>
          <a:xfrm xmlns:a="http://schemas.openxmlformats.org/drawingml/2006/main">
            <a:off x="9334500" y="4333875"/>
            <a:ext cx="2095500" cy="838200"/>
          </a:xfrm>
          <a:prstGeom xmlns:a="http://schemas.openxmlformats.org/drawingml/2006/main" prst="roundRect">
            <a:avLst>
              <a:gd name="adj" fmla="val 15909"/>
            </a:avLst>
          </a:prstGeom>
          <a:solidFill xmlns:a="http://schemas.openxmlformats.org/drawingml/2006/main">
            <a:srgbClr val="0C2435"/>
          </a:solidFill>
          <a:ln xmlns:a="http://schemas.openxmlformats.org/drawingml/2006/main" w="19050">
            <a:solidFill>
              <a:srgbClr val="24D6E5"/>
            </a:solidFill>
          </a:ln>
        </p:spPr>
        <p:txBody>
          <a:bodyPr xmlns:a="http://schemas.openxmlformats.org/drawingml/2006/main"/>
          <a:lstStyle xmlns:a="http://schemas.openxmlformats.org/drawingml/2006/main"/>
          <a:p xmlns:a="http://schemas.openxmlformats.org/drawingml/2006/main">
            <a:pPr algn="ctr">
              <a:defRPr sz="1275" b="1">
                <a:solidFill>
                  <a:srgbClr val="F7FBFD"/>
                </a:solidFill>
                <a:latin typeface="Arial"/>
                <a:ea typeface="Arial"/>
                <a:cs typeface="Arial"/>
              </a:defRPr>
            </a:pPr>
            <a:r>
              <a:rPr sz="1275" b="1">
                <a:solidFill>
                  <a:srgbClr val="F7FBFD"/>
                </a:solidFill>
                <a:latin typeface="Arial"/>
                <a:ea typeface="Arial"/>
                <a:cs typeface="Arial"/>
              </a:rPr>
              <a:t>SOC analyst</a:t>
            </a:r>
          </a:p>
          <a:p xmlns:a="http://schemas.openxmlformats.org/drawingml/2006/main">
            <a:pPr algn="ctr">
              <a:defRPr sz="1275" b="1">
                <a:solidFill>
                  <a:srgbClr val="F7FBFD"/>
                </a:solidFill>
                <a:latin typeface="Arial"/>
                <a:ea typeface="Arial"/>
                <a:cs typeface="Arial"/>
              </a:defRPr>
            </a:pPr>
            <a:r>
              <a:rPr sz="1275" b="1">
                <a:solidFill>
                  <a:srgbClr val="F7FBFD"/>
                </a:solidFill>
                <a:latin typeface="Arial"/>
                <a:ea typeface="Arial"/>
                <a:cs typeface="Arial"/>
              </a:rPr>
              <a:t>investigate</a:t>
            </a:r>
          </a:p>
        </p:txBody>
      </p:sp>
      <p:cxnSp>
        <p:nvCxnSpPr>
          <p:cNvPr id="31" name=""/>
          <p:cNvCxnSpPr>
            <a:stCxn xmlns:a="http://schemas.openxmlformats.org/drawingml/2006/main" id="4" idx="3"/>
            <a:endCxn xmlns:a="http://schemas.openxmlformats.org/drawingml/2006/main" id="6" idx="1"/>
          </p:cNvCxnSpPr>
          <p:nvPr/>
        </p:nvCxnSpPr>
        <p:spPr>
          <a:xfrm xmlns:a="http://schemas.openxmlformats.org/drawingml/2006/main" flipV="1">
            <a:off x="2476500" y="2095500"/>
            <a:ext cx="857250" cy="714375"/>
          </a:xfrm>
          <a:prstGeom xmlns:a="http://schemas.openxmlformats.org/drawingml/2006/main" prst="bentConnector3">
            <a:avLst>
              <a:gd name="adj1" fmla="val 50000"/>
            </a:avLst>
          </a:prstGeom>
          <a:ln xmlns:a="http://schemas.openxmlformats.org/drawingml/2006/main" w="23813">
            <a:solidFill>
              <a:srgbClr val="57D6A2"/>
            </a:solidFill>
            <a:tailEnd type="triangle" w="sm" len="sm"/>
          </a:ln>
        </p:spPr>
      </p:cxnSp>
      <p:cxnSp>
        <p:nvCxnSpPr>
          <p:cNvPr id="32" name=""/>
          <p:cNvCxnSpPr>
            <a:stCxn xmlns:a="http://schemas.openxmlformats.org/drawingml/2006/main" id="4" idx="3"/>
            <a:endCxn xmlns:a="http://schemas.openxmlformats.org/drawingml/2006/main" id="7" idx="1"/>
          </p:cNvCxnSpPr>
          <p:nvPr/>
        </p:nvCxnSpPr>
        <p:spPr>
          <a:xfrm xmlns:a="http://schemas.openxmlformats.org/drawingml/2006/main">
            <a:off x="2476500" y="2809875"/>
            <a:ext cx="3714750" cy="762000"/>
          </a:xfrm>
          <a:prstGeom xmlns:a="http://schemas.openxmlformats.org/drawingml/2006/main" prst="bentConnector3">
            <a:avLst>
              <a:gd name="adj1" fmla="val 50000"/>
            </a:avLst>
          </a:prstGeom>
          <a:ln xmlns:a="http://schemas.openxmlformats.org/drawingml/2006/main" w="23813">
            <a:solidFill>
              <a:srgbClr val="24D6E5"/>
            </a:solidFill>
            <a:tailEnd type="triangle" w="sm" len="sm"/>
          </a:ln>
        </p:spPr>
      </p:cxnSp>
      <p:cxnSp>
        <p:nvCxnSpPr>
          <p:cNvPr id="33" name=""/>
          <p:cNvCxnSpPr>
            <a:stCxn xmlns:a="http://schemas.openxmlformats.org/drawingml/2006/main" id="5" idx="3"/>
            <a:endCxn xmlns:a="http://schemas.openxmlformats.org/drawingml/2006/main" id="7" idx="1"/>
          </p:cNvCxnSpPr>
          <p:nvPr/>
        </p:nvCxnSpPr>
        <p:spPr>
          <a:xfrm xmlns:a="http://schemas.openxmlformats.org/drawingml/2006/main" flipV="1">
            <a:off x="2476500" y="3571875"/>
            <a:ext cx="3714750" cy="1047750"/>
          </a:xfrm>
          <a:prstGeom xmlns:a="http://schemas.openxmlformats.org/drawingml/2006/main" prst="bentConnector3">
            <a:avLst>
              <a:gd name="adj1" fmla="val 93846"/>
            </a:avLst>
          </a:prstGeom>
          <a:ln xmlns:a="http://schemas.openxmlformats.org/drawingml/2006/main" w="23813">
            <a:solidFill>
              <a:srgbClr val="8FA8B5"/>
            </a:solidFill>
            <a:tailEnd type="triangle" w="sm" len="sm"/>
          </a:ln>
        </p:spPr>
      </p:cxnSp>
      <p:cxnSp>
        <p:nvCxnSpPr>
          <p:cNvPr id="34" name=""/>
          <p:cNvCxnSpPr>
            <a:stCxn xmlns:a="http://schemas.openxmlformats.org/drawingml/2006/main" id="6" idx="2"/>
            <a:endCxn xmlns:a="http://schemas.openxmlformats.org/drawingml/2006/main" id="7" idx="0"/>
          </p:cNvCxnSpPr>
          <p:nvPr/>
        </p:nvCxnSpPr>
        <p:spPr>
          <a:xfrm xmlns:a="http://schemas.openxmlformats.org/drawingml/2006/main">
            <a:off x="4429125" y="2571750"/>
            <a:ext cx="2857500" cy="476250"/>
          </a:xfrm>
          <a:prstGeom xmlns:a="http://schemas.openxmlformats.org/drawingml/2006/main" prst="bentConnector4">
            <a:avLst>
              <a:gd name="adj1" fmla="val 0"/>
              <a:gd name="adj2" fmla="val 50000"/>
            </a:avLst>
          </a:prstGeom>
          <a:ln xmlns:a="http://schemas.openxmlformats.org/drawingml/2006/main" w="23813">
            <a:solidFill>
              <a:srgbClr val="57D6A2"/>
            </a:solidFill>
            <a:tailEnd type="triangle" w="sm" len="sm"/>
          </a:ln>
        </p:spPr>
      </p:cxnSp>
      <p:cxnSp>
        <p:nvCxnSpPr>
          <p:cNvPr id="35" name=""/>
          <p:cNvCxnSpPr>
            <a:stCxn xmlns:a="http://schemas.openxmlformats.org/drawingml/2006/main" id="7" idx="3"/>
            <a:endCxn xmlns:a="http://schemas.openxmlformats.org/drawingml/2006/main" id="8" idx="1"/>
          </p:cNvCxnSpPr>
          <p:nvPr/>
        </p:nvCxnSpPr>
        <p:spPr>
          <a:xfrm xmlns:a="http://schemas.openxmlformats.org/drawingml/2006/main" flipV="1">
            <a:off x="8382000" y="2667000"/>
            <a:ext cx="952500" cy="904875"/>
          </a:xfrm>
          <a:prstGeom xmlns:a="http://schemas.openxmlformats.org/drawingml/2006/main" prst="bentConnector3">
            <a:avLst>
              <a:gd name="adj1" fmla="val 50000"/>
            </a:avLst>
          </a:prstGeom>
          <a:ln xmlns:a="http://schemas.openxmlformats.org/drawingml/2006/main" w="23813">
            <a:solidFill>
              <a:srgbClr val="24D6E5"/>
            </a:solidFill>
            <a:tailEnd type="triangle" w="sm" len="sm"/>
          </a:ln>
        </p:spPr>
      </p:cxnSp>
      <p:cxnSp>
        <p:nvCxnSpPr>
          <p:cNvPr id="36" name=""/>
          <p:cNvCxnSpPr>
            <a:stCxn xmlns:a="http://schemas.openxmlformats.org/drawingml/2006/main" id="6" idx="3"/>
            <a:endCxn xmlns:a="http://schemas.openxmlformats.org/drawingml/2006/main" id="8" idx="1"/>
          </p:cNvCxnSpPr>
          <p:nvPr/>
        </p:nvCxnSpPr>
        <p:spPr>
          <a:xfrm xmlns:a="http://schemas.openxmlformats.org/drawingml/2006/main">
            <a:off x="5524500" y="2095500"/>
            <a:ext cx="3810000" cy="571500"/>
          </a:xfrm>
          <a:prstGeom xmlns:a="http://schemas.openxmlformats.org/drawingml/2006/main" prst="bentConnector3">
            <a:avLst>
              <a:gd name="adj1" fmla="val 50000"/>
            </a:avLst>
          </a:prstGeom>
          <a:ln xmlns:a="http://schemas.openxmlformats.org/drawingml/2006/main" w="19050">
            <a:solidFill>
              <a:srgbClr val="57D6A2"/>
            </a:solidFill>
            <a:tailEnd type="triangle" w="sm" len="sm"/>
          </a:ln>
        </p:spPr>
      </p:cxnSp>
      <p:cxnSp>
        <p:nvCxnSpPr>
          <p:cNvPr id="37" name=""/>
          <p:cNvCxnSpPr>
            <a:stCxn xmlns:a="http://schemas.openxmlformats.org/drawingml/2006/main" id="8" idx="2"/>
            <a:endCxn xmlns:a="http://schemas.openxmlformats.org/drawingml/2006/main" id="9" idx="0"/>
          </p:cNvCxnSpPr>
          <p:nvPr/>
        </p:nvCxnSpPr>
        <p:spPr>
          <a:xfrm xmlns:a="http://schemas.openxmlformats.org/drawingml/2006/main">
            <a:off x="10382250" y="3143250"/>
            <a:ext cx="0" cy="1190625"/>
          </a:xfrm>
          <a:prstGeom xmlns:a="http://schemas.openxmlformats.org/drawingml/2006/main" prst="straightConnector1">
            <a:avLst/>
          </a:prstGeom>
          <a:ln xmlns:a="http://schemas.openxmlformats.org/drawingml/2006/main" w="23813">
            <a:solidFill>
              <a:srgbClr val="24D6E5"/>
            </a:solidFill>
            <a:tailEnd type="triangle" w="sm" len="sm"/>
          </a:ln>
        </p:spPr>
      </p:cxnSp>
      <p:sp>
        <p:nvSpPr>
          <p:cNvPr id="17" name="">
            <a:extLst xmlns:a="http://schemas.openxmlformats.org/drawingml/2006/main">
              <a:ext uri="{FF2B5EF4-FFF2-40B4-BE49-F238E27FC236}">
                <a16:creationId xmlns:a16="http://schemas.microsoft.com/office/drawing/2014/main" id="{67CBC9B0-40DF-4CE4-A64A-5B4E0EDD013A}"/>
              </a:ext>
            </a:extLst>
          </p:cNvPr>
          <p:cNvSpPr>
            <a:spLocks xmlns:a="http://schemas.openxmlformats.org/drawingml/2006/main" noGrp="1"/>
          </p:cNvSpPr>
          <p:nvPr/>
        </p:nvSpPr>
        <p:spPr>
          <a:xfrm xmlns:a="http://schemas.openxmlformats.org/drawingml/2006/main">
            <a:off x="2686050" y="1857375"/>
            <a:ext cx="1238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900" b="1">
                <a:solidFill>
                  <a:srgbClr val="57D6A2"/>
                </a:solidFill>
                <a:latin typeface="Arial"/>
                <a:ea typeface="Arial"/>
                <a:cs typeface="Arial"/>
              </a:defRPr>
            </a:pPr>
            <a:r>
              <a:rPr sz="900" b="1">
                <a:solidFill>
                  <a:srgbClr val="57D6A2"/>
                </a:solidFill>
                <a:latin typeface="Arial"/>
                <a:ea typeface="Arial"/>
                <a:cs typeface="Arial"/>
              </a:rPr>
              <a:t>direct evidence</a:t>
            </a:r>
          </a:p>
        </p:txBody>
      </p:sp>
      <p:sp>
        <p:nvSpPr>
          <p:cNvPr id="18" name="">
            <a:extLst xmlns:a="http://schemas.openxmlformats.org/drawingml/2006/main">
              <a:ext uri="{FF2B5EF4-FFF2-40B4-BE49-F238E27FC236}">
                <a16:creationId xmlns:a16="http://schemas.microsoft.com/office/drawing/2014/main" id="{B9D20D5D-BADD-42C1-AA5B-742BDFEEA44A}"/>
              </a:ext>
            </a:extLst>
          </p:cNvPr>
          <p:cNvSpPr>
            <a:spLocks xmlns:a="http://schemas.openxmlformats.org/drawingml/2006/main" noGrp="1"/>
          </p:cNvSpPr>
          <p:nvPr/>
        </p:nvSpPr>
        <p:spPr>
          <a:xfrm xmlns:a="http://schemas.openxmlformats.org/drawingml/2006/main">
            <a:off x="4048125" y="3952875"/>
            <a:ext cx="95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900" b="1">
                <a:solidFill>
                  <a:srgbClr val="24D6E5"/>
                </a:solidFill>
                <a:latin typeface="Arial"/>
                <a:ea typeface="Arial"/>
                <a:cs typeface="Arial"/>
              </a:defRPr>
            </a:pPr>
            <a:r>
              <a:rPr sz="900" b="1">
                <a:solidFill>
                  <a:srgbClr val="24D6E5"/>
                </a:solidFill>
                <a:latin typeface="Arial"/>
                <a:ea typeface="Arial"/>
                <a:cs typeface="Arial"/>
              </a:rPr>
              <a:t>traffic</a:t>
            </a:r>
          </a:p>
        </p:txBody>
      </p:sp>
      <p:sp>
        <p:nvSpPr>
          <p:cNvPr id="19" name="">
            <a:extLst xmlns:a="http://schemas.openxmlformats.org/drawingml/2006/main">
              <a:ext uri="{FF2B5EF4-FFF2-40B4-BE49-F238E27FC236}">
                <a16:creationId xmlns:a16="http://schemas.microsoft.com/office/drawing/2014/main" id="{DEDDEE34-6605-4840-AC6F-1F5FEF44B3ED}"/>
              </a:ext>
            </a:extLst>
          </p:cNvPr>
          <p:cNvSpPr>
            <a:spLocks xmlns:a="http://schemas.openxmlformats.org/drawingml/2006/main" noGrp="1"/>
          </p:cNvSpPr>
          <p:nvPr/>
        </p:nvSpPr>
        <p:spPr>
          <a:xfrm xmlns:a="http://schemas.openxmlformats.org/drawingml/2006/main">
            <a:off x="8048625" y="3476625"/>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defRPr sz="900" b="1">
                <a:solidFill>
                  <a:srgbClr val="A6F3F6"/>
                </a:solidFill>
                <a:latin typeface="Arial"/>
                <a:ea typeface="Arial"/>
                <a:cs typeface="Arial"/>
              </a:defRPr>
            </a:pPr>
            <a:r>
              <a:rPr sz="900" b="1">
                <a:solidFill>
                  <a:srgbClr val="A6F3F6"/>
                </a:solidFill>
                <a:latin typeface="Arial"/>
                <a:ea typeface="Arial"/>
                <a:cs typeface="Arial"/>
              </a:rPr>
              <a:t>policy action + evidence</a:t>
            </a:r>
          </a:p>
        </p:txBody>
      </p:sp>
      <p:sp>
        <p:nvSpPr>
          <p:cNvPr id="20" name="">
            <a:extLst xmlns:a="http://schemas.openxmlformats.org/drawingml/2006/main">
              <a:ext uri="{FF2B5EF4-FFF2-40B4-BE49-F238E27FC236}">
                <a16:creationId xmlns:a16="http://schemas.microsoft.com/office/drawing/2014/main" id="{64550F2F-1C6D-4573-B0DE-D671EEBA5746}"/>
              </a:ext>
            </a:extLst>
          </p:cNvPr>
          <p:cNvSpPr>
            <a:spLocks xmlns:a="http://schemas.openxmlformats.org/drawingml/2006/main" noGrp="1"/>
          </p:cNvSpPr>
          <p:nvPr/>
        </p:nvSpPr>
        <p:spPr>
          <a:xfrm xmlns:a="http://schemas.openxmlformats.org/drawingml/2006/main">
            <a:off x="647700" y="6486525"/>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900" b="0">
                <a:solidFill>
                  <a:srgbClr val="8FA8B5"/>
                </a:solidFill>
                <a:latin typeface="Arial"/>
                <a:ea typeface="Arial"/>
                <a:cs typeface="Arial"/>
              </a:defRPr>
            </a:pPr>
            <a:r>
              <a:rPr sz="900" b="0">
                <a:solidFill>
                  <a:srgbClr val="8FA8B5"/>
                </a:solidFill>
                <a:latin typeface="Arial"/>
                <a:ea typeface="Arial"/>
                <a:cs typeface="Arial"/>
              </a:rPr>
              <a:t>Spyridon Grouztidis · Ioakeim Christaras</a:t>
            </a:r>
          </a:p>
        </p:txBody>
      </p:sp>
      <p:sp>
        <p:nvSpPr>
          <p:cNvPr id="21" name="">
            <a:extLst xmlns:a="http://schemas.openxmlformats.org/drawingml/2006/main">
              <a:ext uri="{FF2B5EF4-FFF2-40B4-BE49-F238E27FC236}">
                <a16:creationId xmlns:a16="http://schemas.microsoft.com/office/drawing/2014/main" id="{F66977BA-BA92-43F2-93FF-8B231A5A58E3}"/>
              </a:ext>
            </a:extLst>
          </p:cNvPr>
          <p:cNvSpPr>
            <a:spLocks xmlns:a="http://schemas.openxmlformats.org/drawingml/2006/main" noGrp="1"/>
          </p:cNvSpPr>
          <p:nvPr/>
        </p:nvSpPr>
        <p:spPr>
          <a:xfrm xmlns:a="http://schemas.openxmlformats.org/drawingml/2006/main">
            <a:off x="10953750" y="6486525"/>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defRPr sz="900" b="1">
                <a:solidFill>
                  <a:srgbClr val="8FA8B5"/>
                </a:solidFill>
                <a:latin typeface="Arial"/>
                <a:ea typeface="Arial"/>
                <a:cs typeface="Arial"/>
              </a:defRPr>
            </a:pPr>
            <a:r>
              <a:rPr sz="900" b="1">
                <a:solidFill>
                  <a:srgbClr val="8FA8B5"/>
                </a:solidFill>
                <a:latin typeface="Arial"/>
                <a:ea typeface="Arial"/>
                <a:cs typeface="Arial"/>
              </a:rPr>
              <a:t>07</a:t>
            </a:r>
          </a:p>
        </p:txBody>
      </p:sp>
    </p:spTree>
    <p:extLst>
      <p:ext uri="{BB962C8B-B14F-4D97-AF65-F5344CB8AC3E}">
        <p14:creationId xmlns:p14="http://schemas.microsoft.com/office/powerpoint/2010/main" val="575388770"/>
      </p:ext>
    </p:extLst>
  </p:cSld>
</p:sld>
</file>

<file path=ppt/slides/slide8.xml><?xml version="1.0" encoding="utf-8"?>
<p:sld xmlns:p="http://schemas.openxmlformats.org/presentationml/2006/main">
  <p:cSld>
    <p:bg>
      <p:bgPr>
        <a:solidFill xmlns:a="http://schemas.openxmlformats.org/drawingml/2006/main">
          <a:srgbClr val="07172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106E563-44F6-4411-801D-EFEAA69CE867}"/>
              </a:ext>
            </a:extLst>
          </p:cNvPr>
          <p:cNvSpPr>
            <a:spLocks xmlns:a="http://schemas.openxmlformats.org/drawingml/2006/main" noGrp="1"/>
          </p:cNvSpPr>
          <p:nvPr/>
        </p:nvSpPr>
        <p:spPr>
          <a:xfrm xmlns:a="http://schemas.openxmlformats.org/drawingml/2006/main">
            <a:off x="647700" y="3619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975" b="1">
                <a:solidFill>
                  <a:srgbClr val="24D6E5"/>
                </a:solidFill>
                <a:latin typeface="Arial"/>
                <a:ea typeface="Arial"/>
                <a:cs typeface="Arial"/>
              </a:defRPr>
            </a:pPr>
            <a:r>
              <a:rPr sz="975" b="1">
                <a:solidFill>
                  <a:srgbClr val="24D6E5"/>
                </a:solidFill>
                <a:latin typeface="Arial"/>
                <a:ea typeface="Arial"/>
                <a:cs typeface="Arial"/>
              </a:rPr>
              <a:t>ENDPOINT-AWARE NGFW</a:t>
            </a:r>
          </a:p>
        </p:txBody>
      </p:sp>
      <p:sp>
        <p:nvSpPr>
          <p:cNvPr id="2" name="">
            <a:extLst xmlns:a="http://schemas.openxmlformats.org/drawingml/2006/main">
              <a:ext uri="{FF2B5EF4-FFF2-40B4-BE49-F238E27FC236}">
                <a16:creationId xmlns:a16="http://schemas.microsoft.com/office/drawing/2014/main" id="{6D22AEE7-BBD5-4A81-A1E3-8214531557D2}"/>
              </a:ext>
            </a:extLst>
          </p:cNvPr>
          <p:cNvSpPr>
            <a:spLocks xmlns:a="http://schemas.openxmlformats.org/drawingml/2006/main" noGrp="1"/>
          </p:cNvSpPr>
          <p:nvPr/>
        </p:nvSpPr>
        <p:spPr>
          <a:xfrm xmlns:a="http://schemas.openxmlformats.org/drawingml/2006/main">
            <a:off x="647700" y="66675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325" b="1">
                <a:solidFill>
                  <a:srgbClr val="F7FBFD"/>
                </a:solidFill>
                <a:latin typeface="Arial"/>
                <a:ea typeface="Arial"/>
                <a:cs typeface="Arial"/>
              </a:defRPr>
            </a:pPr>
            <a:r>
              <a:rPr sz="2325" b="1">
                <a:solidFill>
                  <a:srgbClr val="F7FBFD"/>
                </a:solidFill>
                <a:latin typeface="Arial"/>
                <a:ea typeface="Arial"/>
                <a:cs typeface="Arial"/>
              </a:rPr>
              <a:t>Operational comparison</a:t>
            </a:r>
          </a:p>
        </p:txBody>
      </p:sp>
      <p:sp>
        <p:nvSpPr>
          <p:cNvPr id="3" name="">
            <a:extLst xmlns:a="http://schemas.openxmlformats.org/drawingml/2006/main">
              <a:ext uri="{FF2B5EF4-FFF2-40B4-BE49-F238E27FC236}">
                <a16:creationId xmlns:a16="http://schemas.microsoft.com/office/drawing/2014/main" id="{3754D8AC-618C-4177-A108-F191F1E6F5CF}"/>
              </a:ext>
            </a:extLst>
          </p:cNvPr>
          <p:cNvSpPr>
            <a:spLocks xmlns:a="http://schemas.openxmlformats.org/drawingml/2006/main" noGrp="1"/>
          </p:cNvSpPr>
          <p:nvPr/>
        </p:nvSpPr>
        <p:spPr>
          <a:xfrm xmlns:a="http://schemas.openxmlformats.org/drawingml/2006/main">
            <a:off x="647700" y="1504950"/>
            <a:ext cx="10896600" cy="0"/>
          </a:xfrm>
          <a:prstGeom xmlns:a="http://schemas.openxmlformats.org/drawingml/2006/main" prst="line">
            <a:avLst/>
          </a:prstGeom>
          <a:noFill xmlns:a="http://schemas.openxmlformats.org/drawingml/2006/main"/>
          <a:ln xmlns:a="http://schemas.openxmlformats.org/drawingml/2006/main" w="19050">
            <a:solidFill>
              <a:srgbClr val="17394C"/>
            </a:solidFill>
          </a:ln>
        </p:spPr>
      </p:sp>
      <p:graphicFrame>
        <p:nvGraphicFramePr>
          <p:cNvPr id="11" name=""/>
          <p:cNvGraphicFramePr/>
          <p:nvPr/>
        </p:nvGraphicFramePr>
        <p:xfrm>
          <a:off xmlns:a="http://schemas.openxmlformats.org/drawingml/2006/main" x="647700" y="1676400"/>
          <a:ext xmlns:a="http://schemas.openxmlformats.org/drawingml/2006/main" cx="10896600" cy="3562350"/>
        </p:xfrm>
        <a:graphic xmlns:a="http://schemas.openxmlformats.org/drawingml/2006/main">
          <a:graphicData uri="http://schemas.openxmlformats.org/drawingml/2006/table">
            <a:tbl>
              <a:tblPr/>
              <a:tblGrid>
                <a:gridCol w="2095500"/>
                <a:gridCol w="1619250"/>
                <a:gridCol w="1619250"/>
                <a:gridCol w="2095500"/>
                <a:gridCol w="3467100"/>
              </a:tblGrid>
              <a:tr h="508907">
                <a:tc>
                  <a:txBody>
                    <a:bodyPr/>
                    <a:lstStyle/>
                    <a:p>
                      <a:r>
                        <a:rPr sz="1125" b="1">
                          <a:solidFill>
                            <a:srgbClr val="F7FBFD"/>
                          </a:solidFill>
                          <a:latin typeface="Arial"/>
                          <a:ea typeface="Arial"/>
                          <a:cs typeface="Arial"/>
                        </a:rPr>
                        <a:t>Method</a:t>
                      </a:r>
                    </a:p>
                  </a:txBody>
                  <a:tcPr marL="91440" marR="91440" marT="45720" marB="45720" anchor="ctr">
                    <a:solidFill>
                      <a:srgbClr val="17394C"/>
                    </a:solidFill>
                  </a:tcPr>
                </a:tc>
                <a:tc>
                  <a:txBody>
                    <a:bodyPr/>
                    <a:lstStyle/>
                    <a:p>
                      <a:r>
                        <a:rPr sz="1125" b="1">
                          <a:solidFill>
                            <a:srgbClr val="F7FBFD"/>
                          </a:solidFill>
                          <a:latin typeface="Arial"/>
                          <a:ea typeface="Arial"/>
                          <a:cs typeface="Arial"/>
                        </a:rPr>
                        <a:t>Coverage</a:t>
                      </a:r>
                    </a:p>
                  </a:txBody>
                  <a:tcPr marL="91440" marR="91440" marT="45720" marB="45720" anchor="ctr">
                    <a:solidFill>
                      <a:srgbClr val="17394C"/>
                    </a:solidFill>
                  </a:tcPr>
                </a:tc>
                <a:tc>
                  <a:txBody>
                    <a:bodyPr/>
                    <a:lstStyle/>
                    <a:p>
                      <a:r>
                        <a:rPr sz="1125" b="1">
                          <a:solidFill>
                            <a:srgbClr val="F7FBFD"/>
                          </a:solidFill>
                          <a:latin typeface="Arial"/>
                          <a:ea typeface="Arial"/>
                          <a:cs typeface="Arial"/>
                        </a:rPr>
                        <a:t>Freshness</a:t>
                      </a:r>
                    </a:p>
                  </a:txBody>
                  <a:tcPr marL="91440" marR="91440" marT="45720" marB="45720" anchor="ctr">
                    <a:solidFill>
                      <a:srgbClr val="17394C"/>
                    </a:solidFill>
                  </a:tcPr>
                </a:tc>
                <a:tc>
                  <a:txBody>
                    <a:bodyPr/>
                    <a:lstStyle/>
                    <a:p>
                      <a:r>
                        <a:rPr sz="1125" b="1">
                          <a:solidFill>
                            <a:srgbClr val="F7FBFD"/>
                          </a:solidFill>
                          <a:latin typeface="Arial"/>
                          <a:ea typeface="Arial"/>
                          <a:cs typeface="Arial"/>
                        </a:rPr>
                        <a:t>Identity confidence</a:t>
                      </a:r>
                    </a:p>
                  </a:txBody>
                  <a:tcPr marL="91440" marR="91440" marT="45720" marB="45720" anchor="ctr">
                    <a:solidFill>
                      <a:srgbClr val="17394C"/>
                    </a:solidFill>
                  </a:tcPr>
                </a:tc>
                <a:tc>
                  <a:txBody>
                    <a:bodyPr/>
                    <a:lstStyle/>
                    <a:p>
                      <a:r>
                        <a:rPr sz="1125" b="1">
                          <a:solidFill>
                            <a:srgbClr val="F7FBFD"/>
                          </a:solidFill>
                          <a:latin typeface="Arial"/>
                          <a:ea typeface="Arial"/>
                          <a:cs typeface="Arial"/>
                        </a:rPr>
                        <a:t>Main constraint</a:t>
                      </a:r>
                    </a:p>
                  </a:txBody>
                  <a:tcPr marL="91440" marR="91440" marT="45720" marB="45720" anchor="ctr">
                    <a:solidFill>
                      <a:srgbClr val="17394C"/>
                    </a:solidFill>
                  </a:tcPr>
                </a:tc>
              </a:tr>
              <a:tr h="508907">
                <a:tc>
                  <a:txBody>
                    <a:bodyPr/>
                    <a:lstStyle/>
                    <a:p>
                      <a:r>
                        <a:rPr sz="1050">
                          <a:solidFill>
                            <a:srgbClr val="D7E5EC"/>
                          </a:solidFill>
                          <a:latin typeface="Arial"/>
                          <a:ea typeface="Arial"/>
                          <a:cs typeface="Arial"/>
                        </a:rPr>
                        <a:t>HTTP metadata</a:t>
                      </a:r>
                    </a:p>
                  </a:txBody>
                  <a:tcPr marL="91440" marR="91440" marT="45720" marB="45720" anchor="ctr">
                    <a:solidFill>
                      <a:srgbClr val="0C2435"/>
                    </a:solidFill>
                  </a:tcPr>
                </a:tc>
                <a:tc>
                  <a:txBody>
                    <a:bodyPr/>
                    <a:lstStyle/>
                    <a:p>
                      <a:r>
                        <a:rPr sz="1050">
                          <a:solidFill>
                            <a:srgbClr val="D7E5EC"/>
                          </a:solidFill>
                          <a:latin typeface="Arial"/>
                          <a:ea typeface="Arial"/>
                          <a:cs typeface="Arial"/>
                        </a:rPr>
                        <a:t>Low</a:t>
                      </a:r>
                    </a:p>
                  </a:txBody>
                  <a:tcPr marL="91440" marR="91440" marT="45720" marB="45720" anchor="ctr">
                    <a:solidFill>
                      <a:srgbClr val="0C2435"/>
                    </a:solidFill>
                  </a:tcPr>
                </a:tc>
                <a:tc>
                  <a:txBody>
                    <a:bodyPr/>
                    <a:lstStyle/>
                    <a:p>
                      <a:r>
                        <a:rPr sz="1050">
                          <a:solidFill>
                            <a:srgbClr val="D7E5EC"/>
                          </a:solidFill>
                          <a:latin typeface="Arial"/>
                          <a:ea typeface="Arial"/>
                          <a:cs typeface="Arial"/>
                        </a:rPr>
                        <a:t>Live</a:t>
                      </a:r>
                    </a:p>
                  </a:txBody>
                  <a:tcPr marL="91440" marR="91440" marT="45720" marB="45720" anchor="ctr">
                    <a:solidFill>
                      <a:srgbClr val="0C2435"/>
                    </a:solidFill>
                  </a:tcPr>
                </a:tc>
                <a:tc>
                  <a:txBody>
                    <a:bodyPr/>
                    <a:lstStyle/>
                    <a:p>
                      <a:r>
                        <a:rPr sz="1050">
                          <a:solidFill>
                            <a:srgbClr val="D7E5EC"/>
                          </a:solidFill>
                          <a:latin typeface="Arial"/>
                          <a:ea typeface="Arial"/>
                          <a:cs typeface="Arial"/>
                        </a:rPr>
                        <a:t>Low</a:t>
                      </a:r>
                    </a:p>
                  </a:txBody>
                  <a:tcPr marL="91440" marR="91440" marT="45720" marB="45720" anchor="ctr">
                    <a:solidFill>
                      <a:srgbClr val="0C2435"/>
                    </a:solidFill>
                  </a:tcPr>
                </a:tc>
                <a:tc>
                  <a:txBody>
                    <a:bodyPr/>
                    <a:lstStyle/>
                    <a:p>
                      <a:r>
                        <a:rPr sz="1050">
                          <a:solidFill>
                            <a:srgbClr val="D7E5EC"/>
                          </a:solidFill>
                          <a:latin typeface="Arial"/>
                          <a:ea typeface="Arial"/>
                          <a:cs typeface="Arial"/>
                        </a:rPr>
                        <a:t>Spoofing and encryption</a:t>
                      </a:r>
                    </a:p>
                  </a:txBody>
                  <a:tcPr marL="91440" marR="91440" marT="45720" marB="45720" anchor="ctr">
                    <a:solidFill>
                      <a:srgbClr val="0C2435"/>
                    </a:solidFill>
                  </a:tcPr>
                </a:tc>
              </a:tr>
              <a:tr h="508907">
                <a:tc>
                  <a:txBody>
                    <a:bodyPr/>
                    <a:lstStyle/>
                    <a:p>
                      <a:r>
                        <a:rPr sz="1050">
                          <a:solidFill>
                            <a:srgbClr val="D7E5EC"/>
                          </a:solidFill>
                          <a:latin typeface="Arial"/>
                          <a:ea typeface="Arial"/>
                          <a:cs typeface="Arial"/>
                        </a:rPr>
                        <a:t>TLS fingerprint</a:t>
                      </a:r>
                    </a:p>
                  </a:txBody>
                  <a:tcPr marL="91440" marR="91440" marT="45720" marB="45720" anchor="ctr">
                    <a:solidFill>
                      <a:srgbClr val="0C2435"/>
                    </a:solidFill>
                  </a:tcPr>
                </a:tc>
                <a:tc>
                  <a:txBody>
                    <a:bodyPr/>
                    <a:lstStyle/>
                    <a:p>
                      <a:r>
                        <a:rPr sz="1050">
                          <a:solidFill>
                            <a:srgbClr val="D7E5EC"/>
                          </a:solidFill>
                          <a:latin typeface="Arial"/>
                          <a:ea typeface="Arial"/>
                          <a:cs typeface="Arial"/>
                        </a:rPr>
                        <a:t>High</a:t>
                      </a:r>
                    </a:p>
                  </a:txBody>
                  <a:tcPr marL="91440" marR="91440" marT="45720" marB="45720" anchor="ctr">
                    <a:solidFill>
                      <a:srgbClr val="0C2435"/>
                    </a:solidFill>
                  </a:tcPr>
                </a:tc>
                <a:tc>
                  <a:txBody>
                    <a:bodyPr/>
                    <a:lstStyle/>
                    <a:p>
                      <a:r>
                        <a:rPr sz="1050">
                          <a:solidFill>
                            <a:srgbClr val="D7E5EC"/>
                          </a:solidFill>
                          <a:latin typeface="Arial"/>
                          <a:ea typeface="Arial"/>
                          <a:cs typeface="Arial"/>
                        </a:rPr>
                        <a:t>Live</a:t>
                      </a:r>
                    </a:p>
                  </a:txBody>
                  <a:tcPr marL="91440" marR="91440" marT="45720" marB="45720" anchor="ctr">
                    <a:solidFill>
                      <a:srgbClr val="0C2435"/>
                    </a:solidFill>
                  </a:tcPr>
                </a:tc>
                <a:tc>
                  <a:txBody>
                    <a:bodyPr/>
                    <a:lstStyle/>
                    <a:p>
                      <a:r>
                        <a:rPr sz="1050">
                          <a:solidFill>
                            <a:srgbClr val="D7E5EC"/>
                          </a:solidFill>
                          <a:latin typeface="Arial"/>
                          <a:ea typeface="Arial"/>
                          <a:cs typeface="Arial"/>
                        </a:rPr>
                        <a:t>Low–medium</a:t>
                      </a:r>
                    </a:p>
                  </a:txBody>
                  <a:tcPr marL="91440" marR="91440" marT="45720" marB="45720" anchor="ctr">
                    <a:solidFill>
                      <a:srgbClr val="0C2435"/>
                    </a:solidFill>
                  </a:tcPr>
                </a:tc>
                <a:tc>
                  <a:txBody>
                    <a:bodyPr/>
                    <a:lstStyle/>
                    <a:p>
                      <a:r>
                        <a:rPr sz="1050">
                          <a:solidFill>
                            <a:srgbClr val="D7E5EC"/>
                          </a:solidFill>
                          <a:latin typeface="Arial"/>
                          <a:ea typeface="Arial"/>
                          <a:cs typeface="Arial"/>
                        </a:rPr>
                        <a:t>Collisions and protocol change</a:t>
                      </a:r>
                    </a:p>
                  </a:txBody>
                  <a:tcPr marL="91440" marR="91440" marT="45720" marB="45720" anchor="ctr">
                    <a:solidFill>
                      <a:srgbClr val="0C2435"/>
                    </a:solidFill>
                  </a:tcPr>
                </a:tc>
              </a:tr>
              <a:tr h="508907">
                <a:tc>
                  <a:txBody>
                    <a:bodyPr/>
                    <a:lstStyle/>
                    <a:p>
                      <a:r>
                        <a:rPr sz="1050">
                          <a:solidFill>
                            <a:srgbClr val="D7E5EC"/>
                          </a:solidFill>
                          <a:latin typeface="Arial"/>
                          <a:ea typeface="Arial"/>
                          <a:cs typeface="Arial"/>
                        </a:rPr>
                        <a:t>Flow classification</a:t>
                      </a:r>
                    </a:p>
                  </a:txBody>
                  <a:tcPr marL="91440" marR="91440" marT="45720" marB="45720" anchor="ctr">
                    <a:solidFill>
                      <a:srgbClr val="0C2435"/>
                    </a:solidFill>
                  </a:tcPr>
                </a:tc>
                <a:tc>
                  <a:txBody>
                    <a:bodyPr/>
                    <a:lstStyle/>
                    <a:p>
                      <a:r>
                        <a:rPr sz="1050">
                          <a:solidFill>
                            <a:srgbClr val="D7E5EC"/>
                          </a:solidFill>
                          <a:latin typeface="Arial"/>
                          <a:ea typeface="Arial"/>
                          <a:cs typeface="Arial"/>
                        </a:rPr>
                        <a:t>High</a:t>
                      </a:r>
                    </a:p>
                  </a:txBody>
                  <a:tcPr marL="91440" marR="91440" marT="45720" marB="45720" anchor="ctr">
                    <a:solidFill>
                      <a:srgbClr val="0C2435"/>
                    </a:solidFill>
                  </a:tcPr>
                </a:tc>
                <a:tc>
                  <a:txBody>
                    <a:bodyPr/>
                    <a:lstStyle/>
                    <a:p>
                      <a:r>
                        <a:rPr sz="1050">
                          <a:solidFill>
                            <a:srgbClr val="D7E5EC"/>
                          </a:solidFill>
                          <a:latin typeface="Arial"/>
                          <a:ea typeface="Arial"/>
                          <a:cs typeface="Arial"/>
                        </a:rPr>
                        <a:t>Delayed</a:t>
                      </a:r>
                    </a:p>
                  </a:txBody>
                  <a:tcPr marL="91440" marR="91440" marT="45720" marB="45720" anchor="ctr">
                    <a:solidFill>
                      <a:srgbClr val="0C2435"/>
                    </a:solidFill>
                  </a:tcPr>
                </a:tc>
                <a:tc>
                  <a:txBody>
                    <a:bodyPr/>
                    <a:lstStyle/>
                    <a:p>
                      <a:r>
                        <a:rPr sz="1050">
                          <a:solidFill>
                            <a:srgbClr val="D7E5EC"/>
                          </a:solidFill>
                          <a:latin typeface="Arial"/>
                          <a:ea typeface="Arial"/>
                          <a:cs typeface="Arial"/>
                        </a:rPr>
                        <a:t>Low–medium</a:t>
                      </a:r>
                    </a:p>
                  </a:txBody>
                  <a:tcPr marL="91440" marR="91440" marT="45720" marB="45720" anchor="ctr">
                    <a:solidFill>
                      <a:srgbClr val="0C2435"/>
                    </a:solidFill>
                  </a:tcPr>
                </a:tc>
                <a:tc>
                  <a:txBody>
                    <a:bodyPr/>
                    <a:lstStyle/>
                    <a:p>
                      <a:r>
                        <a:rPr sz="1050">
                          <a:solidFill>
                            <a:srgbClr val="D7E5EC"/>
                          </a:solidFill>
                          <a:latin typeface="Arial"/>
                          <a:ea typeface="Arial"/>
                          <a:cs typeface="Arial"/>
                        </a:rPr>
                        <a:t>Full-flow and model cost</a:t>
                      </a:r>
                    </a:p>
                  </a:txBody>
                  <a:tcPr marL="91440" marR="91440" marT="45720" marB="45720" anchor="ctr">
                    <a:solidFill>
                      <a:srgbClr val="0C2435"/>
                    </a:solidFill>
                  </a:tcPr>
                </a:tc>
              </a:tr>
              <a:tr h="508907">
                <a:tc>
                  <a:txBody>
                    <a:bodyPr/>
                    <a:lstStyle/>
                    <a:p>
                      <a:r>
                        <a:rPr sz="1050">
                          <a:solidFill>
                            <a:srgbClr val="D7E5EC"/>
                          </a:solidFill>
                          <a:latin typeface="Arial"/>
                          <a:ea typeface="Arial"/>
                          <a:cs typeface="Arial"/>
                        </a:rPr>
                        <a:t>Active scanning</a:t>
                      </a:r>
                    </a:p>
                  </a:txBody>
                  <a:tcPr marL="91440" marR="91440" marT="45720" marB="45720" anchor="ctr">
                    <a:solidFill>
                      <a:srgbClr val="0C2435"/>
                    </a:solidFill>
                  </a:tcPr>
                </a:tc>
                <a:tc>
                  <a:txBody>
                    <a:bodyPr/>
                    <a:lstStyle/>
                    <a:p>
                      <a:r>
                        <a:rPr sz="1050">
                          <a:solidFill>
                            <a:srgbClr val="D7E5EC"/>
                          </a:solidFill>
                          <a:latin typeface="Arial"/>
                          <a:ea typeface="Arial"/>
                          <a:cs typeface="Arial"/>
                        </a:rPr>
                        <a:t>Servers</a:t>
                      </a:r>
                    </a:p>
                  </a:txBody>
                  <a:tcPr marL="91440" marR="91440" marT="45720" marB="45720" anchor="ctr">
                    <a:solidFill>
                      <a:srgbClr val="0C2435"/>
                    </a:solidFill>
                  </a:tcPr>
                </a:tc>
                <a:tc>
                  <a:txBody>
                    <a:bodyPr/>
                    <a:lstStyle/>
                    <a:p>
                      <a:r>
                        <a:rPr sz="1050">
                          <a:solidFill>
                            <a:srgbClr val="D7E5EC"/>
                          </a:solidFill>
                          <a:latin typeface="Arial"/>
                          <a:ea typeface="Arial"/>
                          <a:cs typeface="Arial"/>
                        </a:rPr>
                        <a:t>Periodic</a:t>
                      </a:r>
                    </a:p>
                  </a:txBody>
                  <a:tcPr marL="91440" marR="91440" marT="45720" marB="45720" anchor="ctr">
                    <a:solidFill>
                      <a:srgbClr val="0C2435"/>
                    </a:solidFill>
                  </a:tcPr>
                </a:tc>
                <a:tc>
                  <a:txBody>
                    <a:bodyPr/>
                    <a:lstStyle/>
                    <a:p>
                      <a:r>
                        <a:rPr sz="1050">
                          <a:solidFill>
                            <a:srgbClr val="D7E5EC"/>
                          </a:solidFill>
                          <a:latin typeface="Arial"/>
                          <a:ea typeface="Arial"/>
                          <a:cs typeface="Arial"/>
                        </a:rPr>
                        <a:t>Medium</a:t>
                      </a:r>
                    </a:p>
                  </a:txBody>
                  <a:tcPr marL="91440" marR="91440" marT="45720" marB="45720" anchor="ctr">
                    <a:solidFill>
                      <a:srgbClr val="0C2435"/>
                    </a:solidFill>
                  </a:tcPr>
                </a:tc>
                <a:tc>
                  <a:txBody>
                    <a:bodyPr/>
                    <a:lstStyle/>
                    <a:p>
                      <a:r>
                        <a:rPr sz="1050">
                          <a:solidFill>
                            <a:srgbClr val="D7E5EC"/>
                          </a:solidFill>
                          <a:latin typeface="Arial"/>
                          <a:ea typeface="Arial"/>
                          <a:cs typeface="Arial"/>
                        </a:rPr>
                        <a:t>Authorization and staleness</a:t>
                      </a:r>
                    </a:p>
                  </a:txBody>
                  <a:tcPr marL="91440" marR="91440" marT="45720" marB="45720" anchor="ctr">
                    <a:solidFill>
                      <a:srgbClr val="0C2435"/>
                    </a:solidFill>
                  </a:tcPr>
                </a:tc>
              </a:tr>
              <a:tr h="508907">
                <a:tc>
                  <a:txBody>
                    <a:bodyPr/>
                    <a:lstStyle/>
                    <a:p>
                      <a:r>
                        <a:rPr sz="1050">
                          <a:solidFill>
                            <a:srgbClr val="D7E5EC"/>
                          </a:solidFill>
                          <a:latin typeface="Arial"/>
                          <a:ea typeface="Arial"/>
                          <a:cs typeface="Arial"/>
                        </a:rPr>
                        <a:t>CMDB</a:t>
                      </a:r>
                    </a:p>
                  </a:txBody>
                  <a:tcPr marL="91440" marR="91440" marT="45720" marB="45720" anchor="ctr">
                    <a:solidFill>
                      <a:srgbClr val="0C2435"/>
                    </a:solidFill>
                  </a:tcPr>
                </a:tc>
                <a:tc>
                  <a:txBody>
                    <a:bodyPr/>
                    <a:lstStyle/>
                    <a:p>
                      <a:r>
                        <a:rPr sz="1050">
                          <a:solidFill>
                            <a:srgbClr val="D7E5EC"/>
                          </a:solidFill>
                          <a:latin typeface="Arial"/>
                          <a:ea typeface="Arial"/>
                          <a:cs typeface="Arial"/>
                        </a:rPr>
                        <a:t>Managed assets</a:t>
                      </a:r>
                    </a:p>
                  </a:txBody>
                  <a:tcPr marL="91440" marR="91440" marT="45720" marB="45720" anchor="ctr">
                    <a:solidFill>
                      <a:srgbClr val="0C2435"/>
                    </a:solidFill>
                  </a:tcPr>
                </a:tc>
                <a:tc>
                  <a:txBody>
                    <a:bodyPr/>
                    <a:lstStyle/>
                    <a:p>
                      <a:r>
                        <a:rPr sz="1050">
                          <a:solidFill>
                            <a:srgbClr val="D7E5EC"/>
                          </a:solidFill>
                          <a:latin typeface="Arial"/>
                          <a:ea typeface="Arial"/>
                          <a:cs typeface="Arial"/>
                        </a:rPr>
                        <a:t>Variable</a:t>
                      </a:r>
                    </a:p>
                  </a:txBody>
                  <a:tcPr marL="91440" marR="91440" marT="45720" marB="45720" anchor="ctr">
                    <a:solidFill>
                      <a:srgbClr val="0C2435"/>
                    </a:solidFill>
                  </a:tcPr>
                </a:tc>
                <a:tc>
                  <a:txBody>
                    <a:bodyPr/>
                    <a:lstStyle/>
                    <a:p>
                      <a:r>
                        <a:rPr sz="1050">
                          <a:solidFill>
                            <a:srgbClr val="D7E5EC"/>
                          </a:solidFill>
                          <a:latin typeface="Arial"/>
                          <a:ea typeface="Arial"/>
                          <a:cs typeface="Arial"/>
                        </a:rPr>
                        <a:t>Medium</a:t>
                      </a:r>
                    </a:p>
                  </a:txBody>
                  <a:tcPr marL="91440" marR="91440" marT="45720" marB="45720" anchor="ctr">
                    <a:solidFill>
                      <a:srgbClr val="0C2435"/>
                    </a:solidFill>
                  </a:tcPr>
                </a:tc>
                <a:tc>
                  <a:txBody>
                    <a:bodyPr/>
                    <a:lstStyle/>
                    <a:p>
                      <a:r>
                        <a:rPr sz="1050">
                          <a:solidFill>
                            <a:srgbClr val="D7E5EC"/>
                          </a:solidFill>
                          <a:latin typeface="Arial"/>
                          <a:ea typeface="Arial"/>
                          <a:cs typeface="Arial"/>
                        </a:rPr>
                        <a:t>Record quality</a:t>
                      </a:r>
                    </a:p>
                  </a:txBody>
                  <a:tcPr marL="91440" marR="91440" marT="45720" marB="45720" anchor="ctr">
                    <a:solidFill>
                      <a:srgbClr val="0C2435"/>
                    </a:solidFill>
                  </a:tcPr>
                </a:tc>
              </a:tr>
              <a:tr h="508907">
                <a:tc>
                  <a:txBody>
                    <a:bodyPr/>
                    <a:lstStyle/>
                    <a:p>
                      <a:r>
                        <a:rPr sz="1050" b="1">
                          <a:solidFill>
                            <a:srgbClr val="F7FBFD"/>
                          </a:solidFill>
                          <a:latin typeface="Arial"/>
                          <a:ea typeface="Arial"/>
                          <a:cs typeface="Arial"/>
                        </a:rPr>
                        <a:t>Endpoint telemetry</a:t>
                      </a:r>
                    </a:p>
                  </a:txBody>
                  <a:tcPr marL="91440" marR="91440" marT="45720" marB="45720" anchor="ctr">
                    <a:solidFill>
                      <a:srgbClr val="123D3C"/>
                    </a:solidFill>
                  </a:tcPr>
                </a:tc>
                <a:tc>
                  <a:txBody>
                    <a:bodyPr/>
                    <a:lstStyle/>
                    <a:p>
                      <a:r>
                        <a:rPr sz="1050" b="1">
                          <a:solidFill>
                            <a:srgbClr val="F7FBFD"/>
                          </a:solidFill>
                          <a:latin typeface="Arial"/>
                          <a:ea typeface="Arial"/>
                          <a:cs typeface="Arial"/>
                        </a:rPr>
                        <a:t>Managed endpoints</a:t>
                      </a:r>
                    </a:p>
                  </a:txBody>
                  <a:tcPr marL="91440" marR="91440" marT="45720" marB="45720" anchor="ctr">
                    <a:solidFill>
                      <a:srgbClr val="123D3C"/>
                    </a:solidFill>
                  </a:tcPr>
                </a:tc>
                <a:tc>
                  <a:txBody>
                    <a:bodyPr/>
                    <a:lstStyle/>
                    <a:p>
                      <a:r>
                        <a:rPr sz="1050" b="1">
                          <a:solidFill>
                            <a:srgbClr val="F7FBFD"/>
                          </a:solidFill>
                          <a:latin typeface="Arial"/>
                          <a:ea typeface="Arial"/>
                          <a:cs typeface="Arial"/>
                        </a:rPr>
                        <a:t>Near real time</a:t>
                      </a:r>
                    </a:p>
                  </a:txBody>
                  <a:tcPr marL="91440" marR="91440" marT="45720" marB="45720" anchor="ctr">
                    <a:solidFill>
                      <a:srgbClr val="123D3C"/>
                    </a:solidFill>
                  </a:tcPr>
                </a:tc>
                <a:tc>
                  <a:txBody>
                    <a:bodyPr/>
                    <a:lstStyle/>
                    <a:p>
                      <a:r>
                        <a:rPr sz="1050" b="1">
                          <a:solidFill>
                            <a:srgbClr val="F7FBFD"/>
                          </a:solidFill>
                          <a:latin typeface="Arial"/>
                          <a:ea typeface="Arial"/>
                          <a:cs typeface="Arial"/>
                        </a:rPr>
                        <a:t>High</a:t>
                      </a:r>
                    </a:p>
                  </a:txBody>
                  <a:tcPr marL="91440" marR="91440" marT="45720" marB="45720" anchor="ctr">
                    <a:solidFill>
                      <a:srgbClr val="123D3C"/>
                    </a:solidFill>
                  </a:tcPr>
                </a:tc>
                <a:tc>
                  <a:txBody>
                    <a:bodyPr/>
                    <a:lstStyle/>
                    <a:p>
                      <a:r>
                        <a:rPr sz="1050" b="1">
                          <a:solidFill>
                            <a:srgbClr val="F7FBFD"/>
                          </a:solidFill>
                          <a:latin typeface="Arial"/>
                          <a:ea typeface="Arial"/>
                          <a:cs typeface="Arial"/>
                        </a:rPr>
                        <a:t>Agent trust and privacy</a:t>
                      </a:r>
                    </a:p>
                  </a:txBody>
                  <a:tcPr marL="91440" marR="91440" marT="45720" marB="45720" anchor="ctr">
                    <a:solidFill>
                      <a:srgbClr val="123D3C"/>
                    </a:solidFill>
                  </a:tcPr>
                </a:tc>
              </a:tr>
            </a:tbl>
          </a:graphicData>
        </a:graphic>
      </p:graphicFrame>
      <p:sp>
        <p:nvSpPr>
          <p:cNvPr id="5" name="">
            <a:extLst xmlns:a="http://schemas.openxmlformats.org/drawingml/2006/main">
              <a:ext uri="{FF2B5EF4-FFF2-40B4-BE49-F238E27FC236}">
                <a16:creationId xmlns:a16="http://schemas.microsoft.com/office/drawing/2014/main" id="{DF509483-38B9-4344-81B5-400D08E9E0A7}"/>
              </a:ext>
            </a:extLst>
          </p:cNvPr>
          <p:cNvSpPr>
            <a:spLocks xmlns:a="http://schemas.openxmlformats.org/drawingml/2006/main" noGrp="1"/>
          </p:cNvSpPr>
          <p:nvPr/>
        </p:nvSpPr>
        <p:spPr>
          <a:xfrm xmlns:a="http://schemas.openxmlformats.org/drawingml/2006/main">
            <a:off x="1666875" y="5562600"/>
            <a:ext cx="885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defRPr sz="1500" b="1">
                <a:solidFill>
                  <a:srgbClr val="F7FBFD"/>
                </a:solidFill>
                <a:latin typeface="Arial"/>
                <a:ea typeface="Arial"/>
                <a:cs typeface="Arial"/>
              </a:defRPr>
            </a:pPr>
            <a:r>
              <a:rPr sz="1500" b="1">
                <a:solidFill>
                  <a:srgbClr val="F7FBFD"/>
                </a:solidFill>
                <a:latin typeface="Arial"/>
                <a:ea typeface="Arial"/>
                <a:cs typeface="Arial"/>
              </a:rPr>
              <a:t>The best operational design combines coverage with stronger evidence and records confidence explicitly.</a:t>
            </a:r>
          </a:p>
        </p:txBody>
      </p:sp>
      <p:sp>
        <p:nvSpPr>
          <p:cNvPr id="6" name="">
            <a:extLst xmlns:a="http://schemas.openxmlformats.org/drawingml/2006/main">
              <a:ext uri="{FF2B5EF4-FFF2-40B4-BE49-F238E27FC236}">
                <a16:creationId xmlns:a16="http://schemas.microsoft.com/office/drawing/2014/main" id="{2DE3BF6B-9021-4774-8C14-FFAFA76A5C69}"/>
              </a:ext>
            </a:extLst>
          </p:cNvPr>
          <p:cNvSpPr>
            <a:spLocks xmlns:a="http://schemas.openxmlformats.org/drawingml/2006/main" noGrp="1"/>
          </p:cNvSpPr>
          <p:nvPr/>
        </p:nvSpPr>
        <p:spPr>
          <a:xfrm xmlns:a="http://schemas.openxmlformats.org/drawingml/2006/main">
            <a:off x="647700" y="6486525"/>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900" b="0">
                <a:solidFill>
                  <a:srgbClr val="8FA8B5"/>
                </a:solidFill>
                <a:latin typeface="Arial"/>
                <a:ea typeface="Arial"/>
                <a:cs typeface="Arial"/>
              </a:defRPr>
            </a:pPr>
            <a:r>
              <a:rPr sz="900" b="0">
                <a:solidFill>
                  <a:srgbClr val="8FA8B5"/>
                </a:solidFill>
                <a:latin typeface="Arial"/>
                <a:ea typeface="Arial"/>
                <a:cs typeface="Arial"/>
              </a:rPr>
              <a:t>Spyridon Grouztidis · Ioakeim Christaras</a:t>
            </a:r>
          </a:p>
        </p:txBody>
      </p:sp>
      <p:sp>
        <p:nvSpPr>
          <p:cNvPr id="7" name="">
            <a:extLst xmlns:a="http://schemas.openxmlformats.org/drawingml/2006/main">
              <a:ext uri="{FF2B5EF4-FFF2-40B4-BE49-F238E27FC236}">
                <a16:creationId xmlns:a16="http://schemas.microsoft.com/office/drawing/2014/main" id="{A104DA12-F24E-4D11-AFC9-63C97989952C}"/>
              </a:ext>
            </a:extLst>
          </p:cNvPr>
          <p:cNvSpPr>
            <a:spLocks xmlns:a="http://schemas.openxmlformats.org/drawingml/2006/main" noGrp="1"/>
          </p:cNvSpPr>
          <p:nvPr/>
        </p:nvSpPr>
        <p:spPr>
          <a:xfrm xmlns:a="http://schemas.openxmlformats.org/drawingml/2006/main">
            <a:off x="10953750" y="6486525"/>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defRPr sz="900" b="1">
                <a:solidFill>
                  <a:srgbClr val="8FA8B5"/>
                </a:solidFill>
                <a:latin typeface="Arial"/>
                <a:ea typeface="Arial"/>
                <a:cs typeface="Arial"/>
              </a:defRPr>
            </a:pPr>
            <a:r>
              <a:rPr sz="900" b="1">
                <a:solidFill>
                  <a:srgbClr val="8FA8B5"/>
                </a:solidFill>
                <a:latin typeface="Arial"/>
                <a:ea typeface="Arial"/>
                <a:cs typeface="Arial"/>
              </a:rPr>
              <a:t>08</a:t>
            </a:r>
          </a:p>
        </p:txBody>
      </p:sp>
    </p:spTree>
    <p:extLst>
      <p:ext uri="{BB962C8B-B14F-4D97-AF65-F5344CB8AC3E}">
        <p14:creationId xmlns:p14="http://schemas.microsoft.com/office/powerpoint/2010/main" val="219808242"/>
      </p:ext>
    </p:extLst>
  </p:cSld>
</p:sld>
</file>

<file path=ppt/slides/slide9.xml><?xml version="1.0" encoding="utf-8"?>
<p:sld xmlns:p="http://schemas.openxmlformats.org/presentationml/2006/main">
  <p:cSld>
    <p:bg>
      <p:bgPr>
        <a:solidFill xmlns:a="http://schemas.openxmlformats.org/drawingml/2006/main">
          <a:srgbClr val="071724"/>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94CD23E-799C-4190-BF9B-8A48549FB46E}"/>
              </a:ext>
            </a:extLst>
          </p:cNvPr>
          <p:cNvSpPr>
            <a:spLocks xmlns:a="http://schemas.openxmlformats.org/drawingml/2006/main" noGrp="1"/>
          </p:cNvSpPr>
          <p:nvPr/>
        </p:nvSpPr>
        <p:spPr>
          <a:xfrm xmlns:a="http://schemas.openxmlformats.org/drawingml/2006/main">
            <a:off x="647700" y="3619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975" b="1">
                <a:solidFill>
                  <a:srgbClr val="24D6E5"/>
                </a:solidFill>
                <a:latin typeface="Arial"/>
                <a:ea typeface="Arial"/>
                <a:cs typeface="Arial"/>
              </a:defRPr>
            </a:pPr>
            <a:r>
              <a:rPr sz="975" b="1">
                <a:solidFill>
                  <a:srgbClr val="24D6E5"/>
                </a:solidFill>
                <a:latin typeface="Arial"/>
                <a:ea typeface="Arial"/>
                <a:cs typeface="Arial"/>
              </a:rPr>
              <a:t>ENDPOINT-AWARE NGFW</a:t>
            </a:r>
          </a:p>
        </p:txBody>
      </p:sp>
      <p:sp>
        <p:nvSpPr>
          <p:cNvPr id="2" name="">
            <a:extLst xmlns:a="http://schemas.openxmlformats.org/drawingml/2006/main">
              <a:ext uri="{FF2B5EF4-FFF2-40B4-BE49-F238E27FC236}">
                <a16:creationId xmlns:a16="http://schemas.microsoft.com/office/drawing/2014/main" id="{2CE299F0-787E-4C0B-8020-86B74FFFCB13}"/>
              </a:ext>
            </a:extLst>
          </p:cNvPr>
          <p:cNvSpPr>
            <a:spLocks xmlns:a="http://schemas.openxmlformats.org/drawingml/2006/main" noGrp="1"/>
          </p:cNvSpPr>
          <p:nvPr/>
        </p:nvSpPr>
        <p:spPr>
          <a:xfrm xmlns:a="http://schemas.openxmlformats.org/drawingml/2006/main">
            <a:off x="647700" y="66675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325" b="1">
                <a:solidFill>
                  <a:srgbClr val="F7FBFD"/>
                </a:solidFill>
                <a:latin typeface="Arial"/>
                <a:ea typeface="Arial"/>
                <a:cs typeface="Arial"/>
              </a:defRPr>
            </a:pPr>
            <a:r>
              <a:rPr sz="2325" b="1">
                <a:solidFill>
                  <a:srgbClr val="F7FBFD"/>
                </a:solidFill>
                <a:latin typeface="Arial"/>
                <a:ea typeface="Arial"/>
                <a:cs typeface="Arial"/>
              </a:rPr>
              <a:t>Detection use case: suspicious TLS fingerprint with process context</a:t>
            </a:r>
          </a:p>
        </p:txBody>
      </p:sp>
      <p:sp>
        <p:nvSpPr>
          <p:cNvPr id="3" name="">
            <a:extLst xmlns:a="http://schemas.openxmlformats.org/drawingml/2006/main">
              <a:ext uri="{FF2B5EF4-FFF2-40B4-BE49-F238E27FC236}">
                <a16:creationId xmlns:a16="http://schemas.microsoft.com/office/drawing/2014/main" id="{63849E99-5BEE-426D-96E8-959F84F7D36D}"/>
              </a:ext>
            </a:extLst>
          </p:cNvPr>
          <p:cNvSpPr>
            <a:spLocks xmlns:a="http://schemas.openxmlformats.org/drawingml/2006/main" noGrp="1"/>
          </p:cNvSpPr>
          <p:nvPr/>
        </p:nvSpPr>
        <p:spPr>
          <a:xfrm xmlns:a="http://schemas.openxmlformats.org/drawingml/2006/main">
            <a:off x="647700" y="1504950"/>
            <a:ext cx="10896600" cy="0"/>
          </a:xfrm>
          <a:prstGeom xmlns:a="http://schemas.openxmlformats.org/drawingml/2006/main" prst="line">
            <a:avLst/>
          </a:prstGeom>
          <a:noFill xmlns:a="http://schemas.openxmlformats.org/drawingml/2006/main"/>
          <a:ln xmlns:a="http://schemas.openxmlformats.org/drawingml/2006/main" w="19050">
            <a:solidFill>
              <a:srgbClr val="17394C"/>
            </a:solidFill>
          </a:ln>
        </p:spPr>
      </p:sp>
      <p:sp>
        <p:nvSpPr>
          <p:cNvPr id="4" name="">
            <a:extLst xmlns:a="http://schemas.openxmlformats.org/drawingml/2006/main">
              <a:ext uri="{FF2B5EF4-FFF2-40B4-BE49-F238E27FC236}">
                <a16:creationId xmlns:a16="http://schemas.microsoft.com/office/drawing/2014/main" id="{44EB788C-F5C7-4DB5-8C8F-4E5EC0137B2F}"/>
              </a:ext>
            </a:extLst>
          </p:cNvPr>
          <p:cNvSpPr>
            <a:spLocks xmlns:a="http://schemas.openxmlformats.org/drawingml/2006/main" noGrp="1"/>
          </p:cNvSpPr>
          <p:nvPr/>
        </p:nvSpPr>
        <p:spPr>
          <a:xfrm xmlns:a="http://schemas.openxmlformats.org/drawingml/2006/main">
            <a:off x="514350" y="2343150"/>
            <a:ext cx="1762125" cy="1143000"/>
          </a:xfrm>
          <a:prstGeom xmlns:a="http://schemas.openxmlformats.org/drawingml/2006/main" prst="roundRect">
            <a:avLst>
              <a:gd name="adj" fmla="val 11667"/>
            </a:avLst>
          </a:prstGeom>
          <a:solidFill xmlns:a="http://schemas.openxmlformats.org/drawingml/2006/main">
            <a:srgbClr val="0C2435"/>
          </a:solidFill>
          <a:ln xmlns:a="http://schemas.openxmlformats.org/drawingml/2006/main" w="19050">
            <a:solidFill>
              <a:srgbClr val="24D6E5"/>
            </a:solidFill>
          </a:ln>
        </p:spPr>
        <p:txBody>
          <a:bodyPr xmlns:a="http://schemas.openxmlformats.org/drawingml/2006/main"/>
          <a:lstStyle xmlns:a="http://schemas.openxmlformats.org/drawingml/2006/main"/>
          <a:p xmlns:a="http://schemas.openxmlformats.org/drawingml/2006/main">
            <a:pPr algn="ctr">
              <a:defRPr sz="1275" b="1">
                <a:solidFill>
                  <a:srgbClr val="F7FBFD"/>
                </a:solidFill>
                <a:latin typeface="Arial"/>
                <a:ea typeface="Arial"/>
                <a:cs typeface="Arial"/>
              </a:defRPr>
            </a:pPr>
            <a:r>
              <a:rPr sz="1275" b="1">
                <a:solidFill>
                  <a:srgbClr val="F7FBFD"/>
                </a:solidFill>
                <a:latin typeface="Arial"/>
                <a:ea typeface="Arial"/>
                <a:cs typeface="Arial"/>
              </a:rPr>
              <a:t>1  NGFW signal</a:t>
            </a:r>
          </a:p>
        </p:txBody>
      </p:sp>
      <p:sp>
        <p:nvSpPr>
          <p:cNvPr id="5" name="">
            <a:extLst xmlns:a="http://schemas.openxmlformats.org/drawingml/2006/main">
              <a:ext uri="{FF2B5EF4-FFF2-40B4-BE49-F238E27FC236}">
                <a16:creationId xmlns:a16="http://schemas.microsoft.com/office/drawing/2014/main" id="{7B76D04C-8CB8-42B2-8896-06ECA5C297DA}"/>
              </a:ext>
            </a:extLst>
          </p:cNvPr>
          <p:cNvSpPr>
            <a:spLocks xmlns:a="http://schemas.openxmlformats.org/drawingml/2006/main" noGrp="1"/>
          </p:cNvSpPr>
          <p:nvPr/>
        </p:nvSpPr>
        <p:spPr>
          <a:xfrm xmlns:a="http://schemas.openxmlformats.org/drawingml/2006/main">
            <a:off x="561975" y="3714750"/>
            <a:ext cx="1666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defRPr sz="1200" b="0">
                <a:solidFill>
                  <a:srgbClr val="D7E5EC"/>
                </a:solidFill>
                <a:latin typeface="Arial"/>
                <a:ea typeface="Arial"/>
                <a:cs typeface="Arial"/>
              </a:defRPr>
            </a:pPr>
            <a:r>
              <a:rPr sz="1200" b="0">
                <a:solidFill>
                  <a:srgbClr val="D7E5EC"/>
                </a:solidFill>
                <a:latin typeface="Arial"/>
                <a:ea typeface="Arial"/>
                <a:cs typeface="Arial"/>
              </a:rPr>
              <a:t>Rare or watchlisted TLS fingerprint</a:t>
            </a:r>
          </a:p>
        </p:txBody>
      </p:sp>
      <p:sp>
        <p:nvSpPr>
          <p:cNvPr id="6" name="">
            <a:extLst xmlns:a="http://schemas.openxmlformats.org/drawingml/2006/main">
              <a:ext uri="{FF2B5EF4-FFF2-40B4-BE49-F238E27FC236}">
                <a16:creationId xmlns:a16="http://schemas.microsoft.com/office/drawing/2014/main" id="{E5B892BE-C16F-4BDE-81A1-E364AD133D22}"/>
              </a:ext>
            </a:extLst>
          </p:cNvPr>
          <p:cNvSpPr>
            <a:spLocks xmlns:a="http://schemas.openxmlformats.org/drawingml/2006/main" noGrp="1"/>
          </p:cNvSpPr>
          <p:nvPr/>
        </p:nvSpPr>
        <p:spPr>
          <a:xfrm xmlns:a="http://schemas.openxmlformats.org/drawingml/2006/main">
            <a:off x="2724150" y="2343150"/>
            <a:ext cx="1762125" cy="1143000"/>
          </a:xfrm>
          <a:prstGeom xmlns:a="http://schemas.openxmlformats.org/drawingml/2006/main" prst="roundRect">
            <a:avLst>
              <a:gd name="adj" fmla="val 11667"/>
            </a:avLst>
          </a:prstGeom>
          <a:solidFill xmlns:a="http://schemas.openxmlformats.org/drawingml/2006/main">
            <a:srgbClr val="0C2435"/>
          </a:solidFill>
          <a:ln xmlns:a="http://schemas.openxmlformats.org/drawingml/2006/main" w="19050">
            <a:solidFill>
              <a:srgbClr val="24D6E5"/>
            </a:solidFill>
          </a:ln>
        </p:spPr>
        <p:txBody>
          <a:bodyPr xmlns:a="http://schemas.openxmlformats.org/drawingml/2006/main"/>
          <a:lstStyle xmlns:a="http://schemas.openxmlformats.org/drawingml/2006/main"/>
          <a:p xmlns:a="http://schemas.openxmlformats.org/drawingml/2006/main">
            <a:pPr algn="ctr">
              <a:defRPr sz="1275" b="1">
                <a:solidFill>
                  <a:srgbClr val="F7FBFD"/>
                </a:solidFill>
                <a:latin typeface="Arial"/>
                <a:ea typeface="Arial"/>
                <a:cs typeface="Arial"/>
              </a:defRPr>
            </a:pPr>
            <a:r>
              <a:rPr sz="1275" b="1">
                <a:solidFill>
                  <a:srgbClr val="F7FBFD"/>
                </a:solidFill>
                <a:latin typeface="Arial"/>
                <a:ea typeface="Arial"/>
                <a:cs typeface="Arial"/>
              </a:rPr>
              <a:t>2  Endpoint join</a:t>
            </a:r>
          </a:p>
        </p:txBody>
      </p:sp>
      <p:sp>
        <p:nvSpPr>
          <p:cNvPr id="7" name="">
            <a:extLst xmlns:a="http://schemas.openxmlformats.org/drawingml/2006/main">
              <a:ext uri="{FF2B5EF4-FFF2-40B4-BE49-F238E27FC236}">
                <a16:creationId xmlns:a16="http://schemas.microsoft.com/office/drawing/2014/main" id="{FBAC7DCE-1FBB-4DE6-A838-9870C3F2E4FC}"/>
              </a:ext>
            </a:extLst>
          </p:cNvPr>
          <p:cNvSpPr>
            <a:spLocks xmlns:a="http://schemas.openxmlformats.org/drawingml/2006/main" noGrp="1"/>
          </p:cNvSpPr>
          <p:nvPr/>
        </p:nvSpPr>
        <p:spPr>
          <a:xfrm xmlns:a="http://schemas.openxmlformats.org/drawingml/2006/main">
            <a:off x="2771775" y="3714750"/>
            <a:ext cx="1666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defRPr sz="1200" b="0">
                <a:solidFill>
                  <a:srgbClr val="D7E5EC"/>
                </a:solidFill>
                <a:latin typeface="Arial"/>
                <a:ea typeface="Arial"/>
                <a:cs typeface="Arial"/>
              </a:defRPr>
            </a:pPr>
            <a:r>
              <a:rPr sz="1200" b="0">
                <a:solidFill>
                  <a:srgbClr val="D7E5EC"/>
                </a:solidFill>
                <a:latin typeface="Arial"/>
                <a:ea typeface="Arial"/>
                <a:cs typeface="Arial"/>
              </a:rPr>
              <a:t>Source connection mapped to a process</a:t>
            </a:r>
          </a:p>
        </p:txBody>
      </p:sp>
      <p:cxnSp>
        <p:nvCxnSpPr>
          <p:cNvPr id="29" name=""/>
          <p:cNvCxnSpPr>
            <a:stCxn xmlns:a="http://schemas.openxmlformats.org/drawingml/2006/main" id="4" idx="3"/>
            <a:endCxn xmlns:a="http://schemas.openxmlformats.org/drawingml/2006/main" id="6" idx="1"/>
          </p:cNvCxnSpPr>
          <p:nvPr/>
        </p:nvCxnSpPr>
        <p:spPr>
          <a:xfrm xmlns:a="http://schemas.openxmlformats.org/drawingml/2006/main">
            <a:off x="2276475" y="2914650"/>
            <a:ext cx="447675" cy="0"/>
          </a:xfrm>
          <a:prstGeom xmlns:a="http://schemas.openxmlformats.org/drawingml/2006/main" prst="straightConnector1">
            <a:avLst/>
          </a:prstGeom>
          <a:ln xmlns:a="http://schemas.openxmlformats.org/drawingml/2006/main" w="23813">
            <a:solidFill>
              <a:srgbClr val="24D6E5"/>
            </a:solidFill>
            <a:tailEnd type="triangle" w="sm" len="sm"/>
          </a:ln>
        </p:spPr>
      </p:cxnSp>
      <p:sp>
        <p:nvSpPr>
          <p:cNvPr id="9" name="">
            <a:extLst xmlns:a="http://schemas.openxmlformats.org/drawingml/2006/main">
              <a:ext uri="{FF2B5EF4-FFF2-40B4-BE49-F238E27FC236}">
                <a16:creationId xmlns:a16="http://schemas.microsoft.com/office/drawing/2014/main" id="{6B841429-550F-409E-8934-871E592AD431}"/>
              </a:ext>
            </a:extLst>
          </p:cNvPr>
          <p:cNvSpPr>
            <a:spLocks xmlns:a="http://schemas.openxmlformats.org/drawingml/2006/main" noGrp="1"/>
          </p:cNvSpPr>
          <p:nvPr/>
        </p:nvSpPr>
        <p:spPr>
          <a:xfrm xmlns:a="http://schemas.openxmlformats.org/drawingml/2006/main">
            <a:off x="4933950" y="2343150"/>
            <a:ext cx="1762125" cy="1143000"/>
          </a:xfrm>
          <a:prstGeom xmlns:a="http://schemas.openxmlformats.org/drawingml/2006/main" prst="roundRect">
            <a:avLst>
              <a:gd name="adj" fmla="val 11667"/>
            </a:avLst>
          </a:prstGeom>
          <a:solidFill xmlns:a="http://schemas.openxmlformats.org/drawingml/2006/main">
            <a:srgbClr val="0C2435"/>
          </a:solidFill>
          <a:ln xmlns:a="http://schemas.openxmlformats.org/drawingml/2006/main" w="19050">
            <a:solidFill>
              <a:srgbClr val="24D6E5"/>
            </a:solidFill>
          </a:ln>
        </p:spPr>
        <p:txBody>
          <a:bodyPr xmlns:a="http://schemas.openxmlformats.org/drawingml/2006/main"/>
          <a:lstStyle xmlns:a="http://schemas.openxmlformats.org/drawingml/2006/main"/>
          <a:p xmlns:a="http://schemas.openxmlformats.org/drawingml/2006/main">
            <a:pPr algn="ctr">
              <a:defRPr sz="1275" b="1">
                <a:solidFill>
                  <a:srgbClr val="F7FBFD"/>
                </a:solidFill>
                <a:latin typeface="Arial"/>
                <a:ea typeface="Arial"/>
                <a:cs typeface="Arial"/>
              </a:defRPr>
            </a:pPr>
            <a:r>
              <a:rPr sz="1275" b="1">
                <a:solidFill>
                  <a:srgbClr val="F7FBFD"/>
                </a:solidFill>
                <a:latin typeface="Arial"/>
                <a:ea typeface="Arial"/>
                <a:cs typeface="Arial"/>
              </a:rPr>
              <a:t>3  Risk enrichment</a:t>
            </a:r>
          </a:p>
        </p:txBody>
      </p:sp>
      <p:sp>
        <p:nvSpPr>
          <p:cNvPr id="10" name="">
            <a:extLst xmlns:a="http://schemas.openxmlformats.org/drawingml/2006/main">
              <a:ext uri="{FF2B5EF4-FFF2-40B4-BE49-F238E27FC236}">
                <a16:creationId xmlns:a16="http://schemas.microsoft.com/office/drawing/2014/main" id="{A2243234-F71D-428D-AAB1-CCB5BDDD1A23}"/>
              </a:ext>
            </a:extLst>
          </p:cNvPr>
          <p:cNvSpPr>
            <a:spLocks xmlns:a="http://schemas.openxmlformats.org/drawingml/2006/main" noGrp="1"/>
          </p:cNvSpPr>
          <p:nvPr/>
        </p:nvSpPr>
        <p:spPr>
          <a:xfrm xmlns:a="http://schemas.openxmlformats.org/drawingml/2006/main">
            <a:off x="4981575" y="3714750"/>
            <a:ext cx="1666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defRPr sz="1200" b="0">
                <a:solidFill>
                  <a:srgbClr val="D7E5EC"/>
                </a:solidFill>
                <a:latin typeface="Arial"/>
                <a:ea typeface="Arial"/>
                <a:cs typeface="Arial"/>
              </a:defRPr>
            </a:pPr>
            <a:r>
              <a:rPr sz="1200" b="0">
                <a:solidFill>
                  <a:srgbClr val="D7E5EC"/>
                </a:solidFill>
                <a:latin typeface="Arial"/>
                <a:ea typeface="Arial"/>
                <a:cs typeface="Arial"/>
              </a:rPr>
              <a:t>Signer, device state, and asset context</a:t>
            </a:r>
          </a:p>
        </p:txBody>
      </p:sp>
      <p:cxnSp>
        <p:nvCxnSpPr>
          <p:cNvPr id="32" name=""/>
          <p:cNvCxnSpPr>
            <a:stCxn xmlns:a="http://schemas.openxmlformats.org/drawingml/2006/main" id="6" idx="3"/>
            <a:endCxn xmlns:a="http://schemas.openxmlformats.org/drawingml/2006/main" id="9" idx="1"/>
          </p:cNvCxnSpPr>
          <p:nvPr/>
        </p:nvCxnSpPr>
        <p:spPr>
          <a:xfrm xmlns:a="http://schemas.openxmlformats.org/drawingml/2006/main">
            <a:off x="4486275" y="2914650"/>
            <a:ext cx="447675" cy="0"/>
          </a:xfrm>
          <a:prstGeom xmlns:a="http://schemas.openxmlformats.org/drawingml/2006/main" prst="straightConnector1">
            <a:avLst/>
          </a:prstGeom>
          <a:ln xmlns:a="http://schemas.openxmlformats.org/drawingml/2006/main" w="23813">
            <a:solidFill>
              <a:srgbClr val="24D6E5"/>
            </a:solidFill>
            <a:tailEnd type="triangle" w="sm" len="sm"/>
          </a:ln>
        </p:spPr>
      </p:cxnSp>
      <p:sp>
        <p:nvSpPr>
          <p:cNvPr id="12" name="">
            <a:extLst xmlns:a="http://schemas.openxmlformats.org/drawingml/2006/main">
              <a:ext uri="{FF2B5EF4-FFF2-40B4-BE49-F238E27FC236}">
                <a16:creationId xmlns:a16="http://schemas.microsoft.com/office/drawing/2014/main" id="{88A88CD7-876F-44ED-B67E-BD7D64D88D15}"/>
              </a:ext>
            </a:extLst>
          </p:cNvPr>
          <p:cNvSpPr>
            <a:spLocks xmlns:a="http://schemas.openxmlformats.org/drawingml/2006/main" noGrp="1"/>
          </p:cNvSpPr>
          <p:nvPr/>
        </p:nvSpPr>
        <p:spPr>
          <a:xfrm xmlns:a="http://schemas.openxmlformats.org/drawingml/2006/main">
            <a:off x="7143750" y="2343150"/>
            <a:ext cx="1762125" cy="1143000"/>
          </a:xfrm>
          <a:prstGeom xmlns:a="http://schemas.openxmlformats.org/drawingml/2006/main" prst="roundRect">
            <a:avLst>
              <a:gd name="adj" fmla="val 11667"/>
            </a:avLst>
          </a:prstGeom>
          <a:solidFill xmlns:a="http://schemas.openxmlformats.org/drawingml/2006/main">
            <a:srgbClr val="0C2435"/>
          </a:solidFill>
          <a:ln xmlns:a="http://schemas.openxmlformats.org/drawingml/2006/main" w="19050">
            <a:solidFill>
              <a:srgbClr val="FFB547"/>
            </a:solidFill>
          </a:ln>
        </p:spPr>
        <p:txBody>
          <a:bodyPr xmlns:a="http://schemas.openxmlformats.org/drawingml/2006/main"/>
          <a:lstStyle xmlns:a="http://schemas.openxmlformats.org/drawingml/2006/main"/>
          <a:p xmlns:a="http://schemas.openxmlformats.org/drawingml/2006/main">
            <a:pPr algn="ctr">
              <a:defRPr sz="1275" b="1">
                <a:solidFill>
                  <a:srgbClr val="F7FBFD"/>
                </a:solidFill>
                <a:latin typeface="Arial"/>
                <a:ea typeface="Arial"/>
                <a:cs typeface="Arial"/>
              </a:defRPr>
            </a:pPr>
            <a:r>
              <a:rPr sz="1275" b="1">
                <a:solidFill>
                  <a:srgbClr val="F7FBFD"/>
                </a:solidFill>
                <a:latin typeface="Arial"/>
                <a:ea typeface="Arial"/>
                <a:cs typeface="Arial"/>
              </a:rPr>
              <a:t>4  Analyst alert</a:t>
            </a:r>
          </a:p>
        </p:txBody>
      </p:sp>
      <p:sp>
        <p:nvSpPr>
          <p:cNvPr id="13" name="">
            <a:extLst xmlns:a="http://schemas.openxmlformats.org/drawingml/2006/main">
              <a:ext uri="{FF2B5EF4-FFF2-40B4-BE49-F238E27FC236}">
                <a16:creationId xmlns:a16="http://schemas.microsoft.com/office/drawing/2014/main" id="{DD7F54FD-6C8B-4965-B3E0-2ABE82E00561}"/>
              </a:ext>
            </a:extLst>
          </p:cNvPr>
          <p:cNvSpPr>
            <a:spLocks xmlns:a="http://schemas.openxmlformats.org/drawingml/2006/main" noGrp="1"/>
          </p:cNvSpPr>
          <p:nvPr/>
        </p:nvSpPr>
        <p:spPr>
          <a:xfrm xmlns:a="http://schemas.openxmlformats.org/drawingml/2006/main">
            <a:off x="7191375" y="3714750"/>
            <a:ext cx="1666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defRPr sz="1200" b="0">
                <a:solidFill>
                  <a:srgbClr val="D7E5EC"/>
                </a:solidFill>
                <a:latin typeface="Arial"/>
                <a:ea typeface="Arial"/>
                <a:cs typeface="Arial"/>
              </a:defRPr>
            </a:pPr>
            <a:r>
              <a:rPr sz="1200" b="0">
                <a:solidFill>
                  <a:srgbClr val="D7E5EC"/>
                </a:solidFill>
                <a:latin typeface="Arial"/>
                <a:ea typeface="Arial"/>
                <a:cs typeface="Arial"/>
              </a:rPr>
              <a:t>Evidence and confidence in one record</a:t>
            </a:r>
          </a:p>
        </p:txBody>
      </p:sp>
      <p:cxnSp>
        <p:nvCxnSpPr>
          <p:cNvPr id="35" name=""/>
          <p:cNvCxnSpPr>
            <a:stCxn xmlns:a="http://schemas.openxmlformats.org/drawingml/2006/main" id="9" idx="3"/>
            <a:endCxn xmlns:a="http://schemas.openxmlformats.org/drawingml/2006/main" id="12" idx="1"/>
          </p:cNvCxnSpPr>
          <p:nvPr/>
        </p:nvCxnSpPr>
        <p:spPr>
          <a:xfrm xmlns:a="http://schemas.openxmlformats.org/drawingml/2006/main">
            <a:off x="6696075" y="2914650"/>
            <a:ext cx="447675" cy="0"/>
          </a:xfrm>
          <a:prstGeom xmlns:a="http://schemas.openxmlformats.org/drawingml/2006/main" prst="straightConnector1">
            <a:avLst/>
          </a:prstGeom>
          <a:ln xmlns:a="http://schemas.openxmlformats.org/drawingml/2006/main" w="23813">
            <a:solidFill>
              <a:srgbClr val="24D6E5"/>
            </a:solidFill>
            <a:tailEnd type="triangle" w="sm" len="sm"/>
          </a:ln>
        </p:spPr>
      </p:cxnSp>
      <p:sp>
        <p:nvSpPr>
          <p:cNvPr id="15" name="">
            <a:extLst xmlns:a="http://schemas.openxmlformats.org/drawingml/2006/main">
              <a:ext uri="{FF2B5EF4-FFF2-40B4-BE49-F238E27FC236}">
                <a16:creationId xmlns:a16="http://schemas.microsoft.com/office/drawing/2014/main" id="{1EE82642-7B26-4166-84C2-46277672E273}"/>
              </a:ext>
            </a:extLst>
          </p:cNvPr>
          <p:cNvSpPr>
            <a:spLocks xmlns:a="http://schemas.openxmlformats.org/drawingml/2006/main" noGrp="1"/>
          </p:cNvSpPr>
          <p:nvPr/>
        </p:nvSpPr>
        <p:spPr>
          <a:xfrm xmlns:a="http://schemas.openxmlformats.org/drawingml/2006/main">
            <a:off x="9486900" y="1943100"/>
            <a:ext cx="2038350" cy="2857500"/>
          </a:xfrm>
          <a:prstGeom xmlns:a="http://schemas.openxmlformats.org/drawingml/2006/main" prst="roundRect">
            <a:avLst>
              <a:gd name="adj" fmla="val 8411"/>
            </a:avLst>
          </a:prstGeom>
          <a:solidFill xmlns:a="http://schemas.openxmlformats.org/drawingml/2006/main">
            <a:srgbClr val="0C2435"/>
          </a:solidFill>
          <a:ln xmlns:a="http://schemas.openxmlformats.org/drawingml/2006/main" w="14288">
            <a:solidFill>
              <a:srgbClr val="17394C"/>
            </a:solidFill>
          </a:ln>
        </p:spPr>
      </p:sp>
      <p:sp>
        <p:nvSpPr>
          <p:cNvPr id="16" name="">
            <a:extLst xmlns:a="http://schemas.openxmlformats.org/drawingml/2006/main">
              <a:ext uri="{FF2B5EF4-FFF2-40B4-BE49-F238E27FC236}">
                <a16:creationId xmlns:a16="http://schemas.microsoft.com/office/drawing/2014/main" id="{D96F3AEA-1998-472F-AC88-5D171448AE09}"/>
              </a:ext>
            </a:extLst>
          </p:cNvPr>
          <p:cNvSpPr>
            <a:spLocks xmlns:a="http://schemas.openxmlformats.org/drawingml/2006/main" noGrp="1"/>
          </p:cNvSpPr>
          <p:nvPr/>
        </p:nvSpPr>
        <p:spPr>
          <a:xfrm xmlns:a="http://schemas.openxmlformats.org/drawingml/2006/main">
            <a:off x="9486900" y="1943100"/>
            <a:ext cx="66675" cy="2857500"/>
          </a:xfrm>
          <a:prstGeom xmlns:a="http://schemas.openxmlformats.org/drawingml/2006/main" prst="rect">
            <a:avLst/>
          </a:prstGeom>
          <a:solidFill xmlns:a="http://schemas.openxmlformats.org/drawingml/2006/main">
            <a:srgbClr val="FFB547"/>
          </a:solidFill>
          <a:ln xmlns:a="http://schemas.openxmlformats.org/drawingml/2006/main" w="0">
            <a:solidFill>
              <a:srgbClr val="FFB547"/>
            </a:solidFill>
          </a:ln>
        </p:spPr>
      </p:sp>
      <p:sp>
        <p:nvSpPr>
          <p:cNvPr id="17" name="">
            <a:extLst xmlns:a="http://schemas.openxmlformats.org/drawingml/2006/main">
              <a:ext uri="{FF2B5EF4-FFF2-40B4-BE49-F238E27FC236}">
                <a16:creationId xmlns:a16="http://schemas.microsoft.com/office/drawing/2014/main" id="{F5949233-CBCB-4F1D-BCB7-4E2FB9470A50}"/>
              </a:ext>
            </a:extLst>
          </p:cNvPr>
          <p:cNvSpPr>
            <a:spLocks xmlns:a="http://schemas.openxmlformats.org/drawingml/2006/main" noGrp="1"/>
          </p:cNvSpPr>
          <p:nvPr/>
        </p:nvSpPr>
        <p:spPr>
          <a:xfrm xmlns:a="http://schemas.openxmlformats.org/drawingml/2006/main">
            <a:off x="9715500" y="2133600"/>
            <a:ext cx="158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500" b="1">
                <a:solidFill>
                  <a:srgbClr val="F7FBFD"/>
                </a:solidFill>
                <a:latin typeface="Arial"/>
                <a:ea typeface="Arial"/>
                <a:cs typeface="Arial"/>
              </a:defRPr>
            </a:pPr>
            <a:r>
              <a:rPr sz="1500" b="1">
                <a:solidFill>
                  <a:srgbClr val="F7FBFD"/>
                </a:solidFill>
                <a:latin typeface="Arial"/>
                <a:ea typeface="Arial"/>
                <a:cs typeface="Arial"/>
              </a:rPr>
              <a:t>Severity logic</a:t>
            </a:r>
          </a:p>
        </p:txBody>
      </p:sp>
      <p:sp>
        <p:nvSpPr>
          <p:cNvPr id="18" name="">
            <a:extLst xmlns:a="http://schemas.openxmlformats.org/drawingml/2006/main">
              <a:ext uri="{FF2B5EF4-FFF2-40B4-BE49-F238E27FC236}">
                <a16:creationId xmlns:a16="http://schemas.microsoft.com/office/drawing/2014/main" id="{1FF45054-9DF5-487C-8102-39F1CF1C6B20}"/>
              </a:ext>
            </a:extLst>
          </p:cNvPr>
          <p:cNvSpPr>
            <a:spLocks xmlns:a="http://schemas.openxmlformats.org/drawingml/2006/main" noGrp="1"/>
          </p:cNvSpPr>
          <p:nvPr/>
        </p:nvSpPr>
        <p:spPr>
          <a:xfrm xmlns:a="http://schemas.openxmlformats.org/drawingml/2006/main">
            <a:off x="9715500" y="2533650"/>
            <a:ext cx="1581150" cy="211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200" b="0">
                <a:solidFill>
                  <a:srgbClr val="D7E5EC"/>
                </a:solidFill>
                <a:latin typeface="Arial"/>
                <a:ea typeface="Arial"/>
                <a:cs typeface="Arial"/>
              </a:defRPr>
            </a:pPr>
            <a:r>
              <a:rPr sz="1200" b="0">
                <a:solidFill>
                  <a:srgbClr val="D7E5EC"/>
                </a:solidFill>
                <a:latin typeface="Arial"/>
                <a:ea typeface="Arial"/>
                <a:cs typeface="Arial"/>
              </a:rPr>
              <a:t>Higher risk</a:t>
            </a:r>
          </a:p>
          <a:p xmlns:a="http://schemas.openxmlformats.org/drawingml/2006/main">
            <a:pPr algn="l">
              <a:defRPr sz="1200" b="0">
                <a:solidFill>
                  <a:srgbClr val="D7E5EC"/>
                </a:solidFill>
                <a:latin typeface="Arial"/>
                <a:ea typeface="Arial"/>
                <a:cs typeface="Arial"/>
              </a:defRPr>
            </a:pPr>
            <a:r>
              <a:rPr sz="1200" b="0">
                <a:solidFill>
                  <a:srgbClr val="D7E5EC"/>
                </a:solidFill>
                <a:latin typeface="Arial"/>
                <a:ea typeface="Arial"/>
                <a:cs typeface="Arial"/>
              </a:rPr>
              <a:t>Unsigned process</a:t>
            </a:r>
          </a:p>
          <a:p xmlns:a="http://schemas.openxmlformats.org/drawingml/2006/main">
            <a:pPr algn="l">
              <a:defRPr sz="1200" b="0">
                <a:solidFill>
                  <a:srgbClr val="D7E5EC"/>
                </a:solidFill>
                <a:latin typeface="Arial"/>
                <a:ea typeface="Arial"/>
                <a:cs typeface="Arial"/>
              </a:defRPr>
            </a:pPr>
            <a:r>
              <a:rPr sz="1200" b="0">
                <a:solidFill>
                  <a:srgbClr val="D7E5EC"/>
                </a:solidFill>
                <a:latin typeface="Arial"/>
                <a:ea typeface="Arial"/>
                <a:cs typeface="Arial"/>
              </a:rPr>
              <a:t>Unmanaged device</a:t>
            </a:r>
          </a:p>
          <a:p xmlns:a="http://schemas.openxmlformats.org/drawingml/2006/main">
            <a:pPr algn="l">
              <a:defRPr sz="1200" b="0">
                <a:solidFill>
                  <a:srgbClr val="D7E5EC"/>
                </a:solidFill>
                <a:latin typeface="Arial"/>
                <a:ea typeface="Arial"/>
                <a:cs typeface="Arial"/>
              </a:defRPr>
            </a:pPr>
            <a:r>
              <a:rPr sz="1200" b="0">
                <a:solidFill>
                  <a:srgbClr val="D7E5EC"/>
                </a:solidFill>
                <a:latin typeface="Arial"/>
                <a:ea typeface="Arial"/>
                <a:cs typeface="Arial"/>
              </a:rPr>
              <a:t>Critical asset</a:t>
            </a:r>
          </a:p>
          <a:p xmlns:a="http://schemas.openxmlformats.org/drawingml/2006/main">
            <a:r>
              <a:t/>
            </a:r>
          </a:p>
          <a:p xmlns:a="http://schemas.openxmlformats.org/drawingml/2006/main">
            <a:pPr algn="l">
              <a:defRPr sz="1200" b="0">
                <a:solidFill>
                  <a:srgbClr val="D7E5EC"/>
                </a:solidFill>
                <a:latin typeface="Arial"/>
                <a:ea typeface="Arial"/>
                <a:cs typeface="Arial"/>
              </a:defRPr>
            </a:pPr>
            <a:r>
              <a:rPr sz="1200" b="0">
                <a:solidFill>
                  <a:srgbClr val="D7E5EC"/>
                </a:solidFill>
                <a:latin typeface="Arial"/>
                <a:ea typeface="Arial"/>
                <a:cs typeface="Arial"/>
              </a:rPr>
              <a:t>Lower risk</a:t>
            </a:r>
          </a:p>
          <a:p xmlns:a="http://schemas.openxmlformats.org/drawingml/2006/main">
            <a:pPr algn="l">
              <a:defRPr sz="1200" b="0">
                <a:solidFill>
                  <a:srgbClr val="D7E5EC"/>
                </a:solidFill>
                <a:latin typeface="Arial"/>
                <a:ea typeface="Arial"/>
                <a:cs typeface="Arial"/>
              </a:defRPr>
            </a:pPr>
            <a:r>
              <a:rPr sz="1200" b="0">
                <a:solidFill>
                  <a:srgbClr val="D7E5EC"/>
                </a:solidFill>
                <a:latin typeface="Arial"/>
                <a:ea typeface="Arial"/>
                <a:cs typeface="Arial"/>
              </a:rPr>
              <a:t>Approved signer</a:t>
            </a:r>
          </a:p>
          <a:p xmlns:a="http://schemas.openxmlformats.org/drawingml/2006/main">
            <a:pPr algn="l">
              <a:defRPr sz="1200" b="0">
                <a:solidFill>
                  <a:srgbClr val="D7E5EC"/>
                </a:solidFill>
                <a:latin typeface="Arial"/>
                <a:ea typeface="Arial"/>
                <a:cs typeface="Arial"/>
              </a:defRPr>
            </a:pPr>
            <a:r>
              <a:rPr sz="1200" b="0">
                <a:solidFill>
                  <a:srgbClr val="D7E5EC"/>
                </a:solidFill>
                <a:latin typeface="Arial"/>
                <a:ea typeface="Arial"/>
                <a:cs typeface="Arial"/>
              </a:rPr>
              <a:t>Common process</a:t>
            </a:r>
          </a:p>
          <a:p xmlns:a="http://schemas.openxmlformats.org/drawingml/2006/main">
            <a:pPr algn="l">
              <a:defRPr sz="1200" b="0">
                <a:solidFill>
                  <a:srgbClr val="D7E5EC"/>
                </a:solidFill>
                <a:latin typeface="Arial"/>
                <a:ea typeface="Arial"/>
                <a:cs typeface="Arial"/>
              </a:defRPr>
            </a:pPr>
            <a:r>
              <a:rPr sz="1200" b="0">
                <a:solidFill>
                  <a:srgbClr val="D7E5EC"/>
                </a:solidFill>
                <a:latin typeface="Arial"/>
                <a:ea typeface="Arial"/>
                <a:cs typeface="Arial"/>
              </a:rPr>
              <a:t>Expected destination</a:t>
            </a:r>
          </a:p>
        </p:txBody>
      </p:sp>
      <p:sp>
        <p:nvSpPr>
          <p:cNvPr id="19" name="">
            <a:extLst xmlns:a="http://schemas.openxmlformats.org/drawingml/2006/main">
              <a:ext uri="{FF2B5EF4-FFF2-40B4-BE49-F238E27FC236}">
                <a16:creationId xmlns:a16="http://schemas.microsoft.com/office/drawing/2014/main" id="{D738E545-716C-4ED7-B15D-D4537EFB787E}"/>
              </a:ext>
            </a:extLst>
          </p:cNvPr>
          <p:cNvSpPr>
            <a:spLocks xmlns:a="http://schemas.openxmlformats.org/drawingml/2006/main" noGrp="1"/>
          </p:cNvSpPr>
          <p:nvPr/>
        </p:nvSpPr>
        <p:spPr>
          <a:xfrm xmlns:a="http://schemas.openxmlformats.org/drawingml/2006/main">
            <a:off x="1543050" y="52768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defRPr sz="1575" b="1">
                <a:solidFill>
                  <a:srgbClr val="F7FBFD"/>
                </a:solidFill>
                <a:latin typeface="Arial"/>
                <a:ea typeface="Arial"/>
                <a:cs typeface="Arial"/>
              </a:defRPr>
            </a:pPr>
            <a:r>
              <a:rPr sz="1575" b="1">
                <a:solidFill>
                  <a:srgbClr val="F7FBFD"/>
                </a:solidFill>
                <a:latin typeface="Arial"/>
                <a:ea typeface="Arial"/>
                <a:cs typeface="Arial"/>
              </a:rPr>
              <a:t>The fingerprint starts the investigation. Endpoint evidence determines whether the signal deserves priority.</a:t>
            </a:r>
          </a:p>
        </p:txBody>
      </p:sp>
      <p:sp>
        <p:nvSpPr>
          <p:cNvPr id="20" name="">
            <a:extLst xmlns:a="http://schemas.openxmlformats.org/drawingml/2006/main">
              <a:ext uri="{FF2B5EF4-FFF2-40B4-BE49-F238E27FC236}">
                <a16:creationId xmlns:a16="http://schemas.microsoft.com/office/drawing/2014/main" id="{E852BB94-4CD6-455F-A882-11F7B7CA8E6E}"/>
              </a:ext>
            </a:extLst>
          </p:cNvPr>
          <p:cNvSpPr>
            <a:spLocks xmlns:a="http://schemas.openxmlformats.org/drawingml/2006/main" noGrp="1"/>
          </p:cNvSpPr>
          <p:nvPr/>
        </p:nvSpPr>
        <p:spPr>
          <a:xfrm xmlns:a="http://schemas.openxmlformats.org/drawingml/2006/main">
            <a:off x="647700" y="6486525"/>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900" b="0">
                <a:solidFill>
                  <a:srgbClr val="8FA8B5"/>
                </a:solidFill>
                <a:latin typeface="Arial"/>
                <a:ea typeface="Arial"/>
                <a:cs typeface="Arial"/>
              </a:defRPr>
            </a:pPr>
            <a:r>
              <a:rPr sz="900" b="0">
                <a:solidFill>
                  <a:srgbClr val="8FA8B5"/>
                </a:solidFill>
                <a:latin typeface="Arial"/>
                <a:ea typeface="Arial"/>
                <a:cs typeface="Arial"/>
              </a:rPr>
              <a:t>Spyridon Grouztidis · Ioakeim Christaras</a:t>
            </a:r>
          </a:p>
        </p:txBody>
      </p:sp>
      <p:sp>
        <p:nvSpPr>
          <p:cNvPr id="21" name="">
            <a:extLst xmlns:a="http://schemas.openxmlformats.org/drawingml/2006/main">
              <a:ext uri="{FF2B5EF4-FFF2-40B4-BE49-F238E27FC236}">
                <a16:creationId xmlns:a16="http://schemas.microsoft.com/office/drawing/2014/main" id="{1248995B-B1BB-4F71-AA46-D5EAE1C1427E}"/>
              </a:ext>
            </a:extLst>
          </p:cNvPr>
          <p:cNvSpPr>
            <a:spLocks xmlns:a="http://schemas.openxmlformats.org/drawingml/2006/main" noGrp="1"/>
          </p:cNvSpPr>
          <p:nvPr/>
        </p:nvSpPr>
        <p:spPr>
          <a:xfrm xmlns:a="http://schemas.openxmlformats.org/drawingml/2006/main">
            <a:off x="10953750" y="6486525"/>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defRPr sz="900" b="1">
                <a:solidFill>
                  <a:srgbClr val="8FA8B5"/>
                </a:solidFill>
                <a:latin typeface="Arial"/>
                <a:ea typeface="Arial"/>
                <a:cs typeface="Arial"/>
              </a:defRPr>
            </a:pPr>
            <a:r>
              <a:rPr sz="900" b="1">
                <a:solidFill>
                  <a:srgbClr val="8FA8B5"/>
                </a:solidFill>
                <a:latin typeface="Arial"/>
                <a:ea typeface="Arial"/>
                <a:cs typeface="Arial"/>
              </a:rPr>
              <a:t>09</a:t>
            </a:r>
          </a:p>
        </p:txBody>
      </p:sp>
    </p:spTree>
    <p:extLst>
      <p:ext uri="{BB962C8B-B14F-4D97-AF65-F5344CB8AC3E}">
        <p14:creationId xmlns:p14="http://schemas.microsoft.com/office/powerpoint/2010/main" val="1217469902"/>
      </p:ext>
    </p:extLst>
  </p:cSld>
</p:sld>
</file>

<file path=ppt/slides/slide10.xml><?xml version="1.0" encoding="utf-8"?>
<p:sld xmlns:p="http://schemas.openxmlformats.org/presentationml/2006/main">
  <p:cSld>
    <p:bg>
      <p:bgPr>
        <a:solidFill xmlns:a="http://schemas.openxmlformats.org/drawingml/2006/main">
          <a:srgbClr val="071724"/>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AD33169-8A07-4E7F-B29E-1D81467715E6}"/>
              </a:ext>
            </a:extLst>
          </p:cNvPr>
          <p:cNvSpPr>
            <a:spLocks xmlns:a="http://schemas.openxmlformats.org/drawingml/2006/main" noGrp="1"/>
          </p:cNvSpPr>
          <p:nvPr/>
        </p:nvSpPr>
        <p:spPr>
          <a:xfrm xmlns:a="http://schemas.openxmlformats.org/drawingml/2006/main">
            <a:off x="647700" y="3619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975" b="1">
                <a:solidFill>
                  <a:srgbClr val="24D6E5"/>
                </a:solidFill>
                <a:latin typeface="Arial"/>
                <a:ea typeface="Arial"/>
                <a:cs typeface="Arial"/>
              </a:defRPr>
            </a:pPr>
            <a:r>
              <a:rPr sz="975" b="1">
                <a:solidFill>
                  <a:srgbClr val="24D6E5"/>
                </a:solidFill>
                <a:latin typeface="Arial"/>
                <a:ea typeface="Arial"/>
                <a:cs typeface="Arial"/>
              </a:rPr>
              <a:t>ENDPOINT-AWARE NGFW</a:t>
            </a:r>
          </a:p>
        </p:txBody>
      </p:sp>
      <p:sp>
        <p:nvSpPr>
          <p:cNvPr id="2" name="">
            <a:extLst xmlns:a="http://schemas.openxmlformats.org/drawingml/2006/main">
              <a:ext uri="{FF2B5EF4-FFF2-40B4-BE49-F238E27FC236}">
                <a16:creationId xmlns:a16="http://schemas.microsoft.com/office/drawing/2014/main" id="{8A84F54B-12EF-4E93-8789-0E4BA0A57FF9}"/>
              </a:ext>
            </a:extLst>
          </p:cNvPr>
          <p:cNvSpPr>
            <a:spLocks xmlns:a="http://schemas.openxmlformats.org/drawingml/2006/main" noGrp="1"/>
          </p:cNvSpPr>
          <p:nvPr/>
        </p:nvSpPr>
        <p:spPr>
          <a:xfrm xmlns:a="http://schemas.openxmlformats.org/drawingml/2006/main">
            <a:off x="647700" y="66675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325" b="1">
                <a:solidFill>
                  <a:srgbClr val="F7FBFD"/>
                </a:solidFill>
                <a:latin typeface="Arial"/>
                <a:ea typeface="Arial"/>
                <a:cs typeface="Arial"/>
              </a:defRPr>
            </a:pPr>
            <a:r>
              <a:rPr sz="2325" b="1">
                <a:solidFill>
                  <a:srgbClr val="F7FBFD"/>
                </a:solidFill>
                <a:latin typeface="Arial"/>
                <a:ea typeface="Arial"/>
                <a:cs typeface="Arial"/>
              </a:rPr>
              <a:t>Operational risks and required controls</a:t>
            </a:r>
          </a:p>
        </p:txBody>
      </p:sp>
      <p:sp>
        <p:nvSpPr>
          <p:cNvPr id="3" name="">
            <a:extLst xmlns:a="http://schemas.openxmlformats.org/drawingml/2006/main">
              <a:ext uri="{FF2B5EF4-FFF2-40B4-BE49-F238E27FC236}">
                <a16:creationId xmlns:a16="http://schemas.microsoft.com/office/drawing/2014/main" id="{7A234DD3-7555-47C6-996C-F60BD877EE1A}"/>
              </a:ext>
            </a:extLst>
          </p:cNvPr>
          <p:cNvSpPr>
            <a:spLocks xmlns:a="http://schemas.openxmlformats.org/drawingml/2006/main" noGrp="1"/>
          </p:cNvSpPr>
          <p:nvPr/>
        </p:nvSpPr>
        <p:spPr>
          <a:xfrm xmlns:a="http://schemas.openxmlformats.org/drawingml/2006/main">
            <a:off x="647700" y="1504950"/>
            <a:ext cx="10896600" cy="0"/>
          </a:xfrm>
          <a:prstGeom xmlns:a="http://schemas.openxmlformats.org/drawingml/2006/main" prst="line">
            <a:avLst/>
          </a:prstGeom>
          <a:noFill xmlns:a="http://schemas.openxmlformats.org/drawingml/2006/main"/>
          <a:ln xmlns:a="http://schemas.openxmlformats.org/drawingml/2006/main" w="19050">
            <a:solidFill>
              <a:srgbClr val="17394C"/>
            </a:solidFill>
          </a:ln>
        </p:spPr>
      </p:sp>
      <p:sp>
        <p:nvSpPr>
          <p:cNvPr id="4" name="">
            <a:extLst xmlns:a="http://schemas.openxmlformats.org/drawingml/2006/main">
              <a:ext uri="{FF2B5EF4-FFF2-40B4-BE49-F238E27FC236}">
                <a16:creationId xmlns:a16="http://schemas.microsoft.com/office/drawing/2014/main" id="{B325604A-7DB1-4AE9-90A0-1586D4FD0697}"/>
              </a:ext>
            </a:extLst>
          </p:cNvPr>
          <p:cNvSpPr>
            <a:spLocks xmlns:a="http://schemas.openxmlformats.org/drawingml/2006/main" noGrp="1"/>
          </p:cNvSpPr>
          <p:nvPr/>
        </p:nvSpPr>
        <p:spPr>
          <a:xfrm xmlns:a="http://schemas.openxmlformats.org/drawingml/2006/main">
            <a:off x="704850" y="1695450"/>
            <a:ext cx="4953000" cy="1600200"/>
          </a:xfrm>
          <a:prstGeom xmlns:a="http://schemas.openxmlformats.org/drawingml/2006/main" prst="roundRect">
            <a:avLst>
              <a:gd name="adj" fmla="val 10714"/>
            </a:avLst>
          </a:prstGeom>
          <a:solidFill xmlns:a="http://schemas.openxmlformats.org/drawingml/2006/main">
            <a:srgbClr val="0C2435"/>
          </a:solidFill>
          <a:ln xmlns:a="http://schemas.openxmlformats.org/drawingml/2006/main" w="14288">
            <a:solidFill>
              <a:srgbClr val="17394C"/>
            </a:solidFill>
          </a:ln>
        </p:spPr>
      </p:sp>
      <p:sp>
        <p:nvSpPr>
          <p:cNvPr id="5" name="">
            <a:extLst xmlns:a="http://schemas.openxmlformats.org/drawingml/2006/main">
              <a:ext uri="{FF2B5EF4-FFF2-40B4-BE49-F238E27FC236}">
                <a16:creationId xmlns:a16="http://schemas.microsoft.com/office/drawing/2014/main" id="{F17B7BA0-C8C9-47B6-A3C5-84A46DF6FFA9}"/>
              </a:ext>
            </a:extLst>
          </p:cNvPr>
          <p:cNvSpPr>
            <a:spLocks xmlns:a="http://schemas.openxmlformats.org/drawingml/2006/main" noGrp="1"/>
          </p:cNvSpPr>
          <p:nvPr/>
        </p:nvSpPr>
        <p:spPr>
          <a:xfrm xmlns:a="http://schemas.openxmlformats.org/drawingml/2006/main">
            <a:off x="704850" y="1695450"/>
            <a:ext cx="66675" cy="1600200"/>
          </a:xfrm>
          <a:prstGeom xmlns:a="http://schemas.openxmlformats.org/drawingml/2006/main" prst="rect">
            <a:avLst/>
          </a:prstGeom>
          <a:solidFill xmlns:a="http://schemas.openxmlformats.org/drawingml/2006/main">
            <a:srgbClr val="FF6B6B"/>
          </a:solidFill>
          <a:ln xmlns:a="http://schemas.openxmlformats.org/drawingml/2006/main" w="0">
            <a:solidFill>
              <a:srgbClr val="FF6B6B"/>
            </a:solidFill>
          </a:ln>
        </p:spPr>
      </p:sp>
      <p:sp>
        <p:nvSpPr>
          <p:cNvPr id="6" name="">
            <a:extLst xmlns:a="http://schemas.openxmlformats.org/drawingml/2006/main">
              <a:ext uri="{FF2B5EF4-FFF2-40B4-BE49-F238E27FC236}">
                <a16:creationId xmlns:a16="http://schemas.microsoft.com/office/drawing/2014/main" id="{9473652D-2B55-4415-81FA-A35B9F00D1CF}"/>
              </a:ext>
            </a:extLst>
          </p:cNvPr>
          <p:cNvSpPr>
            <a:spLocks xmlns:a="http://schemas.openxmlformats.org/drawingml/2006/main" noGrp="1"/>
          </p:cNvSpPr>
          <p:nvPr/>
        </p:nvSpPr>
        <p:spPr>
          <a:xfrm xmlns:a="http://schemas.openxmlformats.org/drawingml/2006/main">
            <a:off x="933450" y="1885950"/>
            <a:ext cx="449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500" b="1">
                <a:solidFill>
                  <a:srgbClr val="F7FBFD"/>
                </a:solidFill>
                <a:latin typeface="Arial"/>
                <a:ea typeface="Arial"/>
                <a:cs typeface="Arial"/>
              </a:defRPr>
            </a:pPr>
            <a:r>
              <a:rPr sz="1500" b="1">
                <a:solidFill>
                  <a:srgbClr val="F7FBFD"/>
                </a:solidFill>
                <a:latin typeface="Arial"/>
                <a:ea typeface="Arial"/>
                <a:cs typeface="Arial"/>
              </a:rPr>
              <a:t>Evasion and misattribution</a:t>
            </a:r>
          </a:p>
        </p:txBody>
      </p:sp>
      <p:sp>
        <p:nvSpPr>
          <p:cNvPr id="7" name="">
            <a:extLst xmlns:a="http://schemas.openxmlformats.org/drawingml/2006/main">
              <a:ext uri="{FF2B5EF4-FFF2-40B4-BE49-F238E27FC236}">
                <a16:creationId xmlns:a16="http://schemas.microsoft.com/office/drawing/2014/main" id="{D84F198B-3674-4286-8845-9522068357FF}"/>
              </a:ext>
            </a:extLst>
          </p:cNvPr>
          <p:cNvSpPr>
            <a:spLocks xmlns:a="http://schemas.openxmlformats.org/drawingml/2006/main" noGrp="1"/>
          </p:cNvSpPr>
          <p:nvPr/>
        </p:nvSpPr>
        <p:spPr>
          <a:xfrm xmlns:a="http://schemas.openxmlformats.org/drawingml/2006/main">
            <a:off x="933450" y="2286000"/>
            <a:ext cx="449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200" b="0">
                <a:solidFill>
                  <a:srgbClr val="D7E5EC"/>
                </a:solidFill>
                <a:latin typeface="Arial"/>
                <a:ea typeface="Arial"/>
                <a:cs typeface="Arial"/>
              </a:defRPr>
            </a:pPr>
            <a:r>
              <a:rPr sz="1200" b="0">
                <a:solidFill>
                  <a:srgbClr val="D7E5EC"/>
                </a:solidFill>
                <a:latin typeface="Arial"/>
                <a:ea typeface="Arial"/>
                <a:cs typeface="Arial"/>
              </a:rPr>
              <a:t>Fingerprints can collide or be imitated. Preserve raw evidence, use prevalence baselines, and avoid identity claims from a single network feature.</a:t>
            </a:r>
          </a:p>
        </p:txBody>
      </p:sp>
      <p:sp>
        <p:nvSpPr>
          <p:cNvPr id="8" name="">
            <a:extLst xmlns:a="http://schemas.openxmlformats.org/drawingml/2006/main">
              <a:ext uri="{FF2B5EF4-FFF2-40B4-BE49-F238E27FC236}">
                <a16:creationId xmlns:a16="http://schemas.microsoft.com/office/drawing/2014/main" id="{772E5000-2D7F-4978-9498-D2DDF331E8C3}"/>
              </a:ext>
            </a:extLst>
          </p:cNvPr>
          <p:cNvSpPr>
            <a:spLocks xmlns:a="http://schemas.openxmlformats.org/drawingml/2006/main" noGrp="1"/>
          </p:cNvSpPr>
          <p:nvPr/>
        </p:nvSpPr>
        <p:spPr>
          <a:xfrm xmlns:a="http://schemas.openxmlformats.org/drawingml/2006/main">
            <a:off x="6534150" y="1695450"/>
            <a:ext cx="4953000" cy="1600200"/>
          </a:xfrm>
          <a:prstGeom xmlns:a="http://schemas.openxmlformats.org/drawingml/2006/main" prst="roundRect">
            <a:avLst>
              <a:gd name="adj" fmla="val 10714"/>
            </a:avLst>
          </a:prstGeom>
          <a:solidFill xmlns:a="http://schemas.openxmlformats.org/drawingml/2006/main">
            <a:srgbClr val="0C2435"/>
          </a:solidFill>
          <a:ln xmlns:a="http://schemas.openxmlformats.org/drawingml/2006/main" w="14288">
            <a:solidFill>
              <a:srgbClr val="17394C"/>
            </a:solidFill>
          </a:ln>
        </p:spPr>
      </p:sp>
      <p:sp>
        <p:nvSpPr>
          <p:cNvPr id="9" name="">
            <a:extLst xmlns:a="http://schemas.openxmlformats.org/drawingml/2006/main">
              <a:ext uri="{FF2B5EF4-FFF2-40B4-BE49-F238E27FC236}">
                <a16:creationId xmlns:a16="http://schemas.microsoft.com/office/drawing/2014/main" id="{B1D73946-EC97-49EF-B6A7-E2402507595D}"/>
              </a:ext>
            </a:extLst>
          </p:cNvPr>
          <p:cNvSpPr>
            <a:spLocks xmlns:a="http://schemas.openxmlformats.org/drawingml/2006/main" noGrp="1"/>
          </p:cNvSpPr>
          <p:nvPr/>
        </p:nvSpPr>
        <p:spPr>
          <a:xfrm xmlns:a="http://schemas.openxmlformats.org/drawingml/2006/main">
            <a:off x="6534150" y="1695450"/>
            <a:ext cx="66675" cy="1600200"/>
          </a:xfrm>
          <a:prstGeom xmlns:a="http://schemas.openxmlformats.org/drawingml/2006/main" prst="rect">
            <a:avLst/>
          </a:prstGeom>
          <a:solidFill xmlns:a="http://schemas.openxmlformats.org/drawingml/2006/main">
            <a:srgbClr val="FFB547"/>
          </a:solidFill>
          <a:ln xmlns:a="http://schemas.openxmlformats.org/drawingml/2006/main" w="0">
            <a:solidFill>
              <a:srgbClr val="FFB547"/>
            </a:solidFill>
          </a:ln>
        </p:spPr>
      </p:sp>
      <p:sp>
        <p:nvSpPr>
          <p:cNvPr id="10" name="">
            <a:extLst xmlns:a="http://schemas.openxmlformats.org/drawingml/2006/main">
              <a:ext uri="{FF2B5EF4-FFF2-40B4-BE49-F238E27FC236}">
                <a16:creationId xmlns:a16="http://schemas.microsoft.com/office/drawing/2014/main" id="{CBE73990-0910-47FD-A6B1-C663DEDF99EC}"/>
              </a:ext>
            </a:extLst>
          </p:cNvPr>
          <p:cNvSpPr>
            <a:spLocks xmlns:a="http://schemas.openxmlformats.org/drawingml/2006/main" noGrp="1"/>
          </p:cNvSpPr>
          <p:nvPr/>
        </p:nvSpPr>
        <p:spPr>
          <a:xfrm xmlns:a="http://schemas.openxmlformats.org/drawingml/2006/main">
            <a:off x="6762750" y="1885950"/>
            <a:ext cx="449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500" b="1">
                <a:solidFill>
                  <a:srgbClr val="F7FBFD"/>
                </a:solidFill>
                <a:latin typeface="Arial"/>
                <a:ea typeface="Arial"/>
                <a:cs typeface="Arial"/>
              </a:defRPr>
            </a:pPr>
            <a:r>
              <a:rPr sz="1500" b="1">
                <a:solidFill>
                  <a:srgbClr val="F7FBFD"/>
                </a:solidFill>
                <a:latin typeface="Arial"/>
                <a:ea typeface="Arial"/>
                <a:cs typeface="Arial"/>
              </a:rPr>
              <a:t>Stale context</a:t>
            </a:r>
          </a:p>
        </p:txBody>
      </p:sp>
      <p:sp>
        <p:nvSpPr>
          <p:cNvPr id="11" name="">
            <a:extLst xmlns:a="http://schemas.openxmlformats.org/drawingml/2006/main">
              <a:ext uri="{FF2B5EF4-FFF2-40B4-BE49-F238E27FC236}">
                <a16:creationId xmlns:a16="http://schemas.microsoft.com/office/drawing/2014/main" id="{58E89F9F-A666-466B-BD5B-43F4CEF76155}"/>
              </a:ext>
            </a:extLst>
          </p:cNvPr>
          <p:cNvSpPr>
            <a:spLocks xmlns:a="http://schemas.openxmlformats.org/drawingml/2006/main" noGrp="1"/>
          </p:cNvSpPr>
          <p:nvPr/>
        </p:nvSpPr>
        <p:spPr>
          <a:xfrm xmlns:a="http://schemas.openxmlformats.org/drawingml/2006/main">
            <a:off x="6762750" y="2286000"/>
            <a:ext cx="449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200" b="0">
                <a:solidFill>
                  <a:srgbClr val="D7E5EC"/>
                </a:solidFill>
                <a:latin typeface="Arial"/>
                <a:ea typeface="Arial"/>
                <a:cs typeface="Arial"/>
              </a:defRPr>
            </a:pPr>
            <a:r>
              <a:rPr sz="1200" b="0">
                <a:solidFill>
                  <a:srgbClr val="D7E5EC"/>
                </a:solidFill>
                <a:latin typeface="Arial"/>
                <a:ea typeface="Arial"/>
                <a:cs typeface="Arial"/>
              </a:rPr>
              <a:t>CMDB records and scan results age. Timestamp assertions, set expiration thresholds, and define fallback policy when context is missing.</a:t>
            </a:r>
          </a:p>
        </p:txBody>
      </p:sp>
      <p:sp>
        <p:nvSpPr>
          <p:cNvPr id="12" name="">
            <a:extLst xmlns:a="http://schemas.openxmlformats.org/drawingml/2006/main">
              <a:ext uri="{FF2B5EF4-FFF2-40B4-BE49-F238E27FC236}">
                <a16:creationId xmlns:a16="http://schemas.microsoft.com/office/drawing/2014/main" id="{DB8F83B3-49E6-495D-8D22-6BA3F0C39DB2}"/>
              </a:ext>
            </a:extLst>
          </p:cNvPr>
          <p:cNvSpPr>
            <a:spLocks xmlns:a="http://schemas.openxmlformats.org/drawingml/2006/main" noGrp="1"/>
          </p:cNvSpPr>
          <p:nvPr/>
        </p:nvSpPr>
        <p:spPr>
          <a:xfrm xmlns:a="http://schemas.openxmlformats.org/drawingml/2006/main">
            <a:off x="704850" y="3695700"/>
            <a:ext cx="4953000" cy="1600200"/>
          </a:xfrm>
          <a:prstGeom xmlns:a="http://schemas.openxmlformats.org/drawingml/2006/main" prst="roundRect">
            <a:avLst>
              <a:gd name="adj" fmla="val 10714"/>
            </a:avLst>
          </a:prstGeom>
          <a:solidFill xmlns:a="http://schemas.openxmlformats.org/drawingml/2006/main">
            <a:srgbClr val="0C2435"/>
          </a:solidFill>
          <a:ln xmlns:a="http://schemas.openxmlformats.org/drawingml/2006/main" w="14288">
            <a:solidFill>
              <a:srgbClr val="17394C"/>
            </a:solidFill>
          </a:ln>
        </p:spPr>
      </p:sp>
      <p:sp>
        <p:nvSpPr>
          <p:cNvPr id="13" name="">
            <a:extLst xmlns:a="http://schemas.openxmlformats.org/drawingml/2006/main">
              <a:ext uri="{FF2B5EF4-FFF2-40B4-BE49-F238E27FC236}">
                <a16:creationId xmlns:a16="http://schemas.microsoft.com/office/drawing/2014/main" id="{1E0D1144-E02D-4BCD-BAA5-E705C67366D6}"/>
              </a:ext>
            </a:extLst>
          </p:cNvPr>
          <p:cNvSpPr>
            <a:spLocks xmlns:a="http://schemas.openxmlformats.org/drawingml/2006/main" noGrp="1"/>
          </p:cNvSpPr>
          <p:nvPr/>
        </p:nvSpPr>
        <p:spPr>
          <a:xfrm xmlns:a="http://schemas.openxmlformats.org/drawingml/2006/main">
            <a:off x="704850" y="3695700"/>
            <a:ext cx="66675" cy="1600200"/>
          </a:xfrm>
          <a:prstGeom xmlns:a="http://schemas.openxmlformats.org/drawingml/2006/main" prst="rect">
            <a:avLst/>
          </a:prstGeom>
          <a:solidFill xmlns:a="http://schemas.openxmlformats.org/drawingml/2006/main">
            <a:srgbClr val="FF6B6B"/>
          </a:solidFill>
          <a:ln xmlns:a="http://schemas.openxmlformats.org/drawingml/2006/main" w="0">
            <a:solidFill>
              <a:srgbClr val="FF6B6B"/>
            </a:solidFill>
          </a:ln>
        </p:spPr>
      </p:sp>
      <p:sp>
        <p:nvSpPr>
          <p:cNvPr id="14" name="">
            <a:extLst xmlns:a="http://schemas.openxmlformats.org/drawingml/2006/main">
              <a:ext uri="{FF2B5EF4-FFF2-40B4-BE49-F238E27FC236}">
                <a16:creationId xmlns:a16="http://schemas.microsoft.com/office/drawing/2014/main" id="{8789E753-B1B1-4EE5-AC33-F5C8E3A7BDD1}"/>
              </a:ext>
            </a:extLst>
          </p:cNvPr>
          <p:cNvSpPr>
            <a:spLocks xmlns:a="http://schemas.openxmlformats.org/drawingml/2006/main" noGrp="1"/>
          </p:cNvSpPr>
          <p:nvPr/>
        </p:nvSpPr>
        <p:spPr>
          <a:xfrm xmlns:a="http://schemas.openxmlformats.org/drawingml/2006/main">
            <a:off x="933450" y="3886200"/>
            <a:ext cx="449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500" b="1">
                <a:solidFill>
                  <a:srgbClr val="F7FBFD"/>
                </a:solidFill>
                <a:latin typeface="Arial"/>
                <a:ea typeface="Arial"/>
                <a:cs typeface="Arial"/>
              </a:defRPr>
            </a:pPr>
            <a:r>
              <a:rPr sz="1500" b="1">
                <a:solidFill>
                  <a:srgbClr val="F7FBFD"/>
                </a:solidFill>
                <a:latin typeface="Arial"/>
                <a:ea typeface="Arial"/>
                <a:cs typeface="Arial"/>
              </a:rPr>
              <a:t>Telemetry trust</a:t>
            </a:r>
          </a:p>
        </p:txBody>
      </p:sp>
      <p:sp>
        <p:nvSpPr>
          <p:cNvPr id="15" name="">
            <a:extLst xmlns:a="http://schemas.openxmlformats.org/drawingml/2006/main">
              <a:ext uri="{FF2B5EF4-FFF2-40B4-BE49-F238E27FC236}">
                <a16:creationId xmlns:a16="http://schemas.microsoft.com/office/drawing/2014/main" id="{D6A6C7AF-37F4-4BA8-92A7-4C6BDC0CDFA6}"/>
              </a:ext>
            </a:extLst>
          </p:cNvPr>
          <p:cNvSpPr>
            <a:spLocks xmlns:a="http://schemas.openxmlformats.org/drawingml/2006/main" noGrp="1"/>
          </p:cNvSpPr>
          <p:nvPr/>
        </p:nvSpPr>
        <p:spPr>
          <a:xfrm xmlns:a="http://schemas.openxmlformats.org/drawingml/2006/main">
            <a:off x="933450" y="4286250"/>
            <a:ext cx="449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200" b="0">
                <a:solidFill>
                  <a:srgbClr val="D7E5EC"/>
                </a:solidFill>
                <a:latin typeface="Arial"/>
                <a:ea typeface="Arial"/>
                <a:cs typeface="Arial"/>
              </a:defRPr>
            </a:pPr>
            <a:r>
              <a:rPr sz="1200" b="0">
                <a:solidFill>
                  <a:srgbClr val="D7E5EC"/>
                </a:solidFill>
                <a:latin typeface="Arial"/>
                <a:ea typeface="Arial"/>
                <a:cs typeface="Arial"/>
              </a:rPr>
              <a:t>A compromised endpoint can falsify local metadata. Authenticate sensors, protect transport, and compare endpoint claims with independent network observations.</a:t>
            </a:r>
          </a:p>
        </p:txBody>
      </p:sp>
      <p:sp>
        <p:nvSpPr>
          <p:cNvPr id="16" name="">
            <a:extLst xmlns:a="http://schemas.openxmlformats.org/drawingml/2006/main">
              <a:ext uri="{FF2B5EF4-FFF2-40B4-BE49-F238E27FC236}">
                <a16:creationId xmlns:a16="http://schemas.microsoft.com/office/drawing/2014/main" id="{EBB0F810-9413-414C-AF09-8369B6A729CC}"/>
              </a:ext>
            </a:extLst>
          </p:cNvPr>
          <p:cNvSpPr>
            <a:spLocks xmlns:a="http://schemas.openxmlformats.org/drawingml/2006/main" noGrp="1"/>
          </p:cNvSpPr>
          <p:nvPr/>
        </p:nvSpPr>
        <p:spPr>
          <a:xfrm xmlns:a="http://schemas.openxmlformats.org/drawingml/2006/main">
            <a:off x="6534150" y="3695700"/>
            <a:ext cx="4953000" cy="1600200"/>
          </a:xfrm>
          <a:prstGeom xmlns:a="http://schemas.openxmlformats.org/drawingml/2006/main" prst="roundRect">
            <a:avLst>
              <a:gd name="adj" fmla="val 10714"/>
            </a:avLst>
          </a:prstGeom>
          <a:solidFill xmlns:a="http://schemas.openxmlformats.org/drawingml/2006/main">
            <a:srgbClr val="0C2435"/>
          </a:solidFill>
          <a:ln xmlns:a="http://schemas.openxmlformats.org/drawingml/2006/main" w="14288">
            <a:solidFill>
              <a:srgbClr val="17394C"/>
            </a:solidFill>
          </a:ln>
        </p:spPr>
      </p:sp>
      <p:sp>
        <p:nvSpPr>
          <p:cNvPr id="17" name="">
            <a:extLst xmlns:a="http://schemas.openxmlformats.org/drawingml/2006/main">
              <a:ext uri="{FF2B5EF4-FFF2-40B4-BE49-F238E27FC236}">
                <a16:creationId xmlns:a16="http://schemas.microsoft.com/office/drawing/2014/main" id="{D2F350CD-3226-4E0E-BF24-8C94BB4120B0}"/>
              </a:ext>
            </a:extLst>
          </p:cNvPr>
          <p:cNvSpPr>
            <a:spLocks xmlns:a="http://schemas.openxmlformats.org/drawingml/2006/main" noGrp="1"/>
          </p:cNvSpPr>
          <p:nvPr/>
        </p:nvSpPr>
        <p:spPr>
          <a:xfrm xmlns:a="http://schemas.openxmlformats.org/drawingml/2006/main">
            <a:off x="6534150" y="3695700"/>
            <a:ext cx="66675" cy="1600200"/>
          </a:xfrm>
          <a:prstGeom xmlns:a="http://schemas.openxmlformats.org/drawingml/2006/main" prst="rect">
            <a:avLst/>
          </a:prstGeom>
          <a:solidFill xmlns:a="http://schemas.openxmlformats.org/drawingml/2006/main">
            <a:srgbClr val="57D6A2"/>
          </a:solidFill>
          <a:ln xmlns:a="http://schemas.openxmlformats.org/drawingml/2006/main" w="0">
            <a:solidFill>
              <a:srgbClr val="57D6A2"/>
            </a:solidFill>
          </a:ln>
        </p:spPr>
      </p:sp>
      <p:sp>
        <p:nvSpPr>
          <p:cNvPr id="18" name="">
            <a:extLst xmlns:a="http://schemas.openxmlformats.org/drawingml/2006/main">
              <a:ext uri="{FF2B5EF4-FFF2-40B4-BE49-F238E27FC236}">
                <a16:creationId xmlns:a16="http://schemas.microsoft.com/office/drawing/2014/main" id="{61A403B5-DFC7-4A85-9125-1529B72B9724}"/>
              </a:ext>
            </a:extLst>
          </p:cNvPr>
          <p:cNvSpPr>
            <a:spLocks xmlns:a="http://schemas.openxmlformats.org/drawingml/2006/main" noGrp="1"/>
          </p:cNvSpPr>
          <p:nvPr/>
        </p:nvSpPr>
        <p:spPr>
          <a:xfrm xmlns:a="http://schemas.openxmlformats.org/drawingml/2006/main">
            <a:off x="6762750" y="3886200"/>
            <a:ext cx="449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500" b="1">
                <a:solidFill>
                  <a:srgbClr val="F7FBFD"/>
                </a:solidFill>
                <a:latin typeface="Arial"/>
                <a:ea typeface="Arial"/>
                <a:cs typeface="Arial"/>
              </a:defRPr>
            </a:pPr>
            <a:r>
              <a:rPr sz="1500" b="1">
                <a:solidFill>
                  <a:srgbClr val="F7FBFD"/>
                </a:solidFill>
                <a:latin typeface="Arial"/>
                <a:ea typeface="Arial"/>
                <a:cs typeface="Arial"/>
              </a:rPr>
              <a:t>Privacy and governance</a:t>
            </a:r>
          </a:p>
        </p:txBody>
      </p:sp>
      <p:sp>
        <p:nvSpPr>
          <p:cNvPr id="19" name="">
            <a:extLst xmlns:a="http://schemas.openxmlformats.org/drawingml/2006/main">
              <a:ext uri="{FF2B5EF4-FFF2-40B4-BE49-F238E27FC236}">
                <a16:creationId xmlns:a16="http://schemas.microsoft.com/office/drawing/2014/main" id="{D04CEEF3-2004-45F9-A67B-14E83527FF93}"/>
              </a:ext>
            </a:extLst>
          </p:cNvPr>
          <p:cNvSpPr>
            <a:spLocks xmlns:a="http://schemas.openxmlformats.org/drawingml/2006/main" noGrp="1"/>
          </p:cNvSpPr>
          <p:nvPr/>
        </p:nvSpPr>
        <p:spPr>
          <a:xfrm xmlns:a="http://schemas.openxmlformats.org/drawingml/2006/main">
            <a:off x="6762750" y="4286250"/>
            <a:ext cx="449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200" b="0">
                <a:solidFill>
                  <a:srgbClr val="D7E5EC"/>
                </a:solidFill>
                <a:latin typeface="Arial"/>
                <a:ea typeface="Arial"/>
                <a:cs typeface="Arial"/>
              </a:defRPr>
            </a:pPr>
            <a:r>
              <a:rPr sz="1200" b="0">
                <a:solidFill>
                  <a:srgbClr val="D7E5EC"/>
                </a:solidFill>
                <a:latin typeface="Arial"/>
                <a:ea typeface="Arial"/>
                <a:cs typeface="Arial"/>
              </a:rPr>
              <a:t>Process, user, and connection metadata can be sensitive. Minimize fields, restrict access, document purpose, and enforce retention limits.</a:t>
            </a:r>
          </a:p>
        </p:txBody>
      </p:sp>
      <p:sp>
        <p:nvSpPr>
          <p:cNvPr id="20" name="">
            <a:extLst xmlns:a="http://schemas.openxmlformats.org/drawingml/2006/main">
              <a:ext uri="{FF2B5EF4-FFF2-40B4-BE49-F238E27FC236}">
                <a16:creationId xmlns:a16="http://schemas.microsoft.com/office/drawing/2014/main" id="{8FBBC153-336A-44D4-A735-80FBF96385F3}"/>
              </a:ext>
            </a:extLst>
          </p:cNvPr>
          <p:cNvSpPr>
            <a:spLocks xmlns:a="http://schemas.openxmlformats.org/drawingml/2006/main" noGrp="1"/>
          </p:cNvSpPr>
          <p:nvPr/>
        </p:nvSpPr>
        <p:spPr>
          <a:xfrm xmlns:a="http://schemas.openxmlformats.org/drawingml/2006/main">
            <a:off x="1619250" y="5734050"/>
            <a:ext cx="895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defRPr sz="1500" b="1">
                <a:solidFill>
                  <a:srgbClr val="F7FBFD"/>
                </a:solidFill>
                <a:latin typeface="Arial"/>
                <a:ea typeface="Arial"/>
                <a:cs typeface="Arial"/>
              </a:defRPr>
            </a:pPr>
            <a:r>
              <a:rPr sz="1500" b="1">
                <a:solidFill>
                  <a:srgbClr val="F7FBFD"/>
                </a:solidFill>
                <a:latin typeface="Arial"/>
                <a:ea typeface="Arial"/>
                <a:cs typeface="Arial"/>
              </a:rPr>
              <a:t>Enforcement requires multiple signals, measurable confidence, and a reversible rollout.</a:t>
            </a:r>
          </a:p>
        </p:txBody>
      </p:sp>
      <p:sp>
        <p:nvSpPr>
          <p:cNvPr id="21" name="">
            <a:extLst xmlns:a="http://schemas.openxmlformats.org/drawingml/2006/main">
              <a:ext uri="{FF2B5EF4-FFF2-40B4-BE49-F238E27FC236}">
                <a16:creationId xmlns:a16="http://schemas.microsoft.com/office/drawing/2014/main" id="{5A5DFA3D-880E-4BF9-BC9C-E1DC0454CE0D}"/>
              </a:ext>
            </a:extLst>
          </p:cNvPr>
          <p:cNvSpPr>
            <a:spLocks xmlns:a="http://schemas.openxmlformats.org/drawingml/2006/main" noGrp="1"/>
          </p:cNvSpPr>
          <p:nvPr/>
        </p:nvSpPr>
        <p:spPr>
          <a:xfrm xmlns:a="http://schemas.openxmlformats.org/drawingml/2006/main">
            <a:off x="647700" y="6486525"/>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900" b="0">
                <a:solidFill>
                  <a:srgbClr val="8FA8B5"/>
                </a:solidFill>
                <a:latin typeface="Arial"/>
                <a:ea typeface="Arial"/>
                <a:cs typeface="Arial"/>
              </a:defRPr>
            </a:pPr>
            <a:r>
              <a:rPr sz="900" b="0">
                <a:solidFill>
                  <a:srgbClr val="8FA8B5"/>
                </a:solidFill>
                <a:latin typeface="Arial"/>
                <a:ea typeface="Arial"/>
                <a:cs typeface="Arial"/>
              </a:rPr>
              <a:t>Spyridon Grouztidis · Ioakeim Christaras</a:t>
            </a:r>
          </a:p>
        </p:txBody>
      </p:sp>
      <p:sp>
        <p:nvSpPr>
          <p:cNvPr id="22" name="">
            <a:extLst xmlns:a="http://schemas.openxmlformats.org/drawingml/2006/main">
              <a:ext uri="{FF2B5EF4-FFF2-40B4-BE49-F238E27FC236}">
                <a16:creationId xmlns:a16="http://schemas.microsoft.com/office/drawing/2014/main" id="{5D03961E-5D03-414B-8DD0-F6581BF94A5D}"/>
              </a:ext>
            </a:extLst>
          </p:cNvPr>
          <p:cNvSpPr>
            <a:spLocks xmlns:a="http://schemas.openxmlformats.org/drawingml/2006/main" noGrp="1"/>
          </p:cNvSpPr>
          <p:nvPr/>
        </p:nvSpPr>
        <p:spPr>
          <a:xfrm xmlns:a="http://schemas.openxmlformats.org/drawingml/2006/main">
            <a:off x="10953750" y="6486525"/>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defRPr sz="900" b="1">
                <a:solidFill>
                  <a:srgbClr val="8FA8B5"/>
                </a:solidFill>
                <a:latin typeface="Arial"/>
                <a:ea typeface="Arial"/>
                <a:cs typeface="Arial"/>
              </a:defRPr>
            </a:pPr>
            <a:r>
              <a:rPr sz="900" b="1">
                <a:solidFill>
                  <a:srgbClr val="8FA8B5"/>
                </a:solidFill>
                <a:latin typeface="Arial"/>
                <a:ea typeface="Arial"/>
                <a:cs typeface="Arial"/>
              </a:rPr>
              <a:t>10</a:t>
            </a:r>
          </a:p>
        </p:txBody>
      </p:sp>
    </p:spTree>
    <p:extLst>
      <p:ext uri="{BB962C8B-B14F-4D97-AF65-F5344CB8AC3E}">
        <p14:creationId xmlns:p14="http://schemas.microsoft.com/office/powerpoint/2010/main" val="1775034455"/>
      </p:ext>
    </p:extLst>
  </p:cSld>
</p:sld>
</file>

<file path=ppt/slides/slide11.xml><?xml version="1.0" encoding="utf-8"?>
<p:sld xmlns:p="http://schemas.openxmlformats.org/presentationml/2006/main">
  <p:cSld>
    <p:bg>
      <p:bgPr>
        <a:solidFill xmlns:a="http://schemas.openxmlformats.org/drawingml/2006/main">
          <a:srgbClr val="071724"/>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E0D5A61-F65D-4A33-9A48-DDE4D4561901}"/>
              </a:ext>
            </a:extLst>
          </p:cNvPr>
          <p:cNvSpPr>
            <a:spLocks xmlns:a="http://schemas.openxmlformats.org/drawingml/2006/main" noGrp="1"/>
          </p:cNvSpPr>
          <p:nvPr/>
        </p:nvSpPr>
        <p:spPr>
          <a:xfrm xmlns:a="http://schemas.openxmlformats.org/drawingml/2006/main">
            <a:off x="647700" y="3619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975" b="1">
                <a:solidFill>
                  <a:srgbClr val="24D6E5"/>
                </a:solidFill>
                <a:latin typeface="Arial"/>
                <a:ea typeface="Arial"/>
                <a:cs typeface="Arial"/>
              </a:defRPr>
            </a:pPr>
            <a:r>
              <a:rPr sz="975" b="1">
                <a:solidFill>
                  <a:srgbClr val="24D6E5"/>
                </a:solidFill>
                <a:latin typeface="Arial"/>
                <a:ea typeface="Arial"/>
                <a:cs typeface="Arial"/>
              </a:rPr>
              <a:t>ENDPOINT-AWARE NGFW</a:t>
            </a:r>
          </a:p>
        </p:txBody>
      </p:sp>
      <p:sp>
        <p:nvSpPr>
          <p:cNvPr id="2" name="">
            <a:extLst xmlns:a="http://schemas.openxmlformats.org/drawingml/2006/main">
              <a:ext uri="{FF2B5EF4-FFF2-40B4-BE49-F238E27FC236}">
                <a16:creationId xmlns:a16="http://schemas.microsoft.com/office/drawing/2014/main" id="{792C5697-5A58-46D9-A24B-879B8E4D5077}"/>
              </a:ext>
            </a:extLst>
          </p:cNvPr>
          <p:cNvSpPr>
            <a:spLocks xmlns:a="http://schemas.openxmlformats.org/drawingml/2006/main" noGrp="1"/>
          </p:cNvSpPr>
          <p:nvPr/>
        </p:nvSpPr>
        <p:spPr>
          <a:xfrm xmlns:a="http://schemas.openxmlformats.org/drawingml/2006/main">
            <a:off x="647700" y="66675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325" b="1">
                <a:solidFill>
                  <a:srgbClr val="F7FBFD"/>
                </a:solidFill>
                <a:latin typeface="Arial"/>
                <a:ea typeface="Arial"/>
                <a:cs typeface="Arial"/>
              </a:defRPr>
            </a:pPr>
            <a:r>
              <a:rPr sz="2325" b="1">
                <a:solidFill>
                  <a:srgbClr val="F7FBFD"/>
                </a:solidFill>
                <a:latin typeface="Arial"/>
                <a:ea typeface="Arial"/>
                <a:cs typeface="Arial"/>
              </a:rPr>
              <a:t>Implementation roadmap</a:t>
            </a:r>
          </a:p>
        </p:txBody>
      </p:sp>
      <p:sp>
        <p:nvSpPr>
          <p:cNvPr id="3" name="">
            <a:extLst xmlns:a="http://schemas.openxmlformats.org/drawingml/2006/main">
              <a:ext uri="{FF2B5EF4-FFF2-40B4-BE49-F238E27FC236}">
                <a16:creationId xmlns:a16="http://schemas.microsoft.com/office/drawing/2014/main" id="{D0237B33-FFC7-4118-96CA-7841F10E0859}"/>
              </a:ext>
            </a:extLst>
          </p:cNvPr>
          <p:cNvSpPr>
            <a:spLocks xmlns:a="http://schemas.openxmlformats.org/drawingml/2006/main" noGrp="1"/>
          </p:cNvSpPr>
          <p:nvPr/>
        </p:nvSpPr>
        <p:spPr>
          <a:xfrm xmlns:a="http://schemas.openxmlformats.org/drawingml/2006/main">
            <a:off x="647700" y="1504950"/>
            <a:ext cx="10896600" cy="0"/>
          </a:xfrm>
          <a:prstGeom xmlns:a="http://schemas.openxmlformats.org/drawingml/2006/main" prst="line">
            <a:avLst/>
          </a:prstGeom>
          <a:noFill xmlns:a="http://schemas.openxmlformats.org/drawingml/2006/main"/>
          <a:ln xmlns:a="http://schemas.openxmlformats.org/drawingml/2006/main" w="19050">
            <a:solidFill>
              <a:srgbClr val="17394C"/>
            </a:solidFill>
          </a:ln>
        </p:spPr>
      </p:sp>
      <p:sp>
        <p:nvSpPr>
          <p:cNvPr id="4" name="">
            <a:extLst xmlns:a="http://schemas.openxmlformats.org/drawingml/2006/main">
              <a:ext uri="{FF2B5EF4-FFF2-40B4-BE49-F238E27FC236}">
                <a16:creationId xmlns:a16="http://schemas.microsoft.com/office/drawing/2014/main" id="{A1569DBA-16E5-4F7F-95C1-E122F7489B3A}"/>
              </a:ext>
            </a:extLst>
          </p:cNvPr>
          <p:cNvSpPr>
            <a:spLocks xmlns:a="http://schemas.openxmlformats.org/drawingml/2006/main" noGrp="1"/>
          </p:cNvSpPr>
          <p:nvPr/>
        </p:nvSpPr>
        <p:spPr>
          <a:xfrm xmlns:a="http://schemas.openxmlformats.org/drawingml/2006/main">
            <a:off x="809625" y="1790700"/>
            <a:ext cx="95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3300" b="1">
                <a:solidFill>
                  <a:srgbClr val="24D6E5"/>
                </a:solidFill>
                <a:latin typeface="Arial"/>
                <a:ea typeface="Arial"/>
                <a:cs typeface="Arial"/>
              </a:defRPr>
            </a:pPr>
            <a:r>
              <a:rPr sz="3300" b="1">
                <a:solidFill>
                  <a:srgbClr val="24D6E5"/>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631A7116-BDB3-44EF-8060-717B68D66DBF}"/>
              </a:ext>
            </a:extLst>
          </p:cNvPr>
          <p:cNvSpPr>
            <a:spLocks xmlns:a="http://schemas.openxmlformats.org/drawingml/2006/main" noGrp="1"/>
          </p:cNvSpPr>
          <p:nvPr/>
        </p:nvSpPr>
        <p:spPr>
          <a:xfrm xmlns:a="http://schemas.openxmlformats.org/drawingml/2006/main">
            <a:off x="809625" y="2533650"/>
            <a:ext cx="2000250" cy="0"/>
          </a:xfrm>
          <a:prstGeom xmlns:a="http://schemas.openxmlformats.org/drawingml/2006/main" prst="line">
            <a:avLst/>
          </a:prstGeom>
          <a:noFill xmlns:a="http://schemas.openxmlformats.org/drawingml/2006/main"/>
          <a:ln xmlns:a="http://schemas.openxmlformats.org/drawingml/2006/main" w="47625">
            <a:solidFill>
              <a:srgbClr val="24D6E5"/>
            </a:solidFill>
          </a:ln>
        </p:spPr>
      </p:sp>
      <p:sp>
        <p:nvSpPr>
          <p:cNvPr id="6" name="">
            <a:extLst xmlns:a="http://schemas.openxmlformats.org/drawingml/2006/main">
              <a:ext uri="{FF2B5EF4-FFF2-40B4-BE49-F238E27FC236}">
                <a16:creationId xmlns:a16="http://schemas.microsoft.com/office/drawing/2014/main" id="{B7001E6E-A112-4B05-87AE-B426094EE5CF}"/>
              </a:ext>
            </a:extLst>
          </p:cNvPr>
          <p:cNvSpPr>
            <a:spLocks xmlns:a="http://schemas.openxmlformats.org/drawingml/2006/main" noGrp="1"/>
          </p:cNvSpPr>
          <p:nvPr/>
        </p:nvSpPr>
        <p:spPr>
          <a:xfrm xmlns:a="http://schemas.openxmlformats.org/drawingml/2006/main">
            <a:off x="809625" y="274320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500" b="1">
                <a:solidFill>
                  <a:srgbClr val="F7FBFD"/>
                </a:solidFill>
                <a:latin typeface="Arial"/>
                <a:ea typeface="Arial"/>
                <a:cs typeface="Arial"/>
              </a:defRPr>
            </a:pPr>
            <a:r>
              <a:rPr sz="1500" b="1">
                <a:solidFill>
                  <a:srgbClr val="F7FBFD"/>
                </a:solidFill>
                <a:latin typeface="Arial"/>
                <a:ea typeface="Arial"/>
                <a:cs typeface="Arial"/>
              </a:rPr>
              <a:t>Baseline visibility</a:t>
            </a:r>
          </a:p>
        </p:txBody>
      </p:sp>
      <p:sp>
        <p:nvSpPr>
          <p:cNvPr id="7" name="">
            <a:extLst xmlns:a="http://schemas.openxmlformats.org/drawingml/2006/main">
              <a:ext uri="{FF2B5EF4-FFF2-40B4-BE49-F238E27FC236}">
                <a16:creationId xmlns:a16="http://schemas.microsoft.com/office/drawing/2014/main" id="{10604AA3-00E4-42D6-9D48-2A6B33BC20B4}"/>
              </a:ext>
            </a:extLst>
          </p:cNvPr>
          <p:cNvSpPr>
            <a:spLocks xmlns:a="http://schemas.openxmlformats.org/drawingml/2006/main" noGrp="1"/>
          </p:cNvSpPr>
          <p:nvPr/>
        </p:nvSpPr>
        <p:spPr>
          <a:xfrm xmlns:a="http://schemas.openxmlformats.org/drawingml/2006/main">
            <a:off x="809625" y="3276600"/>
            <a:ext cx="2095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200" b="0">
                <a:solidFill>
                  <a:srgbClr val="D7E5EC"/>
                </a:solidFill>
                <a:latin typeface="Arial"/>
                <a:ea typeface="Arial"/>
                <a:cs typeface="Arial"/>
              </a:defRPr>
            </a:pPr>
            <a:r>
              <a:rPr sz="1200" b="0">
                <a:solidFill>
                  <a:srgbClr val="D7E5EC"/>
                </a:solidFill>
                <a:latin typeface="Arial"/>
                <a:ea typeface="Arial"/>
                <a:cs typeface="Arial"/>
              </a:rPr>
              <a:t>Inventory log sources, normalize connection fields, and measure join coverage.</a:t>
            </a:r>
          </a:p>
        </p:txBody>
      </p:sp>
      <p:sp>
        <p:nvSpPr>
          <p:cNvPr id="8" name="">
            <a:extLst xmlns:a="http://schemas.openxmlformats.org/drawingml/2006/main">
              <a:ext uri="{FF2B5EF4-FFF2-40B4-BE49-F238E27FC236}">
                <a16:creationId xmlns:a16="http://schemas.microsoft.com/office/drawing/2014/main" id="{318B7861-5A61-4587-A9B6-3A33DAC95E21}"/>
              </a:ext>
            </a:extLst>
          </p:cNvPr>
          <p:cNvSpPr>
            <a:spLocks xmlns:a="http://schemas.openxmlformats.org/drawingml/2006/main" noGrp="1"/>
          </p:cNvSpPr>
          <p:nvPr/>
        </p:nvSpPr>
        <p:spPr>
          <a:xfrm xmlns:a="http://schemas.openxmlformats.org/drawingml/2006/main">
            <a:off x="3619500" y="1790700"/>
            <a:ext cx="95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3300" b="1">
                <a:solidFill>
                  <a:srgbClr val="24D6E5"/>
                </a:solidFill>
                <a:latin typeface="Arial"/>
                <a:ea typeface="Arial"/>
                <a:cs typeface="Arial"/>
              </a:defRPr>
            </a:pPr>
            <a:r>
              <a:rPr sz="3300" b="1">
                <a:solidFill>
                  <a:srgbClr val="24D6E5"/>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82520956-09CA-4829-8DA6-9ECEF3E2A47A}"/>
              </a:ext>
            </a:extLst>
          </p:cNvPr>
          <p:cNvSpPr>
            <a:spLocks xmlns:a="http://schemas.openxmlformats.org/drawingml/2006/main" noGrp="1"/>
          </p:cNvSpPr>
          <p:nvPr/>
        </p:nvSpPr>
        <p:spPr>
          <a:xfrm xmlns:a="http://schemas.openxmlformats.org/drawingml/2006/main">
            <a:off x="3619500" y="2533650"/>
            <a:ext cx="2000250" cy="0"/>
          </a:xfrm>
          <a:prstGeom xmlns:a="http://schemas.openxmlformats.org/drawingml/2006/main" prst="line">
            <a:avLst/>
          </a:prstGeom>
          <a:noFill xmlns:a="http://schemas.openxmlformats.org/drawingml/2006/main"/>
          <a:ln xmlns:a="http://schemas.openxmlformats.org/drawingml/2006/main" w="47625">
            <a:solidFill>
              <a:srgbClr val="24D6E5"/>
            </a:solidFill>
          </a:ln>
        </p:spPr>
      </p:sp>
      <p:sp>
        <p:nvSpPr>
          <p:cNvPr id="10" name="">
            <a:extLst xmlns:a="http://schemas.openxmlformats.org/drawingml/2006/main">
              <a:ext uri="{FF2B5EF4-FFF2-40B4-BE49-F238E27FC236}">
                <a16:creationId xmlns:a16="http://schemas.microsoft.com/office/drawing/2014/main" id="{DA34FBFF-5049-4A04-A081-929ECF896D9F}"/>
              </a:ext>
            </a:extLst>
          </p:cNvPr>
          <p:cNvSpPr>
            <a:spLocks xmlns:a="http://schemas.openxmlformats.org/drawingml/2006/main" noGrp="1"/>
          </p:cNvSpPr>
          <p:nvPr/>
        </p:nvSpPr>
        <p:spPr>
          <a:xfrm xmlns:a="http://schemas.openxmlformats.org/drawingml/2006/main">
            <a:off x="3619500" y="274320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500" b="1">
                <a:solidFill>
                  <a:srgbClr val="F7FBFD"/>
                </a:solidFill>
                <a:latin typeface="Arial"/>
                <a:ea typeface="Arial"/>
                <a:cs typeface="Arial"/>
              </a:defRPr>
            </a:pPr>
            <a:r>
              <a:rPr sz="1500" b="1">
                <a:solidFill>
                  <a:srgbClr val="F7FBFD"/>
                </a:solidFill>
                <a:latin typeface="Arial"/>
                <a:ea typeface="Arial"/>
                <a:cs typeface="Arial"/>
              </a:rPr>
              <a:t>Controlled pilot</a:t>
            </a:r>
          </a:p>
        </p:txBody>
      </p:sp>
      <p:sp>
        <p:nvSpPr>
          <p:cNvPr id="11" name="">
            <a:extLst xmlns:a="http://schemas.openxmlformats.org/drawingml/2006/main">
              <a:ext uri="{FF2B5EF4-FFF2-40B4-BE49-F238E27FC236}">
                <a16:creationId xmlns:a16="http://schemas.microsoft.com/office/drawing/2014/main" id="{4C785CC3-3D5C-4E8A-8A86-B485C9AC293E}"/>
              </a:ext>
            </a:extLst>
          </p:cNvPr>
          <p:cNvSpPr>
            <a:spLocks xmlns:a="http://schemas.openxmlformats.org/drawingml/2006/main" noGrp="1"/>
          </p:cNvSpPr>
          <p:nvPr/>
        </p:nvSpPr>
        <p:spPr>
          <a:xfrm xmlns:a="http://schemas.openxmlformats.org/drawingml/2006/main">
            <a:off x="3619500" y="3276600"/>
            <a:ext cx="2095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200" b="0">
                <a:solidFill>
                  <a:srgbClr val="D7E5EC"/>
                </a:solidFill>
                <a:latin typeface="Arial"/>
                <a:ea typeface="Arial"/>
                <a:cs typeface="Arial"/>
              </a:defRPr>
            </a:pPr>
            <a:r>
              <a:rPr sz="1200" b="0">
                <a:solidFill>
                  <a:srgbClr val="D7E5EC"/>
                </a:solidFill>
                <a:latin typeface="Arial"/>
                <a:ea typeface="Arial"/>
                <a:cs typeface="Arial"/>
              </a:rPr>
              <a:t>Enable endpoint-to-network correlation for a managed device group in alert-only mode.</a:t>
            </a:r>
          </a:p>
        </p:txBody>
      </p:sp>
      <p:sp>
        <p:nvSpPr>
          <p:cNvPr id="12" name="">
            <a:extLst xmlns:a="http://schemas.openxmlformats.org/drawingml/2006/main">
              <a:ext uri="{FF2B5EF4-FFF2-40B4-BE49-F238E27FC236}">
                <a16:creationId xmlns:a16="http://schemas.microsoft.com/office/drawing/2014/main" id="{A0A0090B-9766-43AA-9AD9-8D5FA7F9E74E}"/>
              </a:ext>
            </a:extLst>
          </p:cNvPr>
          <p:cNvSpPr>
            <a:spLocks xmlns:a="http://schemas.openxmlformats.org/drawingml/2006/main" noGrp="1"/>
          </p:cNvSpPr>
          <p:nvPr/>
        </p:nvSpPr>
        <p:spPr>
          <a:xfrm xmlns:a="http://schemas.openxmlformats.org/drawingml/2006/main">
            <a:off x="6429375" y="1790700"/>
            <a:ext cx="95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3300" b="1">
                <a:solidFill>
                  <a:srgbClr val="24D6E5"/>
                </a:solidFill>
                <a:latin typeface="Arial"/>
                <a:ea typeface="Arial"/>
                <a:cs typeface="Arial"/>
              </a:defRPr>
            </a:pPr>
            <a:r>
              <a:rPr sz="3300" b="1">
                <a:solidFill>
                  <a:srgbClr val="24D6E5"/>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22719911-9084-4D0B-A314-696D0AB63A3D}"/>
              </a:ext>
            </a:extLst>
          </p:cNvPr>
          <p:cNvSpPr>
            <a:spLocks xmlns:a="http://schemas.openxmlformats.org/drawingml/2006/main" noGrp="1"/>
          </p:cNvSpPr>
          <p:nvPr/>
        </p:nvSpPr>
        <p:spPr>
          <a:xfrm xmlns:a="http://schemas.openxmlformats.org/drawingml/2006/main">
            <a:off x="6429375" y="2533650"/>
            <a:ext cx="2000250" cy="0"/>
          </a:xfrm>
          <a:prstGeom xmlns:a="http://schemas.openxmlformats.org/drawingml/2006/main" prst="line">
            <a:avLst/>
          </a:prstGeom>
          <a:noFill xmlns:a="http://schemas.openxmlformats.org/drawingml/2006/main"/>
          <a:ln xmlns:a="http://schemas.openxmlformats.org/drawingml/2006/main" w="47625">
            <a:solidFill>
              <a:srgbClr val="24D6E5"/>
            </a:solidFill>
          </a:ln>
        </p:spPr>
      </p:sp>
      <p:sp>
        <p:nvSpPr>
          <p:cNvPr id="14" name="">
            <a:extLst xmlns:a="http://schemas.openxmlformats.org/drawingml/2006/main">
              <a:ext uri="{FF2B5EF4-FFF2-40B4-BE49-F238E27FC236}">
                <a16:creationId xmlns:a16="http://schemas.microsoft.com/office/drawing/2014/main" id="{64F18CD8-A3AA-4968-8D28-40FE8D3E5235}"/>
              </a:ext>
            </a:extLst>
          </p:cNvPr>
          <p:cNvSpPr>
            <a:spLocks xmlns:a="http://schemas.openxmlformats.org/drawingml/2006/main" noGrp="1"/>
          </p:cNvSpPr>
          <p:nvPr/>
        </p:nvSpPr>
        <p:spPr>
          <a:xfrm xmlns:a="http://schemas.openxmlformats.org/drawingml/2006/main">
            <a:off x="6429375" y="274320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500" b="1">
                <a:solidFill>
                  <a:srgbClr val="F7FBFD"/>
                </a:solidFill>
                <a:latin typeface="Arial"/>
                <a:ea typeface="Arial"/>
                <a:cs typeface="Arial"/>
              </a:defRPr>
            </a:pPr>
            <a:r>
              <a:rPr sz="1500" b="1">
                <a:solidFill>
                  <a:srgbClr val="F7FBFD"/>
                </a:solidFill>
                <a:latin typeface="Arial"/>
                <a:ea typeface="Arial"/>
                <a:cs typeface="Arial"/>
              </a:rPr>
              <a:t>Tune confidence</a:t>
            </a:r>
          </a:p>
        </p:txBody>
      </p:sp>
      <p:sp>
        <p:nvSpPr>
          <p:cNvPr id="15" name="">
            <a:extLst xmlns:a="http://schemas.openxmlformats.org/drawingml/2006/main">
              <a:ext uri="{FF2B5EF4-FFF2-40B4-BE49-F238E27FC236}">
                <a16:creationId xmlns:a16="http://schemas.microsoft.com/office/drawing/2014/main" id="{1A7BBF6C-1807-4633-BBAE-91B5F5B61140}"/>
              </a:ext>
            </a:extLst>
          </p:cNvPr>
          <p:cNvSpPr>
            <a:spLocks xmlns:a="http://schemas.openxmlformats.org/drawingml/2006/main" noGrp="1"/>
          </p:cNvSpPr>
          <p:nvPr/>
        </p:nvSpPr>
        <p:spPr>
          <a:xfrm xmlns:a="http://schemas.openxmlformats.org/drawingml/2006/main">
            <a:off x="6429375" y="3276600"/>
            <a:ext cx="2095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200" b="0">
                <a:solidFill>
                  <a:srgbClr val="D7E5EC"/>
                </a:solidFill>
                <a:latin typeface="Arial"/>
                <a:ea typeface="Arial"/>
                <a:cs typeface="Arial"/>
              </a:defRPr>
            </a:pPr>
            <a:r>
              <a:rPr sz="1200" b="0">
                <a:solidFill>
                  <a:srgbClr val="D7E5EC"/>
                </a:solidFill>
                <a:latin typeface="Arial"/>
                <a:ea typeface="Arial"/>
                <a:cs typeface="Arial"/>
              </a:rPr>
              <a:t>Baseline fingerprints and processes, test benign edge cases, and document exceptions.</a:t>
            </a:r>
          </a:p>
        </p:txBody>
      </p:sp>
      <p:sp>
        <p:nvSpPr>
          <p:cNvPr id="16" name="">
            <a:extLst xmlns:a="http://schemas.openxmlformats.org/drawingml/2006/main">
              <a:ext uri="{FF2B5EF4-FFF2-40B4-BE49-F238E27FC236}">
                <a16:creationId xmlns:a16="http://schemas.microsoft.com/office/drawing/2014/main" id="{EEA68D93-7DDB-4904-BF5D-0AB258C8CE97}"/>
              </a:ext>
            </a:extLst>
          </p:cNvPr>
          <p:cNvSpPr>
            <a:spLocks xmlns:a="http://schemas.openxmlformats.org/drawingml/2006/main" noGrp="1"/>
          </p:cNvSpPr>
          <p:nvPr/>
        </p:nvSpPr>
        <p:spPr>
          <a:xfrm xmlns:a="http://schemas.openxmlformats.org/drawingml/2006/main">
            <a:off x="9239250" y="1790700"/>
            <a:ext cx="95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3300" b="1">
                <a:solidFill>
                  <a:srgbClr val="24D6E5"/>
                </a:solidFill>
                <a:latin typeface="Arial"/>
                <a:ea typeface="Arial"/>
                <a:cs typeface="Arial"/>
              </a:defRPr>
            </a:pPr>
            <a:r>
              <a:rPr sz="3300" b="1">
                <a:solidFill>
                  <a:srgbClr val="24D6E5"/>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637441DB-DF77-41A1-907D-10EA18E4BAD9}"/>
              </a:ext>
            </a:extLst>
          </p:cNvPr>
          <p:cNvSpPr>
            <a:spLocks xmlns:a="http://schemas.openxmlformats.org/drawingml/2006/main" noGrp="1"/>
          </p:cNvSpPr>
          <p:nvPr/>
        </p:nvSpPr>
        <p:spPr>
          <a:xfrm xmlns:a="http://schemas.openxmlformats.org/drawingml/2006/main">
            <a:off x="9239250" y="2533650"/>
            <a:ext cx="2000250" cy="0"/>
          </a:xfrm>
          <a:prstGeom xmlns:a="http://schemas.openxmlformats.org/drawingml/2006/main" prst="line">
            <a:avLst/>
          </a:prstGeom>
          <a:noFill xmlns:a="http://schemas.openxmlformats.org/drawingml/2006/main"/>
          <a:ln xmlns:a="http://schemas.openxmlformats.org/drawingml/2006/main" w="47625">
            <a:solidFill>
              <a:srgbClr val="FFB547"/>
            </a:solidFill>
          </a:ln>
        </p:spPr>
      </p:sp>
      <p:sp>
        <p:nvSpPr>
          <p:cNvPr id="18" name="">
            <a:extLst xmlns:a="http://schemas.openxmlformats.org/drawingml/2006/main">
              <a:ext uri="{FF2B5EF4-FFF2-40B4-BE49-F238E27FC236}">
                <a16:creationId xmlns:a16="http://schemas.microsoft.com/office/drawing/2014/main" id="{2C9C685B-84DE-4A55-A735-06A4FD6DB6C2}"/>
              </a:ext>
            </a:extLst>
          </p:cNvPr>
          <p:cNvSpPr>
            <a:spLocks xmlns:a="http://schemas.openxmlformats.org/drawingml/2006/main" noGrp="1"/>
          </p:cNvSpPr>
          <p:nvPr/>
        </p:nvSpPr>
        <p:spPr>
          <a:xfrm xmlns:a="http://schemas.openxmlformats.org/drawingml/2006/main">
            <a:off x="9239250" y="274320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500" b="1">
                <a:solidFill>
                  <a:srgbClr val="F7FBFD"/>
                </a:solidFill>
                <a:latin typeface="Arial"/>
                <a:ea typeface="Arial"/>
                <a:cs typeface="Arial"/>
              </a:defRPr>
            </a:pPr>
            <a:r>
              <a:rPr sz="1500" b="1">
                <a:solidFill>
                  <a:srgbClr val="F7FBFD"/>
                </a:solidFill>
                <a:latin typeface="Arial"/>
                <a:ea typeface="Arial"/>
                <a:cs typeface="Arial"/>
              </a:rPr>
              <a:t>Selective enforcement</a:t>
            </a:r>
          </a:p>
        </p:txBody>
      </p:sp>
      <p:sp>
        <p:nvSpPr>
          <p:cNvPr id="19" name="">
            <a:extLst xmlns:a="http://schemas.openxmlformats.org/drawingml/2006/main">
              <a:ext uri="{FF2B5EF4-FFF2-40B4-BE49-F238E27FC236}">
                <a16:creationId xmlns:a16="http://schemas.microsoft.com/office/drawing/2014/main" id="{C240E29B-1915-4E56-9FEF-1642A6879BFB}"/>
              </a:ext>
            </a:extLst>
          </p:cNvPr>
          <p:cNvSpPr>
            <a:spLocks xmlns:a="http://schemas.openxmlformats.org/drawingml/2006/main" noGrp="1"/>
          </p:cNvSpPr>
          <p:nvPr/>
        </p:nvSpPr>
        <p:spPr>
          <a:xfrm xmlns:a="http://schemas.openxmlformats.org/drawingml/2006/main">
            <a:off x="9239250" y="3276600"/>
            <a:ext cx="2095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200" b="0">
                <a:solidFill>
                  <a:srgbClr val="D7E5EC"/>
                </a:solidFill>
                <a:latin typeface="Arial"/>
                <a:ea typeface="Arial"/>
                <a:cs typeface="Arial"/>
              </a:defRPr>
            </a:pPr>
            <a:r>
              <a:rPr sz="1200" b="0">
                <a:solidFill>
                  <a:srgbClr val="D7E5EC"/>
                </a:solidFill>
                <a:latin typeface="Arial"/>
                <a:ea typeface="Arial"/>
                <a:cs typeface="Arial"/>
              </a:rPr>
              <a:t>Apply policy only where evidence quality, rollback, and ownership are clear.</a:t>
            </a:r>
          </a:p>
        </p:txBody>
      </p:sp>
      <p:sp>
        <p:nvSpPr>
          <p:cNvPr id="20" name="">
            <a:extLst xmlns:a="http://schemas.openxmlformats.org/drawingml/2006/main">
              <a:ext uri="{FF2B5EF4-FFF2-40B4-BE49-F238E27FC236}">
                <a16:creationId xmlns:a16="http://schemas.microsoft.com/office/drawing/2014/main" id="{46415361-A3B1-408E-A104-E8CD3893C3BD}"/>
              </a:ext>
            </a:extLst>
          </p:cNvPr>
          <p:cNvSpPr>
            <a:spLocks xmlns:a="http://schemas.openxmlformats.org/drawingml/2006/main" noGrp="1"/>
          </p:cNvSpPr>
          <p:nvPr/>
        </p:nvSpPr>
        <p:spPr>
          <a:xfrm xmlns:a="http://schemas.openxmlformats.org/drawingml/2006/main">
            <a:off x="809625" y="521970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350" b="1">
                <a:solidFill>
                  <a:srgbClr val="FFB547"/>
                </a:solidFill>
                <a:latin typeface="Arial"/>
                <a:ea typeface="Arial"/>
                <a:cs typeface="Arial"/>
              </a:defRPr>
            </a:pPr>
            <a:r>
              <a:rPr sz="1350" b="1">
                <a:solidFill>
                  <a:srgbClr val="FFB547"/>
                </a:solidFill>
                <a:latin typeface="Arial"/>
                <a:ea typeface="Arial"/>
                <a:cs typeface="Arial"/>
              </a:rPr>
              <a:t>Success measures</a:t>
            </a:r>
          </a:p>
        </p:txBody>
      </p:sp>
      <p:sp>
        <p:nvSpPr>
          <p:cNvPr id="21" name="">
            <a:extLst xmlns:a="http://schemas.openxmlformats.org/drawingml/2006/main">
              <a:ext uri="{FF2B5EF4-FFF2-40B4-BE49-F238E27FC236}">
                <a16:creationId xmlns:a16="http://schemas.microsoft.com/office/drawing/2014/main" id="{DD519115-EB8F-43B9-B7C8-3DA6504166F8}"/>
              </a:ext>
            </a:extLst>
          </p:cNvPr>
          <p:cNvSpPr>
            <a:spLocks xmlns:a="http://schemas.openxmlformats.org/drawingml/2006/main" noGrp="1"/>
          </p:cNvSpPr>
          <p:nvPr/>
        </p:nvSpPr>
        <p:spPr>
          <a:xfrm xmlns:a="http://schemas.openxmlformats.org/drawingml/2006/main">
            <a:off x="2809875" y="5219700"/>
            <a:ext cx="8429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425" b="0">
                <a:solidFill>
                  <a:srgbClr val="F7FBFD"/>
                </a:solidFill>
                <a:latin typeface="Arial"/>
                <a:ea typeface="Arial"/>
                <a:cs typeface="Arial"/>
              </a:defRPr>
            </a:pPr>
            <a:r>
              <a:rPr sz="1425" b="0">
                <a:solidFill>
                  <a:srgbClr val="F7FBFD"/>
                </a:solidFill>
                <a:latin typeface="Arial"/>
                <a:ea typeface="Arial"/>
                <a:cs typeface="Arial"/>
              </a:rPr>
              <a:t>Join coverage · context freshness · false-positive rate · analyst time · rollback success</a:t>
            </a:r>
          </a:p>
        </p:txBody>
      </p:sp>
      <p:sp>
        <p:nvSpPr>
          <p:cNvPr id="22" name="">
            <a:extLst xmlns:a="http://schemas.openxmlformats.org/drawingml/2006/main">
              <a:ext uri="{FF2B5EF4-FFF2-40B4-BE49-F238E27FC236}">
                <a16:creationId xmlns:a16="http://schemas.microsoft.com/office/drawing/2014/main" id="{C696AEFD-809D-4B2B-AEC5-DF520DA270C7}"/>
              </a:ext>
            </a:extLst>
          </p:cNvPr>
          <p:cNvSpPr>
            <a:spLocks xmlns:a="http://schemas.openxmlformats.org/drawingml/2006/main" noGrp="1"/>
          </p:cNvSpPr>
          <p:nvPr/>
        </p:nvSpPr>
        <p:spPr>
          <a:xfrm xmlns:a="http://schemas.openxmlformats.org/drawingml/2006/main">
            <a:off x="1571625" y="5848350"/>
            <a:ext cx="904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defRPr sz="1500" b="1">
                <a:solidFill>
                  <a:srgbClr val="A6F3F6"/>
                </a:solidFill>
                <a:latin typeface="Arial"/>
                <a:ea typeface="Arial"/>
                <a:cs typeface="Arial"/>
              </a:defRPr>
            </a:pPr>
            <a:r>
              <a:rPr sz="1500" b="1">
                <a:solidFill>
                  <a:srgbClr val="A6F3F6"/>
                </a:solidFill>
                <a:latin typeface="Arial"/>
                <a:ea typeface="Arial"/>
                <a:cs typeface="Arial"/>
              </a:rPr>
              <a:t>Start with observability. Move to blocking only after evidence quality is measurable.</a:t>
            </a:r>
          </a:p>
        </p:txBody>
      </p:sp>
      <p:sp>
        <p:nvSpPr>
          <p:cNvPr id="23" name="">
            <a:extLst xmlns:a="http://schemas.openxmlformats.org/drawingml/2006/main">
              <a:ext uri="{FF2B5EF4-FFF2-40B4-BE49-F238E27FC236}">
                <a16:creationId xmlns:a16="http://schemas.microsoft.com/office/drawing/2014/main" id="{5EADD474-E84D-4390-9912-D81B557B08E8}"/>
              </a:ext>
            </a:extLst>
          </p:cNvPr>
          <p:cNvSpPr>
            <a:spLocks xmlns:a="http://schemas.openxmlformats.org/drawingml/2006/main" noGrp="1"/>
          </p:cNvSpPr>
          <p:nvPr/>
        </p:nvSpPr>
        <p:spPr>
          <a:xfrm xmlns:a="http://schemas.openxmlformats.org/drawingml/2006/main">
            <a:off x="647700" y="6486525"/>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900" b="0">
                <a:solidFill>
                  <a:srgbClr val="8FA8B5"/>
                </a:solidFill>
                <a:latin typeface="Arial"/>
                <a:ea typeface="Arial"/>
                <a:cs typeface="Arial"/>
              </a:defRPr>
            </a:pPr>
            <a:r>
              <a:rPr sz="900" b="0">
                <a:solidFill>
                  <a:srgbClr val="8FA8B5"/>
                </a:solidFill>
                <a:latin typeface="Arial"/>
                <a:ea typeface="Arial"/>
                <a:cs typeface="Arial"/>
              </a:rPr>
              <a:t>Spyridon Grouztidis · Ioakeim Christaras</a:t>
            </a:r>
          </a:p>
        </p:txBody>
      </p:sp>
      <p:sp>
        <p:nvSpPr>
          <p:cNvPr id="24" name="">
            <a:extLst xmlns:a="http://schemas.openxmlformats.org/drawingml/2006/main">
              <a:ext uri="{FF2B5EF4-FFF2-40B4-BE49-F238E27FC236}">
                <a16:creationId xmlns:a16="http://schemas.microsoft.com/office/drawing/2014/main" id="{3E859E91-8CDF-4784-96ED-A1CD43BBB80B}"/>
              </a:ext>
            </a:extLst>
          </p:cNvPr>
          <p:cNvSpPr>
            <a:spLocks xmlns:a="http://schemas.openxmlformats.org/drawingml/2006/main" noGrp="1"/>
          </p:cNvSpPr>
          <p:nvPr/>
        </p:nvSpPr>
        <p:spPr>
          <a:xfrm xmlns:a="http://schemas.openxmlformats.org/drawingml/2006/main">
            <a:off x="10953750" y="6486525"/>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defRPr sz="900" b="1">
                <a:solidFill>
                  <a:srgbClr val="8FA8B5"/>
                </a:solidFill>
                <a:latin typeface="Arial"/>
                <a:ea typeface="Arial"/>
                <a:cs typeface="Arial"/>
              </a:defRPr>
            </a:pPr>
            <a:r>
              <a:rPr sz="900" b="1">
                <a:solidFill>
                  <a:srgbClr val="8FA8B5"/>
                </a:solidFill>
                <a:latin typeface="Arial"/>
                <a:ea typeface="Arial"/>
                <a:cs typeface="Arial"/>
              </a:rPr>
              <a:t>11</a:t>
            </a:r>
          </a:p>
        </p:txBody>
      </p:sp>
    </p:spTree>
    <p:extLst>
      <p:ext uri="{BB962C8B-B14F-4D97-AF65-F5344CB8AC3E}">
        <p14:creationId xmlns:p14="http://schemas.microsoft.com/office/powerpoint/2010/main" val="1732808843"/>
      </p:ext>
    </p:extLst>
  </p:cSld>
</p:sld>
</file>

<file path=ppt/slides/slide12.xml><?xml version="1.0" encoding="utf-8"?>
<p:sld xmlns:p="http://schemas.openxmlformats.org/presentationml/2006/main">
  <p:cSld>
    <p:bg>
      <p:bgPr>
        <a:solidFill xmlns:a="http://schemas.openxmlformats.org/drawingml/2006/main">
          <a:srgbClr val="071724"/>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C0DB475-EB19-4D1B-818D-4FD30BD0E4DA}"/>
              </a:ext>
            </a:extLst>
          </p:cNvPr>
          <p:cNvSpPr>
            <a:spLocks xmlns:a="http://schemas.openxmlformats.org/drawingml/2006/main" noGrp="1"/>
          </p:cNvSpPr>
          <p:nvPr/>
        </p:nvSpPr>
        <p:spPr>
          <a:xfrm xmlns:a="http://schemas.openxmlformats.org/drawingml/2006/main">
            <a:off x="647700" y="3619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975" b="1">
                <a:solidFill>
                  <a:srgbClr val="24D6E5"/>
                </a:solidFill>
                <a:latin typeface="Arial"/>
                <a:ea typeface="Arial"/>
                <a:cs typeface="Arial"/>
              </a:defRPr>
            </a:pPr>
            <a:r>
              <a:rPr sz="975" b="1">
                <a:solidFill>
                  <a:srgbClr val="24D6E5"/>
                </a:solidFill>
                <a:latin typeface="Arial"/>
                <a:ea typeface="Arial"/>
                <a:cs typeface="Arial"/>
              </a:rPr>
              <a:t>ENDPOINT-AWARE NGFW</a:t>
            </a:r>
          </a:p>
        </p:txBody>
      </p:sp>
      <p:sp>
        <p:nvSpPr>
          <p:cNvPr id="2" name="">
            <a:extLst xmlns:a="http://schemas.openxmlformats.org/drawingml/2006/main">
              <a:ext uri="{FF2B5EF4-FFF2-40B4-BE49-F238E27FC236}">
                <a16:creationId xmlns:a16="http://schemas.microsoft.com/office/drawing/2014/main" id="{97345323-899E-4BC6-8DE3-995D16F1A7C9}"/>
              </a:ext>
            </a:extLst>
          </p:cNvPr>
          <p:cNvSpPr>
            <a:spLocks xmlns:a="http://schemas.openxmlformats.org/drawingml/2006/main" noGrp="1"/>
          </p:cNvSpPr>
          <p:nvPr/>
        </p:nvSpPr>
        <p:spPr>
          <a:xfrm xmlns:a="http://schemas.openxmlformats.org/drawingml/2006/main">
            <a:off x="647700" y="66675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2325" b="1">
                <a:solidFill>
                  <a:srgbClr val="F7FBFD"/>
                </a:solidFill>
                <a:latin typeface="Arial"/>
                <a:ea typeface="Arial"/>
                <a:cs typeface="Arial"/>
              </a:defRPr>
            </a:pPr>
            <a:r>
              <a:rPr sz="2325" b="1">
                <a:solidFill>
                  <a:srgbClr val="F7FBFD"/>
                </a:solidFill>
                <a:latin typeface="Arial"/>
                <a:ea typeface="Arial"/>
                <a:cs typeface="Arial"/>
              </a:rPr>
              <a:t>Conclusion</a:t>
            </a:r>
          </a:p>
        </p:txBody>
      </p:sp>
      <p:sp>
        <p:nvSpPr>
          <p:cNvPr id="3" name="">
            <a:extLst xmlns:a="http://schemas.openxmlformats.org/drawingml/2006/main">
              <a:ext uri="{FF2B5EF4-FFF2-40B4-BE49-F238E27FC236}">
                <a16:creationId xmlns:a16="http://schemas.microsoft.com/office/drawing/2014/main" id="{CB8BCFBF-C79B-46CA-AE8D-B650456BA018}"/>
              </a:ext>
            </a:extLst>
          </p:cNvPr>
          <p:cNvSpPr>
            <a:spLocks xmlns:a="http://schemas.openxmlformats.org/drawingml/2006/main" noGrp="1"/>
          </p:cNvSpPr>
          <p:nvPr/>
        </p:nvSpPr>
        <p:spPr>
          <a:xfrm xmlns:a="http://schemas.openxmlformats.org/drawingml/2006/main">
            <a:off x="647700" y="1504950"/>
            <a:ext cx="10896600" cy="0"/>
          </a:xfrm>
          <a:prstGeom xmlns:a="http://schemas.openxmlformats.org/drawingml/2006/main" prst="line">
            <a:avLst/>
          </a:prstGeom>
          <a:noFill xmlns:a="http://schemas.openxmlformats.org/drawingml/2006/main"/>
          <a:ln xmlns:a="http://schemas.openxmlformats.org/drawingml/2006/main" w="19050">
            <a:solidFill>
              <a:srgbClr val="17394C"/>
            </a:solidFill>
          </a:ln>
        </p:spPr>
      </p:sp>
      <p:sp>
        <p:nvSpPr>
          <p:cNvPr id="4" name="">
            <a:extLst xmlns:a="http://schemas.openxmlformats.org/drawingml/2006/main">
              <a:ext uri="{FF2B5EF4-FFF2-40B4-BE49-F238E27FC236}">
                <a16:creationId xmlns:a16="http://schemas.microsoft.com/office/drawing/2014/main" id="{9D214561-B7DD-4091-96CC-6C02875B912C}"/>
              </a:ext>
            </a:extLst>
          </p:cNvPr>
          <p:cNvSpPr>
            <a:spLocks xmlns:a="http://schemas.openxmlformats.org/drawingml/2006/main" noGrp="1"/>
          </p:cNvSpPr>
          <p:nvPr/>
        </p:nvSpPr>
        <p:spPr>
          <a:xfrm xmlns:a="http://schemas.openxmlformats.org/drawingml/2006/main">
            <a:off x="1104900" y="1676400"/>
            <a:ext cx="9982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defRPr sz="2250" b="1">
                <a:solidFill>
                  <a:srgbClr val="F7FBFD"/>
                </a:solidFill>
                <a:latin typeface="Arial"/>
                <a:ea typeface="Arial"/>
                <a:cs typeface="Arial"/>
              </a:defRPr>
            </a:pPr>
            <a:r>
              <a:rPr sz="2250" b="1">
                <a:solidFill>
                  <a:srgbClr val="F7FBFD"/>
                </a:solidFill>
                <a:latin typeface="Arial"/>
                <a:ea typeface="Arial"/>
                <a:cs typeface="Arial"/>
              </a:rPr>
              <a:t>Endpoint awareness improves NGFW decisions when evidence from the network and the endpoint is combined.</a:t>
            </a:r>
          </a:p>
        </p:txBody>
      </p:sp>
      <p:sp>
        <p:nvSpPr>
          <p:cNvPr id="5" name="">
            <a:extLst xmlns:a="http://schemas.openxmlformats.org/drawingml/2006/main">
              <a:ext uri="{FF2B5EF4-FFF2-40B4-BE49-F238E27FC236}">
                <a16:creationId xmlns:a16="http://schemas.microsoft.com/office/drawing/2014/main" id="{44A25334-7E3E-4A8B-9271-95431B405F04}"/>
              </a:ext>
            </a:extLst>
          </p:cNvPr>
          <p:cNvSpPr>
            <a:spLocks xmlns:a="http://schemas.openxmlformats.org/drawingml/2006/main" noGrp="1"/>
          </p:cNvSpPr>
          <p:nvPr/>
        </p:nvSpPr>
        <p:spPr>
          <a:xfrm xmlns:a="http://schemas.openxmlformats.org/drawingml/2006/main">
            <a:off x="1047750" y="3067050"/>
            <a:ext cx="2857500" cy="1809750"/>
          </a:xfrm>
          <a:prstGeom xmlns:a="http://schemas.openxmlformats.org/drawingml/2006/main" prst="roundRect">
            <a:avLst>
              <a:gd name="adj" fmla="val 9474"/>
            </a:avLst>
          </a:prstGeom>
          <a:solidFill xmlns:a="http://schemas.openxmlformats.org/drawingml/2006/main">
            <a:srgbClr val="0C2435"/>
          </a:solidFill>
          <a:ln xmlns:a="http://schemas.openxmlformats.org/drawingml/2006/main" w="14288">
            <a:solidFill>
              <a:srgbClr val="17394C"/>
            </a:solidFill>
          </a:ln>
        </p:spPr>
      </p:sp>
      <p:sp>
        <p:nvSpPr>
          <p:cNvPr id="6" name="">
            <a:extLst xmlns:a="http://schemas.openxmlformats.org/drawingml/2006/main">
              <a:ext uri="{FF2B5EF4-FFF2-40B4-BE49-F238E27FC236}">
                <a16:creationId xmlns:a16="http://schemas.microsoft.com/office/drawing/2014/main" id="{6C14C752-FA1C-46B2-9B24-90032873D06B}"/>
              </a:ext>
            </a:extLst>
          </p:cNvPr>
          <p:cNvSpPr>
            <a:spLocks xmlns:a="http://schemas.openxmlformats.org/drawingml/2006/main" noGrp="1"/>
          </p:cNvSpPr>
          <p:nvPr/>
        </p:nvSpPr>
        <p:spPr>
          <a:xfrm xmlns:a="http://schemas.openxmlformats.org/drawingml/2006/main">
            <a:off x="1047750" y="3067050"/>
            <a:ext cx="66675" cy="1809750"/>
          </a:xfrm>
          <a:prstGeom xmlns:a="http://schemas.openxmlformats.org/drawingml/2006/main" prst="rect">
            <a:avLst/>
          </a:prstGeom>
          <a:solidFill xmlns:a="http://schemas.openxmlformats.org/drawingml/2006/main">
            <a:srgbClr val="24D6E5"/>
          </a:solidFill>
          <a:ln xmlns:a="http://schemas.openxmlformats.org/drawingml/2006/main" w="0">
            <a:solidFill>
              <a:srgbClr val="24D6E5"/>
            </a:solidFill>
          </a:ln>
        </p:spPr>
      </p:sp>
      <p:sp>
        <p:nvSpPr>
          <p:cNvPr id="7" name="">
            <a:extLst xmlns:a="http://schemas.openxmlformats.org/drawingml/2006/main">
              <a:ext uri="{FF2B5EF4-FFF2-40B4-BE49-F238E27FC236}">
                <a16:creationId xmlns:a16="http://schemas.microsoft.com/office/drawing/2014/main" id="{111B2D79-0175-4815-819E-F127ADE4E082}"/>
              </a:ext>
            </a:extLst>
          </p:cNvPr>
          <p:cNvSpPr>
            <a:spLocks xmlns:a="http://schemas.openxmlformats.org/drawingml/2006/main" noGrp="1"/>
          </p:cNvSpPr>
          <p:nvPr/>
        </p:nvSpPr>
        <p:spPr>
          <a:xfrm xmlns:a="http://schemas.openxmlformats.org/drawingml/2006/main">
            <a:off x="1276350" y="3257550"/>
            <a:ext cx="2400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500" b="1">
                <a:solidFill>
                  <a:srgbClr val="F7FBFD"/>
                </a:solidFill>
                <a:latin typeface="Arial"/>
                <a:ea typeface="Arial"/>
                <a:cs typeface="Arial"/>
              </a:defRPr>
            </a:pPr>
            <a:r>
              <a:rPr sz="1500" b="1">
                <a:solidFill>
                  <a:srgbClr val="F7FBFD"/>
                </a:solidFill>
                <a:latin typeface="Arial"/>
                <a:ea typeface="Arial"/>
                <a:cs typeface="Arial"/>
              </a:rPr>
              <a:t>Passive visibility</a:t>
            </a:r>
          </a:p>
        </p:txBody>
      </p:sp>
      <p:sp>
        <p:nvSpPr>
          <p:cNvPr id="8" name="">
            <a:extLst xmlns:a="http://schemas.openxmlformats.org/drawingml/2006/main">
              <a:ext uri="{FF2B5EF4-FFF2-40B4-BE49-F238E27FC236}">
                <a16:creationId xmlns:a16="http://schemas.microsoft.com/office/drawing/2014/main" id="{B08CEB70-777C-46CE-BE6C-7EED0CFB26A0}"/>
              </a:ext>
            </a:extLst>
          </p:cNvPr>
          <p:cNvSpPr>
            <a:spLocks xmlns:a="http://schemas.openxmlformats.org/drawingml/2006/main" noGrp="1"/>
          </p:cNvSpPr>
          <p:nvPr/>
        </p:nvSpPr>
        <p:spPr>
          <a:xfrm xmlns:a="http://schemas.openxmlformats.org/drawingml/2006/main">
            <a:off x="1276350" y="3657600"/>
            <a:ext cx="24003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200" b="0">
                <a:solidFill>
                  <a:srgbClr val="D7E5EC"/>
                </a:solidFill>
                <a:latin typeface="Arial"/>
                <a:ea typeface="Arial"/>
                <a:cs typeface="Arial"/>
              </a:defRPr>
            </a:pPr>
            <a:r>
              <a:rPr sz="1200" b="0">
                <a:solidFill>
                  <a:srgbClr val="D7E5EC"/>
                </a:solidFill>
                <a:latin typeface="Arial"/>
                <a:ea typeface="Arial"/>
                <a:cs typeface="Arial"/>
              </a:rPr>
              <a:t>Broad coverage and immediate observation, with probabilistic attribution.</a:t>
            </a:r>
          </a:p>
        </p:txBody>
      </p:sp>
      <p:sp>
        <p:nvSpPr>
          <p:cNvPr id="9" name="">
            <a:extLst xmlns:a="http://schemas.openxmlformats.org/drawingml/2006/main">
              <a:ext uri="{FF2B5EF4-FFF2-40B4-BE49-F238E27FC236}">
                <a16:creationId xmlns:a16="http://schemas.microsoft.com/office/drawing/2014/main" id="{91004762-8460-4119-851D-528CD72C5A07}"/>
              </a:ext>
            </a:extLst>
          </p:cNvPr>
          <p:cNvSpPr>
            <a:spLocks xmlns:a="http://schemas.openxmlformats.org/drawingml/2006/main" noGrp="1"/>
          </p:cNvSpPr>
          <p:nvPr/>
        </p:nvSpPr>
        <p:spPr>
          <a:xfrm xmlns:a="http://schemas.openxmlformats.org/drawingml/2006/main">
            <a:off x="4667250" y="3067050"/>
            <a:ext cx="2857500" cy="1809750"/>
          </a:xfrm>
          <a:prstGeom xmlns:a="http://schemas.openxmlformats.org/drawingml/2006/main" prst="roundRect">
            <a:avLst>
              <a:gd name="adj" fmla="val 9474"/>
            </a:avLst>
          </a:prstGeom>
          <a:solidFill xmlns:a="http://schemas.openxmlformats.org/drawingml/2006/main">
            <a:srgbClr val="0C2435"/>
          </a:solidFill>
          <a:ln xmlns:a="http://schemas.openxmlformats.org/drawingml/2006/main" w="14288">
            <a:solidFill>
              <a:srgbClr val="17394C"/>
            </a:solidFill>
          </a:ln>
        </p:spPr>
      </p:sp>
      <p:sp>
        <p:nvSpPr>
          <p:cNvPr id="10" name="">
            <a:extLst xmlns:a="http://schemas.openxmlformats.org/drawingml/2006/main">
              <a:ext uri="{FF2B5EF4-FFF2-40B4-BE49-F238E27FC236}">
                <a16:creationId xmlns:a16="http://schemas.microsoft.com/office/drawing/2014/main" id="{DE991A8F-2140-4D11-8672-8272BFC73468}"/>
              </a:ext>
            </a:extLst>
          </p:cNvPr>
          <p:cNvSpPr>
            <a:spLocks xmlns:a="http://schemas.openxmlformats.org/drawingml/2006/main" noGrp="1"/>
          </p:cNvSpPr>
          <p:nvPr/>
        </p:nvSpPr>
        <p:spPr>
          <a:xfrm xmlns:a="http://schemas.openxmlformats.org/drawingml/2006/main">
            <a:off x="4667250" y="3067050"/>
            <a:ext cx="66675" cy="1809750"/>
          </a:xfrm>
          <a:prstGeom xmlns:a="http://schemas.openxmlformats.org/drawingml/2006/main" prst="rect">
            <a:avLst/>
          </a:prstGeom>
          <a:solidFill xmlns:a="http://schemas.openxmlformats.org/drawingml/2006/main">
            <a:srgbClr val="57D6A2"/>
          </a:solidFill>
          <a:ln xmlns:a="http://schemas.openxmlformats.org/drawingml/2006/main" w="0">
            <a:solidFill>
              <a:srgbClr val="57D6A2"/>
            </a:solidFill>
          </a:ln>
        </p:spPr>
      </p:sp>
      <p:sp>
        <p:nvSpPr>
          <p:cNvPr id="11" name="">
            <a:extLst xmlns:a="http://schemas.openxmlformats.org/drawingml/2006/main">
              <a:ext uri="{FF2B5EF4-FFF2-40B4-BE49-F238E27FC236}">
                <a16:creationId xmlns:a16="http://schemas.microsoft.com/office/drawing/2014/main" id="{8D5B5882-5F0C-4FFA-B3AF-713BE213C8EE}"/>
              </a:ext>
            </a:extLst>
          </p:cNvPr>
          <p:cNvSpPr>
            <a:spLocks xmlns:a="http://schemas.openxmlformats.org/drawingml/2006/main" noGrp="1"/>
          </p:cNvSpPr>
          <p:nvPr/>
        </p:nvSpPr>
        <p:spPr>
          <a:xfrm xmlns:a="http://schemas.openxmlformats.org/drawingml/2006/main">
            <a:off x="4895850" y="3257550"/>
            <a:ext cx="2400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500" b="1">
                <a:solidFill>
                  <a:srgbClr val="F7FBFD"/>
                </a:solidFill>
                <a:latin typeface="Arial"/>
                <a:ea typeface="Arial"/>
                <a:cs typeface="Arial"/>
              </a:defRPr>
            </a:pPr>
            <a:r>
              <a:rPr sz="1500" b="1">
                <a:solidFill>
                  <a:srgbClr val="F7FBFD"/>
                </a:solidFill>
                <a:latin typeface="Arial"/>
                <a:ea typeface="Arial"/>
                <a:cs typeface="Arial"/>
              </a:rPr>
              <a:t>Active context</a:t>
            </a:r>
          </a:p>
        </p:txBody>
      </p:sp>
      <p:sp>
        <p:nvSpPr>
          <p:cNvPr id="12" name="">
            <a:extLst xmlns:a="http://schemas.openxmlformats.org/drawingml/2006/main">
              <a:ext uri="{FF2B5EF4-FFF2-40B4-BE49-F238E27FC236}">
                <a16:creationId xmlns:a16="http://schemas.microsoft.com/office/drawing/2014/main" id="{4A71D01A-B00E-49FD-87B9-E8A947F9C157}"/>
              </a:ext>
            </a:extLst>
          </p:cNvPr>
          <p:cNvSpPr>
            <a:spLocks xmlns:a="http://schemas.openxmlformats.org/drawingml/2006/main" noGrp="1"/>
          </p:cNvSpPr>
          <p:nvPr/>
        </p:nvSpPr>
        <p:spPr>
          <a:xfrm xmlns:a="http://schemas.openxmlformats.org/drawingml/2006/main">
            <a:off x="4895850" y="3657600"/>
            <a:ext cx="24003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200" b="0">
                <a:solidFill>
                  <a:srgbClr val="D7E5EC"/>
                </a:solidFill>
                <a:latin typeface="Arial"/>
                <a:ea typeface="Arial"/>
                <a:cs typeface="Arial"/>
              </a:defRPr>
            </a:pPr>
            <a:r>
              <a:rPr sz="1200" b="0">
                <a:solidFill>
                  <a:srgbClr val="D7E5EC"/>
                </a:solidFill>
                <a:latin typeface="Arial"/>
                <a:ea typeface="Arial"/>
                <a:cs typeface="Arial"/>
              </a:rPr>
              <a:t>Stronger attribution and asset state, with deployment and freshness constraints.</a:t>
            </a:r>
          </a:p>
        </p:txBody>
      </p:sp>
      <p:sp>
        <p:nvSpPr>
          <p:cNvPr id="13" name="">
            <a:extLst xmlns:a="http://schemas.openxmlformats.org/drawingml/2006/main">
              <a:ext uri="{FF2B5EF4-FFF2-40B4-BE49-F238E27FC236}">
                <a16:creationId xmlns:a16="http://schemas.microsoft.com/office/drawing/2014/main" id="{5C885CA1-C66B-44DC-912E-E465D7AEC1B8}"/>
              </a:ext>
            </a:extLst>
          </p:cNvPr>
          <p:cNvSpPr>
            <a:spLocks xmlns:a="http://schemas.openxmlformats.org/drawingml/2006/main" noGrp="1"/>
          </p:cNvSpPr>
          <p:nvPr/>
        </p:nvSpPr>
        <p:spPr>
          <a:xfrm xmlns:a="http://schemas.openxmlformats.org/drawingml/2006/main">
            <a:off x="8286750" y="3067050"/>
            <a:ext cx="2857500" cy="1809750"/>
          </a:xfrm>
          <a:prstGeom xmlns:a="http://schemas.openxmlformats.org/drawingml/2006/main" prst="roundRect">
            <a:avLst>
              <a:gd name="adj" fmla="val 9474"/>
            </a:avLst>
          </a:prstGeom>
          <a:solidFill xmlns:a="http://schemas.openxmlformats.org/drawingml/2006/main">
            <a:srgbClr val="0C2435"/>
          </a:solidFill>
          <a:ln xmlns:a="http://schemas.openxmlformats.org/drawingml/2006/main" w="14288">
            <a:solidFill>
              <a:srgbClr val="17394C"/>
            </a:solidFill>
          </a:ln>
        </p:spPr>
      </p:sp>
      <p:sp>
        <p:nvSpPr>
          <p:cNvPr id="14" name="">
            <a:extLst xmlns:a="http://schemas.openxmlformats.org/drawingml/2006/main">
              <a:ext uri="{FF2B5EF4-FFF2-40B4-BE49-F238E27FC236}">
                <a16:creationId xmlns:a16="http://schemas.microsoft.com/office/drawing/2014/main" id="{CA06F384-5031-4164-B3D2-41953517933E}"/>
              </a:ext>
            </a:extLst>
          </p:cNvPr>
          <p:cNvSpPr>
            <a:spLocks xmlns:a="http://schemas.openxmlformats.org/drawingml/2006/main" noGrp="1"/>
          </p:cNvSpPr>
          <p:nvPr/>
        </p:nvSpPr>
        <p:spPr>
          <a:xfrm xmlns:a="http://schemas.openxmlformats.org/drawingml/2006/main">
            <a:off x="8286750" y="3067050"/>
            <a:ext cx="66675" cy="1809750"/>
          </a:xfrm>
          <a:prstGeom xmlns:a="http://schemas.openxmlformats.org/drawingml/2006/main" prst="rect">
            <a:avLst/>
          </a:prstGeom>
          <a:solidFill xmlns:a="http://schemas.openxmlformats.org/drawingml/2006/main">
            <a:srgbClr val="FFB547"/>
          </a:solidFill>
          <a:ln xmlns:a="http://schemas.openxmlformats.org/drawingml/2006/main" w="0">
            <a:solidFill>
              <a:srgbClr val="FFB547"/>
            </a:solidFill>
          </a:ln>
        </p:spPr>
      </p:sp>
      <p:sp>
        <p:nvSpPr>
          <p:cNvPr id="15" name="">
            <a:extLst xmlns:a="http://schemas.openxmlformats.org/drawingml/2006/main">
              <a:ext uri="{FF2B5EF4-FFF2-40B4-BE49-F238E27FC236}">
                <a16:creationId xmlns:a16="http://schemas.microsoft.com/office/drawing/2014/main" id="{B15117CF-BA42-40CC-BF44-06C15BDCEB85}"/>
              </a:ext>
            </a:extLst>
          </p:cNvPr>
          <p:cNvSpPr>
            <a:spLocks xmlns:a="http://schemas.openxmlformats.org/drawingml/2006/main" noGrp="1"/>
          </p:cNvSpPr>
          <p:nvPr/>
        </p:nvSpPr>
        <p:spPr>
          <a:xfrm xmlns:a="http://schemas.openxmlformats.org/drawingml/2006/main">
            <a:off x="8515350" y="3257550"/>
            <a:ext cx="2400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500" b="1">
                <a:solidFill>
                  <a:srgbClr val="F7FBFD"/>
                </a:solidFill>
                <a:latin typeface="Arial"/>
                <a:ea typeface="Arial"/>
                <a:cs typeface="Arial"/>
              </a:defRPr>
            </a:pPr>
            <a:r>
              <a:rPr sz="1500" b="1">
                <a:solidFill>
                  <a:srgbClr val="F7FBFD"/>
                </a:solidFill>
                <a:latin typeface="Arial"/>
                <a:ea typeface="Arial"/>
                <a:cs typeface="Arial"/>
              </a:rPr>
              <a:t>SOC correlation</a:t>
            </a:r>
          </a:p>
        </p:txBody>
      </p:sp>
      <p:sp>
        <p:nvSpPr>
          <p:cNvPr id="16" name="">
            <a:extLst xmlns:a="http://schemas.openxmlformats.org/drawingml/2006/main">
              <a:ext uri="{FF2B5EF4-FFF2-40B4-BE49-F238E27FC236}">
                <a16:creationId xmlns:a16="http://schemas.microsoft.com/office/drawing/2014/main" id="{EDB3F3CF-37EC-4F0C-A787-2E9DBF0030A5}"/>
              </a:ext>
            </a:extLst>
          </p:cNvPr>
          <p:cNvSpPr>
            <a:spLocks xmlns:a="http://schemas.openxmlformats.org/drawingml/2006/main" noGrp="1"/>
          </p:cNvSpPr>
          <p:nvPr/>
        </p:nvSpPr>
        <p:spPr>
          <a:xfrm xmlns:a="http://schemas.openxmlformats.org/drawingml/2006/main">
            <a:off x="8515350" y="3657600"/>
            <a:ext cx="24003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1200" b="0">
                <a:solidFill>
                  <a:srgbClr val="D7E5EC"/>
                </a:solidFill>
                <a:latin typeface="Arial"/>
                <a:ea typeface="Arial"/>
                <a:cs typeface="Arial"/>
              </a:defRPr>
            </a:pPr>
            <a:r>
              <a:rPr sz="1200" b="0">
                <a:solidFill>
                  <a:srgbClr val="D7E5EC"/>
                </a:solidFill>
                <a:latin typeface="Arial"/>
                <a:ea typeface="Arial"/>
                <a:cs typeface="Arial"/>
              </a:rPr>
              <a:t>A practical layer that preserves evidence, confidence, and analyst review.</a:t>
            </a:r>
          </a:p>
        </p:txBody>
      </p:sp>
      <p:sp>
        <p:nvSpPr>
          <p:cNvPr id="17" name="">
            <a:extLst xmlns:a="http://schemas.openxmlformats.org/drawingml/2006/main">
              <a:ext uri="{FF2B5EF4-FFF2-40B4-BE49-F238E27FC236}">
                <a16:creationId xmlns:a16="http://schemas.microsoft.com/office/drawing/2014/main" id="{49E793A9-DC9F-4FFB-A8F6-A54890F384D1}"/>
              </a:ext>
            </a:extLst>
          </p:cNvPr>
          <p:cNvSpPr>
            <a:spLocks xmlns:a="http://schemas.openxmlformats.org/drawingml/2006/main" noGrp="1"/>
          </p:cNvSpPr>
          <p:nvPr/>
        </p:nvSpPr>
        <p:spPr>
          <a:xfrm xmlns:a="http://schemas.openxmlformats.org/drawingml/2006/main">
            <a:off x="1476375" y="5543550"/>
            <a:ext cx="923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defRPr sz="1725" b="1">
                <a:solidFill>
                  <a:srgbClr val="A6F3F6"/>
                </a:solidFill>
                <a:latin typeface="Arial"/>
                <a:ea typeface="Arial"/>
                <a:cs typeface="Arial"/>
              </a:defRPr>
            </a:pPr>
            <a:r>
              <a:rPr sz="1725" b="1">
                <a:solidFill>
                  <a:srgbClr val="A6F3F6"/>
                </a:solidFill>
                <a:latin typeface="Arial"/>
                <a:ea typeface="Arial"/>
                <a:cs typeface="Arial"/>
              </a:rPr>
              <a:t>No silver bullet: use layered signals, explicit confidence, and controlled enforcement.</a:t>
            </a:r>
          </a:p>
        </p:txBody>
      </p:sp>
      <p:sp>
        <p:nvSpPr>
          <p:cNvPr id="18" name="">
            <a:extLst xmlns:a="http://schemas.openxmlformats.org/drawingml/2006/main">
              <a:ext uri="{FF2B5EF4-FFF2-40B4-BE49-F238E27FC236}">
                <a16:creationId xmlns:a16="http://schemas.microsoft.com/office/drawing/2014/main" id="{64C965AD-28A6-4CDE-88AE-927AAAC5B0BB}"/>
              </a:ext>
            </a:extLst>
          </p:cNvPr>
          <p:cNvSpPr>
            <a:spLocks xmlns:a="http://schemas.openxmlformats.org/drawingml/2006/main" noGrp="1"/>
          </p:cNvSpPr>
          <p:nvPr/>
        </p:nvSpPr>
        <p:spPr>
          <a:xfrm xmlns:a="http://schemas.openxmlformats.org/drawingml/2006/main">
            <a:off x="647700" y="6486525"/>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defRPr sz="900" b="0">
                <a:solidFill>
                  <a:srgbClr val="8FA8B5"/>
                </a:solidFill>
                <a:latin typeface="Arial"/>
                <a:ea typeface="Arial"/>
                <a:cs typeface="Arial"/>
              </a:defRPr>
            </a:pPr>
            <a:r>
              <a:rPr sz="900" b="0">
                <a:solidFill>
                  <a:srgbClr val="8FA8B5"/>
                </a:solidFill>
                <a:latin typeface="Arial"/>
                <a:ea typeface="Arial"/>
                <a:cs typeface="Arial"/>
              </a:rPr>
              <a:t>Spyridon Grouztidis · Ioakeim Christaras</a:t>
            </a:r>
          </a:p>
        </p:txBody>
      </p:sp>
      <p:sp>
        <p:nvSpPr>
          <p:cNvPr id="19" name="">
            <a:extLst xmlns:a="http://schemas.openxmlformats.org/drawingml/2006/main">
              <a:ext uri="{FF2B5EF4-FFF2-40B4-BE49-F238E27FC236}">
                <a16:creationId xmlns:a16="http://schemas.microsoft.com/office/drawing/2014/main" id="{C48E0093-93A0-4BAE-B805-D45E83B0F036}"/>
              </a:ext>
            </a:extLst>
          </p:cNvPr>
          <p:cNvSpPr>
            <a:spLocks xmlns:a="http://schemas.openxmlformats.org/drawingml/2006/main" noGrp="1"/>
          </p:cNvSpPr>
          <p:nvPr/>
        </p:nvSpPr>
        <p:spPr>
          <a:xfrm xmlns:a="http://schemas.openxmlformats.org/drawingml/2006/main">
            <a:off x="10953750" y="6486525"/>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defRPr sz="900" b="1">
                <a:solidFill>
                  <a:srgbClr val="8FA8B5"/>
                </a:solidFill>
                <a:latin typeface="Arial"/>
                <a:ea typeface="Arial"/>
                <a:cs typeface="Arial"/>
              </a:defRPr>
            </a:pPr>
            <a:r>
              <a:rPr sz="900" b="1">
                <a:solidFill>
                  <a:srgbClr val="8FA8B5"/>
                </a:solidFill>
                <a:latin typeface="Arial"/>
                <a:ea typeface="Arial"/>
                <a:cs typeface="Arial"/>
              </a:rPr>
              <a:t>12</a:t>
            </a:r>
          </a:p>
        </p:txBody>
      </p:sp>
    </p:spTree>
    <p:extLst>
      <p:ext uri="{BB962C8B-B14F-4D97-AF65-F5344CB8AC3E}">
        <p14:creationId xmlns:p14="http://schemas.microsoft.com/office/powerpoint/2010/main" val="6524613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2026-10-14T22:20:33.2680000Z</dcterms:created>
  <dcterms:modified xsi:type="dcterms:W3CDTF">2026-10-14T22:20:33.2680000Z</dcterms:modified>
</coreProperties>
</file>